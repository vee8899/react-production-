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6971d325174a46" /><Relationship Type="http://schemas.openxmlformats.org/officeDocument/2006/relationships/extended-properties" Target="/docProps/app.xml" Id="R023e64f470a94764" /><Relationship Type="http://schemas.openxmlformats.org/officeDocument/2006/relationships/officeDocument" Target="/ppt/presentation.xml" Id="R290d31fe1375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121609665491c"/>
  </p:sldMasterIdLst>
  <p:notesMasterIdLst>
    <p:notesMasterId xmlns:r="http://schemas.openxmlformats.org/officeDocument/2006/relationships" r:id="R4a547cc1ab6a404d"/>
  </p:notesMasterIdLst>
  <p:sldIdLst>
    <p:sldId xmlns:r="http://schemas.openxmlformats.org/officeDocument/2006/relationships" id="256" r:id="Re342f7a0b86f4be0"/>
    <p:sldId xmlns:r="http://schemas.openxmlformats.org/officeDocument/2006/relationships" id="257" r:id="Rc2150141c4124e35"/>
    <p:sldId xmlns:r="http://schemas.openxmlformats.org/officeDocument/2006/relationships" id="258" r:id="R9ec629f2eaa6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41bb45b974fd2" /><Relationship Type="http://schemas.openxmlformats.org/officeDocument/2006/relationships/slideMaster" Target="/ppt/slideMasters/slideMaster1.xml" Id="R608121609665491c" /><Relationship Type="http://schemas.openxmlformats.org/officeDocument/2006/relationships/notesMaster" Target="/ppt/notesMasters/notesMaster1.xml" Id="R4a547cc1ab6a404d" /><Relationship Type="http://schemas.openxmlformats.org/officeDocument/2006/relationships/presProps" Target="/ppt/presProps.xml" Id="Ra85360109de748da" /><Relationship Type="http://schemas.openxmlformats.org/officeDocument/2006/relationships/tableStyles" Target="/ppt/tableStyles.xml" Id="R60ebb9a12e8f4dd7" /><Relationship Type="http://schemas.openxmlformats.org/officeDocument/2006/relationships/slide" Target="/ppt/slides/slide1.xml" Id="Re342f7a0b86f4be0" /><Relationship Type="http://schemas.openxmlformats.org/officeDocument/2006/relationships/slide" Target="/ppt/slides/slide2.xml" Id="Rc2150141c4124e35" /><Relationship Type="http://schemas.openxmlformats.org/officeDocument/2006/relationships/slide" Target="/ppt/slides/slide3.xml" Id="R9ec629f2eaa6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3f759cce93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6d47c1e0e449d" /><Relationship Type="http://schemas.openxmlformats.org/officeDocument/2006/relationships/notesMaster" Target="/ppt/notesMasters/notesMaster1.xml" Id="Re67786b06a354a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e280494634af8" /><Relationship Type="http://schemas.openxmlformats.org/officeDocument/2006/relationships/notesMaster" Target="/ppt/notesMasters/notesMaster1.xml" Id="R931138f5419a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b03cfe6ec74dc1" /><Relationship Type="http://schemas.openxmlformats.org/officeDocument/2006/relationships/notesMaster" Target="/ppt/notesMasters/notesMaster1.xml" Id="Rdc807ec005f5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product description; repository README.md; src/pages/HomePage.tsx; src/pages/DashboardPage.tsx. Process and deliverables are a proposed service model, not a signed scope. Research-informed describes intended methodology; no specific study, measured result or production readiness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engagement process based on the user request: initial communication, onboarding, automation and ongoing operation. Informed by the repository HomePage Platform / Implementation / Operations service description. Outputs are proposed and require client agreement. Editable native flowchart.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pilot framework, not a commercial commitment. No numeric performance target is asserted. Baseline, evaluation measures, access, owners, acceptance criteria and launch decision need agreement. Sources: user preproduction status and product description; src/pages/HomePage.tsx engagement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ad320df8f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ea4eb3b1f4630" /><Relationship Type="http://schemas.openxmlformats.org/officeDocument/2006/relationships/slideLayout" Target="/ppt/slideLayouts/slideLayout1.xml" Id="Re8cfb31141d640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fb31141d640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0062b082a401f" /><Relationship Type="http://schemas.openxmlformats.org/officeDocument/2006/relationships/notesSlide" Target="/ppt/notesSlides/notesSlide1.xml" Id="R8d0ddf3e6ef240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629f326e4354" /><Relationship Type="http://schemas.openxmlformats.org/officeDocument/2006/relationships/notesSlide" Target="/ppt/notesSlides/notesSlide2.xml" Id="R7e669f2a0b204b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c589a86dc4833" /><Relationship Type="http://schemas.openxmlformats.org/officeDocument/2006/relationships/notesSlide" Target="/ppt/notesSlides/notesSlide3.xml" Id="R801242f047df41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49D6AA28-549E-4DB6-B96F-D813D3F4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3DF0ADE-7495-4609-ABBB-76FAD036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AEE290-653D-4B3D-9295-37FB25F2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A managed operating layer for local businesses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4DF1E43-B731-413F-B637-69FF720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B6762"/>
                </a:solidFill>
                <a:latin typeface="Arial"/>
                <a:ea typeface="Arial"/>
                <a:cs typeface="Arial"/>
              </a:rPr>
              <a:t>Standardize established business processes and turn research-informed methods into configured workflows, with a shared view of execution, outcomes and exceptions.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720E8-AD16-4A17-AC85-53C47D0A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B96B93-1439-4D10-8464-36E4DF08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label0">
            <a:extLst xmlns:a="http://schemas.openxmlformats.org/drawingml/2006/main">
              <a:ext uri="{FF2B5EF4-FFF2-40B4-BE49-F238E27FC236}">
                <a16:creationId xmlns:a16="http://schemas.microsoft.com/office/drawing/2014/main" id="{7E2062B0-4D53-4624-B845-ADBC565D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01  PROCESS DESIGN</a:t>
            </a:r>
          </a:p>
        </p:txBody>
      </p:sp>
      <p:sp>
        <p:nvSpPr>
          <p:cNvPr id="8" name="heading0">
            <a:extLst xmlns:a="http://schemas.openxmlformats.org/drawingml/2006/main">
              <a:ext uri="{FF2B5EF4-FFF2-40B4-BE49-F238E27FC236}">
                <a16:creationId xmlns:a16="http://schemas.microsoft.com/office/drawing/2014/main" id="{3F955ABE-E7A1-44A0-97E4-B68E1A6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Define how work should run</a:t>
            </a:r>
          </a:p>
        </p:txBody>
      </p:sp>
      <p:sp>
        <p:nvSpPr>
          <p:cNvPr id="9" name="body0">
            <a:extLst xmlns:a="http://schemas.openxmlformats.org/drawingml/2006/main">
              <a:ext uri="{FF2B5EF4-FFF2-40B4-BE49-F238E27FC236}">
                <a16:creationId xmlns:a16="http://schemas.microsoft.com/office/drawing/2014/main" id="{AEAD4A04-7E50-439A-8C71-A7F2827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Map the current pipeline, handoffs and bottlenecks.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Specify the rules, responsible people, approvals and exception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Translate selected research and domain methods into practical steps for the business.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1ED12-CE17-430E-A7D4-4EDC8EF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11" name="output0">
            <a:extLst xmlns:a="http://schemas.openxmlformats.org/drawingml/2006/main">
              <a:ext uri="{FF2B5EF4-FFF2-40B4-BE49-F238E27FC236}">
                <a16:creationId xmlns:a16="http://schemas.microsoft.com/office/drawing/2014/main" id="{1AAB4A01-1968-4A41-AE58-82C9FA4C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DELIVERABLE: Agreed workflow specification</a:t>
            </a:r>
          </a:p>
        </p:txBody>
      </p:sp>
      <p:sp>
        <p:nvSpPr>
          <p:cNvPr id="12" name="label1">
            <a:extLst xmlns:a="http://schemas.openxmlformats.org/drawingml/2006/main">
              <a:ext uri="{FF2B5EF4-FFF2-40B4-BE49-F238E27FC236}">
                <a16:creationId xmlns:a16="http://schemas.microsoft.com/office/drawing/2014/main" id="{66A6FF5A-9294-4825-AFEE-134D9D8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02  IMPLEMENTATION</a:t>
            </a:r>
          </a:p>
        </p:txBody>
      </p:sp>
      <p:sp>
        <p:nvSpPr>
          <p:cNvPr id="13" name="heading1">
            <a:extLst xmlns:a="http://schemas.openxmlformats.org/drawingml/2006/main">
              <a:ext uri="{FF2B5EF4-FFF2-40B4-BE49-F238E27FC236}">
                <a16:creationId xmlns:a16="http://schemas.microsoft.com/office/drawing/2014/main" id="{76D4C3D8-7CB4-42EF-8001-0F157E4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Connect the process to systems</a:t>
            </a:r>
          </a:p>
        </p:txBody>
      </p:sp>
      <p:sp>
        <p:nvSpPr>
          <p:cNvPr id="14" name="body1">
            <a:extLst xmlns:a="http://schemas.openxmlformats.org/drawingml/2006/main">
              <a:ext uri="{FF2B5EF4-FFF2-40B4-BE49-F238E27FC236}">
                <a16:creationId xmlns:a16="http://schemas.microsoft.com/office/drawing/2014/main" id="{1486CD4A-0134-4D0F-AD54-A9B263BC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Configure workflows around the tools and records the team already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Define field mapping, duplicate handling, routing and notifications.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Test expected cases and failure paths before approving a bounded pilot.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83DCB-4DEB-440B-8E44-977A450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16" name="output1">
            <a:extLst xmlns:a="http://schemas.openxmlformats.org/drawingml/2006/main">
              <a:ext uri="{FF2B5EF4-FFF2-40B4-BE49-F238E27FC236}">
                <a16:creationId xmlns:a16="http://schemas.microsoft.com/office/drawing/2014/main" id="{9CE58232-BB47-4FA1-A411-0D328DE0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DELIVERABLE: Configured, tested workflow</a:t>
            </a:r>
          </a:p>
        </p:txBody>
      </p:sp>
      <p:sp>
        <p:nvSpPr>
          <p:cNvPr id="17" name="label2">
            <a:extLst xmlns:a="http://schemas.openxmlformats.org/drawingml/2006/main">
              <a:ext uri="{FF2B5EF4-FFF2-40B4-BE49-F238E27FC236}">
                <a16:creationId xmlns:a16="http://schemas.microsoft.com/office/drawing/2014/main" id="{9E55A632-73C8-4E0B-ADE9-5F3FC0E6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03  MANAGED OPERATIONS</a:t>
            </a:r>
          </a:p>
        </p:txBody>
      </p:sp>
      <p:sp>
        <p:nvSpPr>
          <p:cNvPr id="18" name="heading2">
            <a:extLst xmlns:a="http://schemas.openxmlformats.org/drawingml/2006/main">
              <a:ext uri="{FF2B5EF4-FFF2-40B4-BE49-F238E27FC236}">
                <a16:creationId xmlns:a16="http://schemas.microsoft.com/office/drawing/2014/main" id="{0739CD4D-9FD4-45B8-8974-963B0CFD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Make execution reviewable</a:t>
            </a:r>
          </a:p>
        </p:txBody>
      </p:sp>
      <p:sp>
        <p:nvSpPr>
          <p:cNvPr id="19" name="body2">
            <a:extLst xmlns:a="http://schemas.openxmlformats.org/drawingml/2006/main">
              <a:ext uri="{FF2B5EF4-FFF2-40B4-BE49-F238E27FC236}">
                <a16:creationId xmlns:a16="http://schemas.microsoft.com/office/drawing/2014/main" id="{EA6E0943-27D2-422D-A486-071B9F0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View subscribed services, workflow activity, run status and execution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Use audit records and visible exceptions to investigate work that needs attention.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Review pilot outcomes and refine the process before expanding scope.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182C3-F155-4420-855F-358EB915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21" name="output2">
            <a:extLst xmlns:a="http://schemas.openxmlformats.org/drawingml/2006/main">
              <a:ext uri="{FF2B5EF4-FFF2-40B4-BE49-F238E27FC236}">
                <a16:creationId xmlns:a16="http://schemas.microsoft.com/office/drawing/2014/main" id="{3C19C14C-700F-4DA0-A206-5AC9F63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DELIVERABLE: Operating view and review cycle</a:t>
            </a:r>
          </a:p>
        </p:txBody>
      </p:sp>
    </p:spTree>
    <p:extLst>
      <p:ext uri="{BB962C8B-B14F-4D97-AF65-F5344CB8AC3E}">
        <p14:creationId xmlns:p14="http://schemas.microsoft.com/office/powerpoint/2010/main" val="190107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">
            <a:extLst xmlns:a="http://schemas.openxmlformats.org/drawingml/2006/main">
              <a:ext uri="{FF2B5EF4-FFF2-40B4-BE49-F238E27FC236}">
                <a16:creationId xmlns:a16="http://schemas.microsoft.com/office/drawing/2014/main" id="{4ABC0F74-8D5F-48E6-BA32-0654D4D1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FF4FE08-07F4-498F-AFE0-5AE4999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BC0F13-1630-4D0C-ACF9-1C11929E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The client journey: conversation to operations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01D269D3-175B-45C6-8B53-262FAD7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B6762"/>
                </a:solidFill>
                <a:latin typeface="Arial"/>
                <a:ea typeface="Arial"/>
                <a:cs typeface="Arial"/>
              </a:rPr>
              <a:t>Each stage produces a defined output. Access, process ownership and approval are established before the pilot moves into ongoing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BD973-BC73-431D-BDF0-DA4DE7C0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FF184D0-93C6-4A76-AB52-BCE55FF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stage0">
            <a:extLst xmlns:a="http://schemas.openxmlformats.org/drawingml/2006/main">
              <a:ext uri="{FF2B5EF4-FFF2-40B4-BE49-F238E27FC236}">
                <a16:creationId xmlns:a16="http://schemas.microsoft.com/office/drawing/2014/main" id="{EC12E097-F327-4657-8DBA-9F60ED4C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01  Initial conversation</a:t>
            </a:r>
          </a:p>
        </p:txBody>
      </p:sp>
      <p:sp>
        <p:nvSpPr>
          <p:cNvPr id="8" name="detail0">
            <a:extLst xmlns:a="http://schemas.openxmlformats.org/drawingml/2006/main">
              <a:ext uri="{FF2B5EF4-FFF2-40B4-BE49-F238E27FC236}">
                <a16:creationId xmlns:a16="http://schemas.microsoft.com/office/drawing/2014/main" id="{79E98128-3348-40D3-B1B0-47984C8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Understand priorities, current tools and the operational bottleneck.</a:t>
            </a:r>
          </a:p>
        </p:txBody>
      </p:sp>
      <p:sp>
        <p:nvSpPr>
          <p:cNvPr id="9" name="result0">
            <a:extLst xmlns:a="http://schemas.openxmlformats.org/drawingml/2006/main">
              <a:ext uri="{FF2B5EF4-FFF2-40B4-BE49-F238E27FC236}">
                <a16:creationId xmlns:a16="http://schemas.microsoft.com/office/drawing/2014/main" id="{14A3FB11-0121-4EC0-BDC2-C00F6806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267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Priority workflow and business owner</a:t>
            </a:r>
          </a:p>
        </p:txBody>
      </p:sp>
      <p:sp>
        <p:nvSpPr>
          <p:cNvPr id="10" name="stage1">
            <a:extLst xmlns:a="http://schemas.openxmlformats.org/drawingml/2006/main">
              <a:ext uri="{FF2B5EF4-FFF2-40B4-BE49-F238E27FC236}">
                <a16:creationId xmlns:a16="http://schemas.microsoft.com/office/drawing/2014/main" id="{B93C0123-B92E-4236-A64C-9AD1DC2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02  Process &amp; scope</a:t>
            </a:r>
          </a:p>
        </p:txBody>
      </p:sp>
      <p:sp>
        <p:nvSpPr>
          <p:cNvPr id="11" name="detail1">
            <a:extLst xmlns:a="http://schemas.openxmlformats.org/drawingml/2006/main">
              <a:ext uri="{FF2B5EF4-FFF2-40B4-BE49-F238E27FC236}">
                <a16:creationId xmlns:a16="http://schemas.microsoft.com/office/drawing/2014/main" id="{2D08256B-2A36-435B-9832-0263C40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9082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Map handoffs; agree rules, exclusions and success measures.</a:t>
            </a:r>
          </a:p>
        </p:txBody>
      </p:sp>
      <p:sp>
        <p:nvSpPr>
          <p:cNvPr id="12" name="result1">
            <a:extLst xmlns:a="http://schemas.openxmlformats.org/drawingml/2006/main">
              <a:ext uri="{FF2B5EF4-FFF2-40B4-BE49-F238E27FC236}">
                <a16:creationId xmlns:a16="http://schemas.microsoft.com/office/drawing/2014/main" id="{29D00CFE-AB60-419D-8ADD-BBDCA547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48075"/>
            <a:ext cx="3267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Scope and acceptance criteria</a:t>
            </a:r>
          </a:p>
        </p:txBody>
      </p:sp>
      <p:sp>
        <p:nvSpPr>
          <p:cNvPr id="13" name="stage2">
            <a:extLst xmlns:a="http://schemas.openxmlformats.org/drawingml/2006/main">
              <a:ext uri="{FF2B5EF4-FFF2-40B4-BE49-F238E27FC236}">
                <a16:creationId xmlns:a16="http://schemas.microsoft.com/office/drawing/2014/main" id="{1CDD2F1A-24DF-4110-8FD9-A14039E9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03  Client onboarding</a:t>
            </a:r>
          </a:p>
        </p:txBody>
      </p:sp>
      <p:sp>
        <p:nvSpPr>
          <p:cNvPr id="14" name="detail2">
            <a:extLst xmlns:a="http://schemas.openxmlformats.org/drawingml/2006/main">
              <a:ext uri="{FF2B5EF4-FFF2-40B4-BE49-F238E27FC236}">
                <a16:creationId xmlns:a16="http://schemas.microsoft.com/office/drawing/2014/main" id="{52F822FC-45B4-4853-B484-F3B05FCA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9082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Provision access; confirm systems, required data and contacts.</a:t>
            </a:r>
          </a:p>
        </p:txBody>
      </p:sp>
      <p:sp>
        <p:nvSpPr>
          <p:cNvPr id="15" name="result2">
            <a:extLst xmlns:a="http://schemas.openxmlformats.org/drawingml/2006/main">
              <a:ext uri="{FF2B5EF4-FFF2-40B4-BE49-F238E27FC236}">
                <a16:creationId xmlns:a16="http://schemas.microsoft.com/office/drawing/2014/main" id="{F8F0F2B8-DA7D-442A-BF06-59AF7F51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48075"/>
            <a:ext cx="3267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Access and onboarding checklist</a:t>
            </a:r>
          </a:p>
        </p:txBody>
      </p:sp>
      <p:sp>
        <p:nvSpPr>
          <p:cNvPr id="16" name="stage3">
            <a:extLst xmlns:a="http://schemas.openxmlformats.org/drawingml/2006/main">
              <a:ext uri="{FF2B5EF4-FFF2-40B4-BE49-F238E27FC236}">
                <a16:creationId xmlns:a16="http://schemas.microsoft.com/office/drawing/2014/main" id="{90E02EC3-D430-484F-824F-55989792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04  Automation setup</a:t>
            </a:r>
          </a:p>
        </p:txBody>
      </p:sp>
      <p:sp>
        <p:nvSpPr>
          <p:cNvPr id="17" name="detail3">
            <a:extLst xmlns:a="http://schemas.openxmlformats.org/drawingml/2006/main">
              <a:ext uri="{FF2B5EF4-FFF2-40B4-BE49-F238E27FC236}">
                <a16:creationId xmlns:a16="http://schemas.microsoft.com/office/drawing/2014/main" id="{B22C30B1-100F-4F27-AB18-EDD36DA4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9107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Configure mappings, routing, approvals and exception paths.</a:t>
            </a:r>
          </a:p>
        </p:txBody>
      </p:sp>
      <p:sp>
        <p:nvSpPr>
          <p:cNvPr id="18" name="result3">
            <a:extLst xmlns:a="http://schemas.openxmlformats.org/drawingml/2006/main">
              <a:ext uri="{FF2B5EF4-FFF2-40B4-BE49-F238E27FC236}">
                <a16:creationId xmlns:a16="http://schemas.microsoft.com/office/drawing/2014/main" id="{0CF9AACF-1241-460A-89F5-BBD5909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48325"/>
            <a:ext cx="3267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Workflow ready for validation</a:t>
            </a:r>
          </a:p>
        </p:txBody>
      </p:sp>
      <p:sp>
        <p:nvSpPr>
          <p:cNvPr id="19" name="stage4">
            <a:extLst xmlns:a="http://schemas.openxmlformats.org/drawingml/2006/main">
              <a:ext uri="{FF2B5EF4-FFF2-40B4-BE49-F238E27FC236}">
                <a16:creationId xmlns:a16="http://schemas.microsoft.com/office/drawing/2014/main" id="{82EA4CBF-2252-4E36-83B7-A73FC81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05  Test &amp; approve</a:t>
            </a:r>
          </a:p>
        </p:txBody>
      </p:sp>
      <p:sp>
        <p:nvSpPr>
          <p:cNvPr id="20" name="detail4">
            <a:extLst xmlns:a="http://schemas.openxmlformats.org/drawingml/2006/main">
              <a:ext uri="{FF2B5EF4-FFF2-40B4-BE49-F238E27FC236}">
                <a16:creationId xmlns:a16="http://schemas.microsoft.com/office/drawing/2014/main" id="{93BAB4B0-E89D-42F3-9EA3-B477548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9107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Run sample and failure cases; review results and approve the pilot.</a:t>
            </a:r>
          </a:p>
        </p:txBody>
      </p:sp>
      <p:sp>
        <p:nvSpPr>
          <p:cNvPr id="21" name="result4">
            <a:extLst xmlns:a="http://schemas.openxmlformats.org/drawingml/2006/main">
              <a:ext uri="{FF2B5EF4-FFF2-40B4-BE49-F238E27FC236}">
                <a16:creationId xmlns:a16="http://schemas.microsoft.com/office/drawing/2014/main" id="{606D5A46-97A8-4427-B7B0-DEC5B011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48325"/>
            <a:ext cx="3267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Acceptance record and launch decision</a:t>
            </a:r>
          </a:p>
        </p:txBody>
      </p:sp>
      <p:sp>
        <p:nvSpPr>
          <p:cNvPr id="22" name="stage5">
            <a:extLst xmlns:a="http://schemas.openxmlformats.org/drawingml/2006/main">
              <a:ext uri="{FF2B5EF4-FFF2-40B4-BE49-F238E27FC236}">
                <a16:creationId xmlns:a16="http://schemas.microsoft.com/office/drawing/2014/main" id="{9E74CFE2-2940-4482-9891-F5B010C7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06  Operate &amp; improve</a:t>
            </a:r>
          </a:p>
        </p:txBody>
      </p:sp>
      <p:sp>
        <p:nvSpPr>
          <p:cNvPr id="23" name="detail5">
            <a:extLst xmlns:a="http://schemas.openxmlformats.org/drawingml/2006/main">
              <a:ext uri="{FF2B5EF4-FFF2-40B4-BE49-F238E27FC236}">
                <a16:creationId xmlns:a16="http://schemas.microsoft.com/office/drawing/2014/main" id="{CDE05064-D97A-4185-BC3F-B11023EF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Monitor activity, investigate exceptions and review outcomes.</a:t>
            </a:r>
          </a:p>
        </p:txBody>
      </p:sp>
      <p:sp>
        <p:nvSpPr>
          <p:cNvPr id="24" name="result5">
            <a:extLst xmlns:a="http://schemas.openxmlformats.org/drawingml/2006/main">
              <a:ext uri="{FF2B5EF4-FFF2-40B4-BE49-F238E27FC236}">
                <a16:creationId xmlns:a16="http://schemas.microsoft.com/office/drawing/2014/main" id="{7EACFDB9-B11C-44F5-BBEC-6AD5C45E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3267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Review cadence and improvement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58D00-ECD7-4BFE-9FB9-49FF5D02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6D96E4-AEA2-41EF-9A02-C6840C0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19425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B7A5E-2787-4A58-83CE-A98272E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57650"/>
            <a:ext cx="161925" cy="2190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55A46-836B-472A-BF7A-337FBEBB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9675"/>
            <a:ext cx="238125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C1130-75E1-4DEA-ACAC-4DED28B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19675"/>
            <a:ext cx="238125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4518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">
            <a:extLst xmlns:a="http://schemas.openxmlformats.org/drawingml/2006/main">
              <a:ext uri="{FF2B5EF4-FFF2-40B4-BE49-F238E27FC236}">
                <a16:creationId xmlns:a16="http://schemas.microsoft.com/office/drawing/2014/main" id="{42FD3642-73F2-4CC7-B97A-FA5299DC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F11E344-394B-44E6-8035-D9CA1C0B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F6FA20-07FC-4C24-AB74-5F2DC50C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A bounded pilot with explicit success criteria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43009171-D1A2-49EC-8E7B-1F58BF6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8D2C9"/>
                </a:solidFill>
                <a:latin typeface="Arial"/>
                <a:ea typeface="Arial"/>
                <a:cs typeface="Arial"/>
              </a:rPr>
              <a:t>Select one important workflow, agree the starting baseline, and evaluate its execution before committing to a wider rollout.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6694F-EC48-406B-9FF3-3C63DD4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4C89E1E-5D38-4728-9E62-3EB910F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DB7AE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h1">
            <a:extLst xmlns:a="http://schemas.openxmlformats.org/drawingml/2006/main">
              <a:ext uri="{FF2B5EF4-FFF2-40B4-BE49-F238E27FC236}">
                <a16:creationId xmlns:a16="http://schemas.microsoft.com/office/drawing/2014/main" id="{C6E89F54-77AA-4BD5-A600-9AC2724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PILOT REQUIREMENT</a:t>
            </a:r>
          </a:p>
        </p:txBody>
      </p:sp>
      <p:sp>
        <p:nvSpPr>
          <p:cNvPr id="8" name="h2">
            <a:extLst xmlns:a="http://schemas.openxmlformats.org/drawingml/2006/main">
              <a:ext uri="{FF2B5EF4-FFF2-40B4-BE49-F238E27FC236}">
                <a16:creationId xmlns:a16="http://schemas.microsoft.com/office/drawing/2014/main" id="{B194D76C-7E20-41E9-B6A1-A3C2607E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717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WHAT WILL BE AGREED OR REVIEWED</a:t>
            </a:r>
          </a:p>
        </p:txBody>
      </p:sp>
      <p:sp>
        <p:nvSpPr>
          <p:cNvPr id="9" name="h3">
            <a:extLst xmlns:a="http://schemas.openxmlformats.org/drawingml/2006/main">
              <a:ext uri="{FF2B5EF4-FFF2-40B4-BE49-F238E27FC236}">
                <a16:creationId xmlns:a16="http://schemas.microsoft.com/office/drawing/2014/main" id="{5DF5EDA1-BB5C-47AD-B5A3-6D29F730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PROPOSED RESPONSIBILITY</a:t>
            </a:r>
          </a:p>
        </p:txBody>
      </p:sp>
      <p:sp>
        <p:nvSpPr>
          <p:cNvPr id="10" name="r0">
            <a:extLst xmlns:a="http://schemas.openxmlformats.org/drawingml/2006/main">
              <a:ext uri="{FF2B5EF4-FFF2-40B4-BE49-F238E27FC236}">
                <a16:creationId xmlns:a16="http://schemas.microsoft.com/office/drawing/2014/main" id="{7FBCE8E7-8D14-4F2B-89A9-D0E0BA84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Scope</a:t>
            </a:r>
          </a:p>
        </p:txBody>
      </p:sp>
      <p:sp>
        <p:nvSpPr>
          <p:cNvPr id="11" name="d0">
            <a:extLst xmlns:a="http://schemas.openxmlformats.org/drawingml/2006/main">
              <a:ext uri="{FF2B5EF4-FFF2-40B4-BE49-F238E27FC236}">
                <a16:creationId xmlns:a16="http://schemas.microsoft.com/office/drawing/2014/main" id="{896A035B-E625-4B9D-9CB7-F19268BD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0987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One workflow, named owner, connected systems and agreed exclusions.</a:t>
            </a:r>
          </a:p>
        </p:txBody>
      </p:sp>
      <p:sp>
        <p:nvSpPr>
          <p:cNvPr id="12" name="o0">
            <a:extLst xmlns:a="http://schemas.openxmlformats.org/drawingml/2006/main">
              <a:ext uri="{FF2B5EF4-FFF2-40B4-BE49-F238E27FC236}">
                <a16:creationId xmlns:a16="http://schemas.microsoft.com/office/drawing/2014/main" id="{FE156751-8E49-499B-A3CC-67C133B8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+ Prime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24494-1E69-4B55-BB46-257AD22A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14" name="r1">
            <a:extLst xmlns:a="http://schemas.openxmlformats.org/drawingml/2006/main">
              <a:ext uri="{FF2B5EF4-FFF2-40B4-BE49-F238E27FC236}">
                <a16:creationId xmlns:a16="http://schemas.microsoft.com/office/drawing/2014/main" id="{BF12DB00-1ADB-4F8F-825A-CD8DA10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Readiness</a:t>
            </a:r>
          </a:p>
        </p:txBody>
      </p:sp>
      <p:sp>
        <p:nvSpPr>
          <p:cNvPr id="15" name="d1">
            <a:extLst xmlns:a="http://schemas.openxmlformats.org/drawingml/2006/main">
              <a:ext uri="{FF2B5EF4-FFF2-40B4-BE49-F238E27FC236}">
                <a16:creationId xmlns:a16="http://schemas.microsoft.com/office/drawing/2014/main" id="{B60D1F06-2766-426B-89D6-42E3F644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29000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Required access, suitable sample data, rules and exception ownership.</a:t>
            </a:r>
          </a:p>
        </p:txBody>
      </p:sp>
      <p:sp>
        <p:nvSpPr>
          <p:cNvPr id="16" name="o1">
            <a:extLst xmlns:a="http://schemas.openxmlformats.org/drawingml/2006/main">
              <a:ext uri="{FF2B5EF4-FFF2-40B4-BE49-F238E27FC236}">
                <a16:creationId xmlns:a16="http://schemas.microsoft.com/office/drawing/2014/main" id="{CDD71881-7502-4F8C-BB8A-A339EF7A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+ Prime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E3DB8-6EAC-4F23-8FF6-9036CC8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18" name="r2">
            <a:extLst xmlns:a="http://schemas.openxmlformats.org/drawingml/2006/main">
              <a:ext uri="{FF2B5EF4-FFF2-40B4-BE49-F238E27FC236}">
                <a16:creationId xmlns:a16="http://schemas.microsoft.com/office/drawing/2014/main" id="{9FD994A9-5054-4F5B-A4BA-B0D66DDC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Validation</a:t>
            </a:r>
          </a:p>
        </p:txBody>
      </p:sp>
      <p:sp>
        <p:nvSpPr>
          <p:cNvPr id="19" name="d2">
            <a:extLst xmlns:a="http://schemas.openxmlformats.org/drawingml/2006/main">
              <a:ext uri="{FF2B5EF4-FFF2-40B4-BE49-F238E27FC236}">
                <a16:creationId xmlns:a16="http://schemas.microsoft.com/office/drawing/2014/main" id="{25CD30B5-4E4D-4FF7-8D51-5BDCB0AF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Normal cases, duplicates, missing data, failures and approval paths.</a:t>
            </a:r>
          </a:p>
        </p:txBody>
      </p:sp>
      <p:sp>
        <p:nvSpPr>
          <p:cNvPr id="20" name="o2">
            <a:extLst xmlns:a="http://schemas.openxmlformats.org/drawingml/2006/main">
              <a:ext uri="{FF2B5EF4-FFF2-40B4-BE49-F238E27FC236}">
                <a16:creationId xmlns:a16="http://schemas.microsoft.com/office/drawing/2014/main" id="{D4BB64F1-B08F-4B8F-89BB-89B01B7A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4812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Prime State; client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4009E-792D-48B2-9B48-064E0E1F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22" name="r3">
            <a:extLst xmlns:a="http://schemas.openxmlformats.org/drawingml/2006/main">
              <a:ext uri="{FF2B5EF4-FFF2-40B4-BE49-F238E27FC236}">
                <a16:creationId xmlns:a16="http://schemas.microsoft.com/office/drawing/2014/main" id="{DC1A8F26-9943-48C0-B233-A5B41AE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Evaluation</a:t>
            </a:r>
          </a:p>
        </p:txBody>
      </p:sp>
      <p:sp>
        <p:nvSpPr>
          <p:cNvPr id="23" name="d3">
            <a:extLst xmlns:a="http://schemas.openxmlformats.org/drawingml/2006/main">
              <a:ext uri="{FF2B5EF4-FFF2-40B4-BE49-F238E27FC236}">
                <a16:creationId xmlns:a16="http://schemas.microsoft.com/office/drawing/2014/main" id="{FC413C96-0198-4675-B9CB-93063C03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Compare handling time, completion, exceptions and manual intervention.</a:t>
            </a:r>
          </a:p>
        </p:txBody>
      </p:sp>
      <p:sp>
        <p:nvSpPr>
          <p:cNvPr id="24" name="o3">
            <a:extLst xmlns:a="http://schemas.openxmlformats.org/drawingml/2006/main">
              <a:ext uri="{FF2B5EF4-FFF2-40B4-BE49-F238E27FC236}">
                <a16:creationId xmlns:a16="http://schemas.microsoft.com/office/drawing/2014/main" id="{16760EDA-936C-4FAD-9891-33B05E48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Joint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33DFE-E0DF-4C04-8A7C-3A6AE620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26" name="r4">
            <a:extLst xmlns:a="http://schemas.openxmlformats.org/drawingml/2006/main">
              <a:ext uri="{FF2B5EF4-FFF2-40B4-BE49-F238E27FC236}">
                <a16:creationId xmlns:a16="http://schemas.microsoft.com/office/drawing/2014/main" id="{C2B4E36D-E73B-4D74-AA92-A7CCF3E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Expansion decision</a:t>
            </a:r>
          </a:p>
        </p:txBody>
      </p:sp>
      <p:sp>
        <p:nvSpPr>
          <p:cNvPr id="27" name="d4">
            <a:extLst xmlns:a="http://schemas.openxmlformats.org/drawingml/2006/main">
              <a:ext uri="{FF2B5EF4-FFF2-40B4-BE49-F238E27FC236}">
                <a16:creationId xmlns:a16="http://schemas.microsoft.com/office/drawing/2014/main" id="{89CECEFE-1F89-4ABC-87AD-888A3A3A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Resolve open issues; agree support, next workflow and rollout scope.</a:t>
            </a:r>
          </a:p>
        </p:txBody>
      </p:sp>
      <p:sp>
        <p:nvSpPr>
          <p:cNvPr id="28" name="o4">
            <a:extLst xmlns:a="http://schemas.openxmlformats.org/drawingml/2006/main">
              <a:ext uri="{FF2B5EF4-FFF2-40B4-BE49-F238E27FC236}">
                <a16:creationId xmlns:a16="http://schemas.microsoft.com/office/drawing/2014/main" id="{28C29005-5880-45BA-8292-FF9868D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7488A-F44D-47B1-840A-563CBE3C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30" name="decision">
            <a:extLst xmlns:a="http://schemas.openxmlformats.org/drawingml/2006/main">
              <a:ext uri="{FF2B5EF4-FFF2-40B4-BE49-F238E27FC236}">
                <a16:creationId xmlns:a16="http://schemas.microsoft.com/office/drawing/2014/main" id="{3C6937C2-F4E8-4BF1-B344-84B9F6C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EFDFC"/>
                </a:solidFill>
                <a:latin typeface="Arial"/>
                <a:ea typeface="Arial"/>
                <a:cs typeface="Arial"/>
              </a:rPr>
              <a:t>NEXT STEP  Identify the first workflow and agree the pilot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22579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2026-09-08T05:27:55.5250000Z</dcterms:created>
  <dcterms:modified xsi:type="dcterms:W3CDTF">2026-09-08T05:27:55.5250000Z</dcterms:modified>
</coreProperties>
</file>