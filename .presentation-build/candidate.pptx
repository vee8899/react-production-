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9978214ca74679" /><Relationship Type="http://schemas.openxmlformats.org/officeDocument/2006/relationships/extended-properties" Target="/docProps/app.xml" Id="Ra642aff545b8488d" /><Relationship Type="http://schemas.openxmlformats.org/officeDocument/2006/relationships/officeDocument" Target="/ppt/presentation.xml" Id="R3b73c15773a848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8d7a278c0f4a35"/>
  </p:sldMasterIdLst>
  <p:notesMasterIdLst>
    <p:notesMasterId xmlns:r="http://schemas.openxmlformats.org/officeDocument/2006/relationships" r:id="Re1397509a5d64ede"/>
  </p:notesMasterIdLst>
  <p:sldIdLst>
    <p:sldId xmlns:r="http://schemas.openxmlformats.org/officeDocument/2006/relationships" id="256" r:id="R6a4560b55491478c"/>
    <p:sldId xmlns:r="http://schemas.openxmlformats.org/officeDocument/2006/relationships" id="257" r:id="Rf8033abc3a034109"/>
    <p:sldId xmlns:r="http://schemas.openxmlformats.org/officeDocument/2006/relationships" id="258" r:id="R756491f7ba8f4e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3762ded65441ee" /><Relationship Type="http://schemas.openxmlformats.org/officeDocument/2006/relationships/slideMaster" Target="/ppt/slideMasters/slideMaster1.xml" Id="R778d7a278c0f4a35" /><Relationship Type="http://schemas.openxmlformats.org/officeDocument/2006/relationships/notesMaster" Target="/ppt/notesMasters/notesMaster1.xml" Id="Re1397509a5d64ede" /><Relationship Type="http://schemas.openxmlformats.org/officeDocument/2006/relationships/presProps" Target="/ppt/presProps.xml" Id="R472c2798809049ba" /><Relationship Type="http://schemas.openxmlformats.org/officeDocument/2006/relationships/tableStyles" Target="/ppt/tableStyles.xml" Id="R754aee45dbed4a75" /><Relationship Type="http://schemas.openxmlformats.org/officeDocument/2006/relationships/slide" Target="/ppt/slides/slide1.xml" Id="R6a4560b55491478c" /><Relationship Type="http://schemas.openxmlformats.org/officeDocument/2006/relationships/slide" Target="/ppt/slides/slide2.xml" Id="Rf8033abc3a034109" /><Relationship Type="http://schemas.openxmlformats.org/officeDocument/2006/relationships/slide" Target="/ppt/slides/slide3.xml" Id="R756491f7ba8f4e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f3af9b8ff742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9e0603db7b4ba0" /><Relationship Type="http://schemas.openxmlformats.org/officeDocument/2006/relationships/notesMaster" Target="/ppt/notesMasters/notesMaster1.xml" Id="R2c61fe5f972941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7257444e91412c" /><Relationship Type="http://schemas.openxmlformats.org/officeDocument/2006/relationships/notesMaster" Target="/ppt/notesMasters/notesMaster1.xml" Id="R0c3936a38a3b42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abc68695c94878" /><Relationship Type="http://schemas.openxmlformats.org/officeDocument/2006/relationships/notesMaster" Target="/ppt/notesMasters/notesMaster1.xml" Id="Ra0ecea14ae4d42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 product description, September 2026; repository README.md; src/pages/HomePage.tsx; src/pages/DashboardPage.tsx. Preproduction concept. Illustrative workflow view is editable presentation artwork, not a live screenshot or evidence of performance. Research-informed describes the intended process design approach; no specific study or validated outcome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src/pages/HomePage.tsx workflow example: capture, deduplicate, route, follow up, and record the outcome. This is an illustrative configured workflow, not a claim that this client deployment is live. Qualification criteria, owners, timing and exception handling would be agreed during scoping.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next step, not an agreed commercial commitment. Product is in preproduction per user. Pilot scope, integration access, process rules, baseline, success criteria, and launch validation remain to be agreed.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be229083fd46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b09b3a73074f76" /><Relationship Type="http://schemas.openxmlformats.org/officeDocument/2006/relationships/slideLayout" Target="/ppt/slideLayouts/slideLayout1.xml" Id="R6f221333bef443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221333bef443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f5cd8c2f348fb" /><Relationship Type="http://schemas.openxmlformats.org/officeDocument/2006/relationships/notesSlide" Target="/ppt/notesSlides/notesSlide1.xml" Id="R7294e8d0cc984a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c4e15d9924cd7" /><Relationship Type="http://schemas.openxmlformats.org/officeDocument/2006/relationships/notesSlide" Target="/ppt/notesSlides/notesSlide2.xml" Id="R36d73f946b5f43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f430e7f0a44f9" /><Relationship Type="http://schemas.openxmlformats.org/officeDocument/2006/relationships/notesSlide" Target="/ppt/notesSlides/notesSlide3.xml" Id="R312785256ed340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E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5843BA-E198-40B0-8644-053AD86E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6762"/>
                </a:solidFill>
                <a:latin typeface="Arial"/>
                <a:ea typeface="Arial"/>
                <a:cs typeface="Arial"/>
              </a:rPr>
              <a:t>PRIME STATE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4A5A8-EF40-4330-9E5E-CCE3CA91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B676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DD5EB-42D5-417A-8CC4-422CAB6B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667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0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A consistent way</a:t>
            </a:r>
          </a:p>
          <a:p xmlns:a="http://schemas.openxmlformats.org/drawingml/2006/main">
            <a:pPr>
              <a:buNone/>
              <a:defRPr sz="3600" b="0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to run repeatable</a:t>
            </a:r>
          </a:p>
          <a:p xmlns:a="http://schemas.openxmlformats.org/drawingml/2006/main">
            <a:pPr>
              <a:buNone/>
              <a:defRPr sz="3600" b="0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business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8526B-F66F-432E-8000-EB81157F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00475"/>
            <a:ext cx="581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B6762"/>
                </a:solidFill>
                <a:latin typeface="Arial"/>
                <a:ea typeface="Arial"/>
                <a:cs typeface="Arial"/>
              </a:rPr>
              <a:t>Research-informed processes, configured around your business and delivered through managed workflows—with visibility into execution and exceptions.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95BF2-1C98-470D-B860-2DAB831B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66800"/>
            <a:ext cx="3295650" cy="4000500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F2F0ED"/>
          </a:solidFill>
          <a:ln xmlns:a="http://schemas.openxmlformats.org/drawingml/2006/main" w="9525">
            <a:solidFill>
              <a:srgbClr val="E0DD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4C462-FAD9-4018-B30B-6F4DF9BC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2647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F0E0D"/>
          </a:solidFill>
          <a:ln xmlns:a="http://schemas.openxmlformats.org/drawingml/2006/main" w="9525">
            <a:solidFill>
              <a:srgbClr val="0F0E0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E6CE9-803D-43BC-95DA-AEF678B5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811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FEFDF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EFDFC"/>
                </a:solidFill>
                <a:latin typeface="Arial"/>
                <a:ea typeface="Arial"/>
                <a:cs typeface="Arial"/>
              </a:rPr>
              <a:t>PRIME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E55D5-9B3F-4AB6-ADEB-F048B799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383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Workflow visibility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51BAB-A0F0-4220-B35A-CBBED4DD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432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B6762"/>
                </a:solidFill>
                <a:latin typeface="Arial"/>
                <a:ea typeface="Arial"/>
                <a:cs typeface="Arial"/>
              </a:rPr>
              <a:t>ILLUSTRATIVE 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34ABA-2935-47F1-BD3D-1AD66A97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48000"/>
            <a:ext cx="264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DDA38-16B9-4C85-9400-5EE1E888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6762"/>
                </a:solidFill>
                <a:latin typeface="Arial"/>
                <a:ea typeface="Arial"/>
                <a:cs typeface="Arial"/>
              </a:rPr>
              <a:t>Lead capture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1EA78-18E9-4C9C-992C-14B633A2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14325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859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1BABF-5070-4763-86EB-FD903A6F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43300"/>
            <a:ext cx="264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F61744-F715-451F-9D2D-FBFA134B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38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6762"/>
                </a:solidFill>
                <a:latin typeface="Arial"/>
                <a:ea typeface="Arial"/>
                <a:cs typeface="Arial"/>
              </a:rPr>
              <a:t>Qualification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7B537-34D2-44CC-A46D-425BD0FF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63855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F0E0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0E0D"/>
                </a:solidFill>
                <a:latin typeface="Arial"/>
                <a:ea typeface="Arial"/>
                <a:cs typeface="Arial"/>
              </a:rPr>
              <a:t>Assigned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0CF9FF-5F9F-4287-BF87-499F798A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38600"/>
            <a:ext cx="264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5C1140-31DE-4120-80CA-2E111508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33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6762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497FF-5FF9-438F-827D-DB1AB29F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13385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86A4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6A45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661EED-0925-4742-8678-9E7BE668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B6762"/>
                </a:solidFill>
                <a:latin typeface="Arial"/>
                <a:ea typeface="Arial"/>
                <a:cs typeface="Arial"/>
              </a:rPr>
              <a:t>PREPRODUCTION PREVIEW  /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901070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E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261E99-C054-469C-8986-D41AE858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6762"/>
                </a:solidFill>
                <a:latin typeface="Arial"/>
                <a:ea typeface="Arial"/>
                <a:cs typeface="Arial"/>
              </a:rPr>
              <a:t>PRIME STATE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98346-BCD4-4B7B-8BAC-7EDABA7B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67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6387A-C2D2-40F2-AF78-C103B77F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266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65A"/>
                </a:solidFill>
                <a:latin typeface="Arial"/>
                <a:ea typeface="Arial"/>
                <a:cs typeface="Arial"/>
              </a:rPr>
              <a:t>ILLUSTRATIVE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73D01-C408-4857-9AF4-F2A16FAD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A defined process for every new lead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A5416-778F-4F19-893F-DF63C10A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173B9-C44E-4334-BE89-398016B7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6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5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C8F08-5B77-4BCD-B240-FFAEEE55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A7DC3-4D20-4E33-8252-B9AF0B44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2EF12-3EB3-466E-B1AD-B24C546D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B6762"/>
                </a:solidFill>
                <a:latin typeface="Arial"/>
                <a:ea typeface="Arial"/>
                <a:cs typeface="Arial"/>
              </a:rPr>
              <a:t>Record the enquiry and remove duplicates before the handoff.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787E9-1855-49B4-91C4-A2CA5910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19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6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5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654A2-F669-4D34-B2FF-5B55E996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766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Qualify &amp; assign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0E4F4-D31B-407F-A701-E88A2500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6504C-E61A-425C-970E-2C4C561D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6720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B6762"/>
                </a:solidFill>
                <a:latin typeface="Arial"/>
                <a:ea typeface="Arial"/>
                <a:cs typeface="Arial"/>
              </a:rPr>
              <a:t>Apply agreed criteria and route the lead to a named owner.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53AE2-2836-471B-98B0-C4930BBE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19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6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5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2476BF-3F09-4A25-A229-F7DE7497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766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Track follow-up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11696-C1B7-4CA5-9A74-EA737B2A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B2747A-8653-40D1-B828-3F654D4E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6720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B6762"/>
                </a:solidFill>
                <a:latin typeface="Arial"/>
                <a:ea typeface="Arial"/>
                <a:cs typeface="Arial"/>
              </a:rPr>
              <a:t>Record the outcome and make exceptions visible for review.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B3D3E1-0002-48BD-967C-0D77F5DA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8E6E8E-C177-408A-882B-83E0C55E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F0E0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0E0D"/>
                </a:solidFill>
                <a:latin typeface="Arial"/>
                <a:ea typeface="Arial"/>
                <a:cs typeface="Arial"/>
              </a:rPr>
              <a:t>The operating view: what ran, what changed, and what needs attention.</a:t>
            </a:r>
          </a:p>
        </p:txBody>
      </p:sp>
    </p:spTree>
    <p:extLst>
      <p:ext uri="{BB962C8B-B14F-4D97-AF65-F5344CB8AC3E}">
        <p14:creationId xmlns:p14="http://schemas.microsoft.com/office/powerpoint/2010/main" val="16045188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2A323-18FE-428B-8E7B-D286FD4C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7A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B7AE"/>
                </a:solidFill>
                <a:latin typeface="Arial"/>
                <a:ea typeface="Arial"/>
                <a:cs typeface="Arial"/>
              </a:rPr>
              <a:t>PRIME STATE SYSTEMS  /  PROPOSED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F80C9-FCA1-4C66-981F-7F975055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7A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B7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CC6A8-E04D-4E9C-9405-3F0A3DF4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7239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75" b="0">
                <a:solidFill>
                  <a:srgbClr val="FEFDFC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FEFDFC"/>
                </a:solidFill>
                <a:latin typeface="Georgia"/>
                <a:ea typeface="Georgia"/>
                <a:cs typeface="Georgia"/>
              </a:rPr>
              <a:t>Begin with one</a:t>
            </a:r>
          </a:p>
          <a:p xmlns:a="http://schemas.openxmlformats.org/drawingml/2006/main">
            <a:pPr>
              <a:buNone/>
              <a:defRPr sz="3675" b="0">
                <a:solidFill>
                  <a:srgbClr val="FEFDFC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FEFDFC"/>
                </a:solidFill>
                <a:latin typeface="Georgia"/>
                <a:ea typeface="Georgia"/>
                <a:cs typeface="Georgia"/>
              </a:rPr>
              <a:t>important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80DEB-48A2-467D-8183-351F84BB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5619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E0DD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0DDDA"/>
                </a:solidFill>
                <a:latin typeface="Arial"/>
                <a:ea typeface="Arial"/>
                <a:cs typeface="Arial"/>
              </a:rPr>
              <a:t>Define the process, connect the required systems, and evaluate execution before expanding the scope.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C6B4D-38A4-4091-966B-7E074CD4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4572000" cy="5334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9CDBD"/>
          </a:solidFill>
          <a:ln xmlns:a="http://schemas.openxmlformats.org/drawingml/2006/main" w="9525">
            <a:solidFill>
              <a:srgbClr val="D9CDB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D300CE-02FC-428D-B0EB-378E209E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F0E0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0E0D"/>
                </a:solidFill>
                <a:latin typeface="Arial"/>
                <a:ea typeface="Arial"/>
                <a:cs typeface="Arial"/>
              </a:rPr>
              <a:t>AGREE THE FIRST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5A7E4-3F59-406E-9437-6A842BA7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D8CFC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8CFC1"/>
                </a:solidFill>
                <a:latin typeface="Arial"/>
                <a:ea typeface="Arial"/>
                <a:cs typeface="Arial"/>
              </a:rPr>
              <a:t>PREPRODUCTION  /  SCOPE AND SUCCESS CRITERIA TO BE AGREED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11DDC-07C2-4483-97CB-59EE955E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DB7A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BDB7AE"/>
                </a:solidFill>
                <a:latin typeface="Arial"/>
                <a:ea typeface="Arial"/>
                <a:cs typeface="Arial"/>
              </a:rPr>
              <a:t>PILOT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2C94B-A7E3-46ED-8D11-0B801AC1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0502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EFDF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EFDFC"/>
                </a:solidFill>
                <a:latin typeface="Arial"/>
                <a:ea typeface="Arial"/>
                <a:cs typeface="Arial"/>
              </a:rPr>
              <a:t>Process agreed</a:t>
            </a:r>
          </a:p>
          <a:p xmlns:a="http://schemas.openxmlformats.org/drawingml/2006/main">
            <a:pPr>
              <a:defRPr sz="1575">
                <a:solidFill>
                  <a:srgbClr val="FEFDF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EFDFC"/>
                </a:solidFill>
                <a:latin typeface="Arial"/>
                <a:ea typeface="Arial"/>
                <a:cs typeface="Arial"/>
              </a:rPr>
              <a:t>Rules, ownership, exceptions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C733D-C922-4DF9-9502-7040A9FF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04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EFDF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EFDFC"/>
                </a:solidFill>
                <a:latin typeface="Arial"/>
                <a:ea typeface="Arial"/>
                <a:cs typeface="Arial"/>
              </a:rPr>
              <a:t>Execution observed</a:t>
            </a:r>
          </a:p>
          <a:p xmlns:a="http://schemas.openxmlformats.org/drawingml/2006/main">
            <a:pPr>
              <a:defRPr sz="1575">
                <a:solidFill>
                  <a:srgbClr val="FEFDF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EFDFC"/>
                </a:solidFill>
                <a:latin typeface="Arial"/>
                <a:ea typeface="Arial"/>
                <a:cs typeface="Arial"/>
              </a:rPr>
              <a:t>Activity and audit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B52E5-2BDC-4D3C-865A-7815BF4F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9577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EFDF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EFDFC"/>
                </a:solidFill>
                <a:latin typeface="Arial"/>
                <a:ea typeface="Arial"/>
                <a:cs typeface="Arial"/>
              </a:rPr>
              <a:t>Results reviewed</a:t>
            </a:r>
          </a:p>
          <a:p xmlns:a="http://schemas.openxmlformats.org/drawingml/2006/main">
            <a:pPr>
              <a:defRPr sz="1575">
                <a:solidFill>
                  <a:srgbClr val="FEFDF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EFDFC"/>
                </a:solidFill>
                <a:latin typeface="Arial"/>
                <a:ea typeface="Arial"/>
                <a:cs typeface="Arial"/>
              </a:rPr>
              <a:t>Baseline and pilot comparison</a:t>
            </a:r>
          </a:p>
        </p:txBody>
      </p:sp>
    </p:spTree>
    <p:extLst>
      <p:ext uri="{BB962C8B-B14F-4D97-AF65-F5344CB8AC3E}">
        <p14:creationId xmlns:p14="http://schemas.microsoft.com/office/powerpoint/2010/main" val="225791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2026-09-08T05:15:30.1580000Z</dcterms:created>
  <dcterms:modified xsi:type="dcterms:W3CDTF">2026-09-08T05:15:30.1580000Z</dcterms:modified>
</coreProperties>
</file>