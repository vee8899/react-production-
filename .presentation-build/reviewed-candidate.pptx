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06aab28b044571" /><Relationship Type="http://schemas.openxmlformats.org/officeDocument/2006/relationships/extended-properties" Target="/docProps/app.xml" Id="R202dc091d494472f" /><Relationship Type="http://schemas.openxmlformats.org/officeDocument/2006/relationships/officeDocument" Target="/ppt/presentation.xml" Id="R4c22ebcb8edb43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bd2dbd892846d6"/>
  </p:sldMasterIdLst>
  <p:notesMasterIdLst>
    <p:notesMasterId xmlns:r="http://schemas.openxmlformats.org/officeDocument/2006/relationships" r:id="R514f79f9eea643e0"/>
  </p:notesMasterIdLst>
  <p:sldIdLst>
    <p:sldId xmlns:r="http://schemas.openxmlformats.org/officeDocument/2006/relationships" id="256" r:id="R71fcc1c5fe0e4368"/>
    <p:sldId xmlns:r="http://schemas.openxmlformats.org/officeDocument/2006/relationships" id="257" r:id="R7389e759c1cb47d1"/>
    <p:sldId xmlns:r="http://schemas.openxmlformats.org/officeDocument/2006/relationships" id="258" r:id="R66f1ac27d0d344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5327a0e68f4b91" /><Relationship Type="http://schemas.openxmlformats.org/officeDocument/2006/relationships/slideMaster" Target="/ppt/slideMasters/slideMaster1.xml" Id="R2fbd2dbd892846d6" /><Relationship Type="http://schemas.openxmlformats.org/officeDocument/2006/relationships/notesMaster" Target="/ppt/notesMasters/notesMaster1.xml" Id="R514f79f9eea643e0" /><Relationship Type="http://schemas.openxmlformats.org/officeDocument/2006/relationships/presProps" Target="/ppt/presProps.xml" Id="R5bade52b4f2f4e8b" /><Relationship Type="http://schemas.openxmlformats.org/officeDocument/2006/relationships/tableStyles" Target="/ppt/tableStyles.xml" Id="Rd87f95a3ca334766" /><Relationship Type="http://schemas.openxmlformats.org/officeDocument/2006/relationships/slide" Target="/ppt/slides/slide1.xml" Id="R71fcc1c5fe0e4368" /><Relationship Type="http://schemas.openxmlformats.org/officeDocument/2006/relationships/slide" Target="/ppt/slides/slide2.xml" Id="R7389e759c1cb47d1" /><Relationship Type="http://schemas.openxmlformats.org/officeDocument/2006/relationships/slide" Target="/ppt/slides/slide3.xml" Id="R66f1ac27d0d344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cc9cdae22a4e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64ec3a21694de2" /><Relationship Type="http://schemas.openxmlformats.org/officeDocument/2006/relationships/notesMaster" Target="/ppt/notesMasters/notesMaster1.xml" Id="R910ebc2f11b34f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0d9bff108c44af" /><Relationship Type="http://schemas.openxmlformats.org/officeDocument/2006/relationships/notesMaster" Target="/ppt/notesMasters/notesMaster1.xml" Id="R88852984401144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3fda5be2e34fe1" /><Relationship Type="http://schemas.openxmlformats.org/officeDocument/2006/relationships/notesMaster" Target="/ppt/notesMasters/notesMaster1.xml" Id="Rd3894bd4a62849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product description; repository README.md; src/pages/HomePage.tsx; src/pages/DashboardPage.tsx; src/components/dashboard/RunDetail.tsx; src/pages/WorkflowsPage.tsx. Document generation is illustrative, not a live deployment. Missing-data handling is proposed configuration. Process and deliverables are a proposed service model, not a signed scope. Research-informed describes intended methodology; no specific study, measured result or production readiness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engagement process based on the user request: initial communication, onboarding, automation and ongoing operation. Informed by the repository HomePage Platform / Implementation / Operations service description. Outputs are proposed and require client agreement. Editable native flowchart.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pilot framework, not a commercial commitment. No numeric performance target is asserted. Baseline, evaluation measures, access, owners, acceptance criteria and launch decision need agreement. Sources: user preproduction status and product description; src/pages/HomePage.tsx engagement approach.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ccef37648a40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bcfc6d241141b6" /><Relationship Type="http://schemas.openxmlformats.org/officeDocument/2006/relationships/slideLayout" Target="/ppt/slideLayouts/slideLayout1.xml" Id="Rbf8a9233d1e741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8a9233d1e741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a962787c94048" /><Relationship Type="http://schemas.openxmlformats.org/officeDocument/2006/relationships/notesSlide" Target="/ppt/notesSlides/notesSlide1.xml" Id="R6feb1151bc6948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7fb889e0f48da" /><Relationship Type="http://schemas.openxmlformats.org/officeDocument/2006/relationships/notesSlide" Target="/ppt/notesSlides/notesSlide2.xml" Id="R3a5c2bbe3eb241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55252bf3f4a61" /><Relationship Type="http://schemas.openxmlformats.org/officeDocument/2006/relationships/notesSlide" Target="/ppt/notesSlides/notesSlide3.xml" Id="R8ded9dc5286b4a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E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rand">
            <a:extLst xmlns:a="http://schemas.openxmlformats.org/drawingml/2006/main">
              <a:ext uri="{FF2B5EF4-FFF2-40B4-BE49-F238E27FC236}">
                <a16:creationId xmlns:a16="http://schemas.microsoft.com/office/drawing/2014/main" id="{57F90E8F-B3F8-4D1A-AAB2-F87F1234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6762"/>
                </a:solidFill>
                <a:latin typeface="Arial"/>
                <a:ea typeface="Arial"/>
                <a:cs typeface="Arial"/>
              </a:rPr>
              <a:t>PRIME STATE SYSTEMS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C431A799-3311-4090-B381-3DB2D7B5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676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4A2194-711A-485A-887E-E4453E49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2925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A managed operating layer for local businesses</a:t>
            </a:r>
          </a:p>
        </p:txBody>
      </p:sp>
      <p:sp>
        <p:nvSpPr>
          <p:cNvPr id="4" name="intro">
            <a:extLst xmlns:a="http://schemas.openxmlformats.org/drawingml/2006/main">
              <a:ext uri="{FF2B5EF4-FFF2-40B4-BE49-F238E27FC236}">
                <a16:creationId xmlns:a16="http://schemas.microsoft.com/office/drawing/2014/main" id="{AF7CFC18-CF37-4E64-98E7-83281983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B6762"/>
                </a:solidFill>
                <a:latin typeface="Arial"/>
                <a:ea typeface="Arial"/>
                <a:cs typeface="Arial"/>
              </a:rPr>
              <a:t>Standardize established business processes and turn research-informed methods into configured workflows, with a shared view of execution, outcomes and exceptions.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1018A-5E61-4BF3-B1A1-2C50498A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371365C-A417-446B-BDD0-0BE4A7B3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B6762"/>
                </a:solidFill>
                <a:latin typeface="Arial"/>
                <a:ea typeface="Arial"/>
                <a:cs typeface="Arial"/>
              </a:rPr>
              <a:t>PREPRODUCTION  /  Proposed scope and operating approach; client-specific requirements to be agreed</a:t>
            </a:r>
          </a:p>
        </p:txBody>
      </p:sp>
      <p:sp>
        <p:nvSpPr>
          <p:cNvPr id="7" name="label0">
            <a:extLst xmlns:a="http://schemas.openxmlformats.org/drawingml/2006/main">
              <a:ext uri="{FF2B5EF4-FFF2-40B4-BE49-F238E27FC236}">
                <a16:creationId xmlns:a16="http://schemas.microsoft.com/office/drawing/2014/main" id="{0CAC8A3F-C452-43B4-8E02-69D657EC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85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859"/>
                </a:solidFill>
                <a:latin typeface="Arial"/>
                <a:ea typeface="Arial"/>
                <a:cs typeface="Arial"/>
              </a:rPr>
              <a:t>01  MANAGED SERVICE</a:t>
            </a:r>
          </a:p>
        </p:txBody>
      </p:sp>
      <p:sp>
        <p:nvSpPr>
          <p:cNvPr id="8" name="heading0">
            <a:extLst xmlns:a="http://schemas.openxmlformats.org/drawingml/2006/main">
              <a:ext uri="{FF2B5EF4-FFF2-40B4-BE49-F238E27FC236}">
                <a16:creationId xmlns:a16="http://schemas.microsoft.com/office/drawing/2014/main" id="{C926A48B-2D99-4168-AA5B-33B036C0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1875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Design &amp; implementation</a:t>
            </a:r>
          </a:p>
        </p:txBody>
      </p:sp>
      <p:sp>
        <p:nvSpPr>
          <p:cNvPr id="9" name="body0">
            <a:extLst xmlns:a="http://schemas.openxmlformats.org/drawingml/2006/main">
              <a:ext uri="{FF2B5EF4-FFF2-40B4-BE49-F238E27FC236}">
                <a16:creationId xmlns:a16="http://schemas.microsoft.com/office/drawing/2014/main" id="{8B250D2F-8548-4FFF-AC6E-ADE75E93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3333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Map the business pipeline and agree rules, responsible people and exceptions.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Configure integrations, routing and approvals around existing 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Validate the workflow and establish an operating review cadence.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6D2DAB-683D-4BD1-A005-EE54570D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</a:ln>
        </p:spPr>
      </p:sp>
      <p:sp>
        <p:nvSpPr>
          <p:cNvPr id="11" name="output0">
            <a:extLst xmlns:a="http://schemas.openxmlformats.org/drawingml/2006/main">
              <a:ext uri="{FF2B5EF4-FFF2-40B4-BE49-F238E27FC236}">
                <a16:creationId xmlns:a16="http://schemas.microsoft.com/office/drawing/2014/main" id="{72E1D04C-B5D3-4171-BB74-6257FA09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3371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0E0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F0E0D"/>
                </a:solidFill>
                <a:latin typeface="Arial"/>
                <a:ea typeface="Arial"/>
                <a:cs typeface="Arial"/>
              </a:rPr>
              <a:t>DELIVERABLE: Agreed process and pilot</a:t>
            </a:r>
          </a:p>
        </p:txBody>
      </p:sp>
      <p:sp>
        <p:nvSpPr>
          <p:cNvPr id="12" name="label1">
            <a:extLst xmlns:a="http://schemas.openxmlformats.org/drawingml/2006/main">
              <a:ext uri="{FF2B5EF4-FFF2-40B4-BE49-F238E27FC236}">
                <a16:creationId xmlns:a16="http://schemas.microsoft.com/office/drawing/2014/main" id="{1C85BC8C-57EC-4E01-AC74-C253449B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6220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85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859"/>
                </a:solidFill>
                <a:latin typeface="Arial"/>
                <a:ea typeface="Arial"/>
                <a:cs typeface="Arial"/>
              </a:rPr>
              <a:t>02  PLATFORM VIEW</a:t>
            </a:r>
          </a:p>
        </p:txBody>
      </p:sp>
      <p:sp>
        <p:nvSpPr>
          <p:cNvPr id="13" name="heading1">
            <a:extLst xmlns:a="http://schemas.openxmlformats.org/drawingml/2006/main">
              <a:ext uri="{FF2B5EF4-FFF2-40B4-BE49-F238E27FC236}">
                <a16:creationId xmlns:a16="http://schemas.microsoft.com/office/drawing/2014/main" id="{459233CE-A74A-4104-A723-2F418116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4320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1875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Inspect what actually ran</a:t>
            </a:r>
          </a:p>
        </p:txBody>
      </p:sp>
      <p:sp>
        <p:nvSpPr>
          <p:cNvPr id="14" name="body1">
            <a:extLst xmlns:a="http://schemas.openxmlformats.org/drawingml/2006/main">
              <a:ext uri="{FF2B5EF4-FFF2-40B4-BE49-F238E27FC236}">
                <a16:creationId xmlns:a16="http://schemas.microsoft.com/office/drawing/2014/main" id="{4714B7CE-CCF0-4BC6-BD24-0946CC88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76600"/>
            <a:ext cx="3333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Review organization-specific workflows and their execution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Inspect status, duration, retries and processed or failed records.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Open execution steps and investigation notes when a run needs attention.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26FFEE-37AA-4C44-A92E-59EB96C7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531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</a:ln>
        </p:spPr>
      </p:sp>
      <p:sp>
        <p:nvSpPr>
          <p:cNvPr id="16" name="output1">
            <a:extLst xmlns:a="http://schemas.openxmlformats.org/drawingml/2006/main">
              <a:ext uri="{FF2B5EF4-FFF2-40B4-BE49-F238E27FC236}">
                <a16:creationId xmlns:a16="http://schemas.microsoft.com/office/drawing/2014/main" id="{2124E7EE-D3F5-4AD4-B215-747DC743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886450"/>
            <a:ext cx="3371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0E0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F0E0D"/>
                </a:solidFill>
                <a:latin typeface="Arial"/>
                <a:ea typeface="Arial"/>
                <a:cs typeface="Arial"/>
              </a:rPr>
              <a:t>PLATFORM: Preproduction capability</a:t>
            </a:r>
          </a:p>
        </p:txBody>
      </p:sp>
      <p:sp>
        <p:nvSpPr>
          <p:cNvPr id="17" name="label2">
            <a:extLst xmlns:a="http://schemas.openxmlformats.org/drawingml/2006/main">
              <a:ext uri="{FF2B5EF4-FFF2-40B4-BE49-F238E27FC236}">
                <a16:creationId xmlns:a16="http://schemas.microsoft.com/office/drawing/2014/main" id="{2155164C-4DAC-4D45-BBDB-DACAB665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6220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85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859"/>
                </a:solidFill>
                <a:latin typeface="Arial"/>
                <a:ea typeface="Arial"/>
                <a:cs typeface="Arial"/>
              </a:rPr>
              <a:t>03  ILLUSTRATIVE WORKFLOW</a:t>
            </a:r>
          </a:p>
        </p:txBody>
      </p:sp>
      <p:sp>
        <p:nvSpPr>
          <p:cNvPr id="18" name="heading2">
            <a:extLst xmlns:a="http://schemas.openxmlformats.org/drawingml/2006/main">
              <a:ext uri="{FF2B5EF4-FFF2-40B4-BE49-F238E27FC236}">
                <a16:creationId xmlns:a16="http://schemas.microsoft.com/office/drawing/2014/main" id="{3F3A9A44-2A21-4930-B244-A40205AD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4320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1875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Document generation</a:t>
            </a:r>
          </a:p>
        </p:txBody>
      </p:sp>
      <p:sp>
        <p:nvSpPr>
          <p:cNvPr id="19" name="body2">
            <a:extLst xmlns:a="http://schemas.openxmlformats.org/drawingml/2006/main">
              <a:ext uri="{FF2B5EF4-FFF2-40B4-BE49-F238E27FC236}">
                <a16:creationId xmlns:a16="http://schemas.microsoft.com/office/drawing/2014/main" id="{385B2E25-59C4-4AC6-A730-B892C4B3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76600"/>
            <a:ext cx="3333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Approved input → populate a versioned template → request approval → deliver the document → record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Exception: missing required data pauses the proposed process for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Review run steps and failure details.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03A977-A619-4595-B93D-EC24D97E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7531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</a:ln>
        </p:spPr>
      </p:sp>
      <p:sp>
        <p:nvSpPr>
          <p:cNvPr id="21" name="output2">
            <a:extLst xmlns:a="http://schemas.openxmlformats.org/drawingml/2006/main">
              <a:ext uri="{FF2B5EF4-FFF2-40B4-BE49-F238E27FC236}">
                <a16:creationId xmlns:a16="http://schemas.microsoft.com/office/drawing/2014/main" id="{BF3260C0-6F56-437E-8389-3B503B53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886450"/>
            <a:ext cx="3371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0E0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F0E0D"/>
                </a:solidFill>
                <a:latin typeface="Arial"/>
                <a:ea typeface="Arial"/>
                <a:cs typeface="Arial"/>
              </a:rPr>
              <a:t>EXAMPLE: Configuration subject to scoping</a:t>
            </a:r>
          </a:p>
        </p:txBody>
      </p:sp>
    </p:spTree>
    <p:extLst>
      <p:ext uri="{BB962C8B-B14F-4D97-AF65-F5344CB8AC3E}">
        <p14:creationId xmlns:p14="http://schemas.microsoft.com/office/powerpoint/2010/main" val="1901070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E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brand">
            <a:extLst xmlns:a="http://schemas.openxmlformats.org/drawingml/2006/main">
              <a:ext uri="{FF2B5EF4-FFF2-40B4-BE49-F238E27FC236}">
                <a16:creationId xmlns:a16="http://schemas.microsoft.com/office/drawing/2014/main" id="{7AF32748-F620-469C-B09A-E0FE9BC5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6762"/>
                </a:solidFill>
                <a:latin typeface="Arial"/>
                <a:ea typeface="Arial"/>
                <a:cs typeface="Arial"/>
              </a:rPr>
              <a:t>PRIME STATE SYSTEMS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E5B7E8CB-4768-469B-90BB-164AB761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676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355002-E4F8-4689-9BE2-A93F4906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2925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The client journey: conversation to operations</a:t>
            </a:r>
          </a:p>
        </p:txBody>
      </p:sp>
      <p:sp>
        <p:nvSpPr>
          <p:cNvPr id="4" name="intro">
            <a:extLst xmlns:a="http://schemas.openxmlformats.org/drawingml/2006/main">
              <a:ext uri="{FF2B5EF4-FFF2-40B4-BE49-F238E27FC236}">
                <a16:creationId xmlns:a16="http://schemas.microsoft.com/office/drawing/2014/main" id="{4C947631-FED3-47AE-BABB-3E772C44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B6762"/>
                </a:solidFill>
                <a:latin typeface="Arial"/>
                <a:ea typeface="Arial"/>
                <a:cs typeface="Arial"/>
              </a:rPr>
              <a:t>Each stage produces a defined output. Access, process ownership and approval are established before the pilot moves into ongoing operation.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A2677-7293-47A8-A837-2A1FF62E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90B47FC-84E0-48B3-822C-48198620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B6762"/>
                </a:solidFill>
                <a:latin typeface="Arial"/>
                <a:ea typeface="Arial"/>
                <a:cs typeface="Arial"/>
              </a:rPr>
              <a:t>PREPRODUCTION  /  Proposed scope and operating approach; client-specific requirements to be agreed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A32DE-0F9B-4E7D-A1DA-A65B4690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3337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D"/>
          </a:solidFill>
          <a:ln xmlns:a="http://schemas.openxmlformats.org/drawingml/2006/main" w="9525">
            <a:solidFill>
              <a:srgbClr val="D0CBC4"/>
            </a:solidFill>
          </a:ln>
        </p:spPr>
      </p:sp>
      <p:sp>
        <p:nvSpPr>
          <p:cNvPr id="8" name="stage0">
            <a:extLst xmlns:a="http://schemas.openxmlformats.org/drawingml/2006/main">
              <a:ext uri="{FF2B5EF4-FFF2-40B4-BE49-F238E27FC236}">
                <a16:creationId xmlns:a16="http://schemas.microsoft.com/office/drawing/2014/main" id="{C2DE5C4F-7732-46A9-8513-32CD8F98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57450"/>
            <a:ext cx="3105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01  Initial conversation</a:t>
            </a:r>
          </a:p>
        </p:txBody>
      </p:sp>
      <p:sp>
        <p:nvSpPr>
          <p:cNvPr id="9" name="detail0">
            <a:extLst xmlns:a="http://schemas.openxmlformats.org/drawingml/2006/main">
              <a:ext uri="{FF2B5EF4-FFF2-40B4-BE49-F238E27FC236}">
                <a16:creationId xmlns:a16="http://schemas.microsoft.com/office/drawing/2014/main" id="{CB34024F-ABBE-470D-A4C2-36AF138D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67025"/>
            <a:ext cx="3057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B6762"/>
                </a:solidFill>
                <a:latin typeface="Arial"/>
                <a:ea typeface="Arial"/>
                <a:cs typeface="Arial"/>
              </a:rPr>
              <a:t>Understand priorities, current tools and the operational bottleneck.</a:t>
            </a:r>
          </a:p>
        </p:txBody>
      </p:sp>
      <p:sp>
        <p:nvSpPr>
          <p:cNvPr id="10" name="result0">
            <a:extLst xmlns:a="http://schemas.openxmlformats.org/drawingml/2006/main">
              <a:ext uri="{FF2B5EF4-FFF2-40B4-BE49-F238E27FC236}">
                <a16:creationId xmlns:a16="http://schemas.microsoft.com/office/drawing/2014/main" id="{390808D9-DA17-4645-B9A2-374D85B7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67125"/>
            <a:ext cx="3057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85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859"/>
                </a:solidFill>
                <a:latin typeface="Arial"/>
                <a:ea typeface="Arial"/>
                <a:cs typeface="Arial"/>
              </a:rPr>
              <a:t>OUTPUT  Priority workflow and business owner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4DA38-F540-49A0-9E76-BB4A4402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62200"/>
            <a:ext cx="33337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D"/>
          </a:solidFill>
          <a:ln xmlns:a="http://schemas.openxmlformats.org/drawingml/2006/main" w="9525">
            <a:solidFill>
              <a:srgbClr val="D0CBC4"/>
            </a:solidFill>
          </a:ln>
        </p:spPr>
      </p:sp>
      <p:sp>
        <p:nvSpPr>
          <p:cNvPr id="12" name="stage1">
            <a:extLst xmlns:a="http://schemas.openxmlformats.org/drawingml/2006/main">
              <a:ext uri="{FF2B5EF4-FFF2-40B4-BE49-F238E27FC236}">
                <a16:creationId xmlns:a16="http://schemas.microsoft.com/office/drawing/2014/main" id="{15CF53B7-54E7-48FB-87FC-2CD25025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57450"/>
            <a:ext cx="3105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02  Process &amp; scope</a:t>
            </a:r>
          </a:p>
        </p:txBody>
      </p:sp>
      <p:sp>
        <p:nvSpPr>
          <p:cNvPr id="13" name="detail1">
            <a:extLst xmlns:a="http://schemas.openxmlformats.org/drawingml/2006/main">
              <a:ext uri="{FF2B5EF4-FFF2-40B4-BE49-F238E27FC236}">
                <a16:creationId xmlns:a16="http://schemas.microsoft.com/office/drawing/2014/main" id="{7F6BF01E-82E4-4BEB-909E-86E839C9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867025"/>
            <a:ext cx="3057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B6762"/>
                </a:solidFill>
                <a:latin typeface="Arial"/>
                <a:ea typeface="Arial"/>
                <a:cs typeface="Arial"/>
              </a:rPr>
              <a:t>Map handoffs; agree rules, exclusions and success measures.</a:t>
            </a:r>
          </a:p>
        </p:txBody>
      </p:sp>
      <p:sp>
        <p:nvSpPr>
          <p:cNvPr id="14" name="result1">
            <a:extLst xmlns:a="http://schemas.openxmlformats.org/drawingml/2006/main">
              <a:ext uri="{FF2B5EF4-FFF2-40B4-BE49-F238E27FC236}">
                <a16:creationId xmlns:a16="http://schemas.microsoft.com/office/drawing/2014/main" id="{543FAF06-279A-483B-A701-05169CD5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67125"/>
            <a:ext cx="3057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85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859"/>
                </a:solidFill>
                <a:latin typeface="Arial"/>
                <a:ea typeface="Arial"/>
                <a:cs typeface="Arial"/>
              </a:rPr>
              <a:t>OUTPUT  Scope and acceptance criteria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2189DE-611D-4D6F-A653-F8C0A203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62200"/>
            <a:ext cx="33337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D"/>
          </a:solidFill>
          <a:ln xmlns:a="http://schemas.openxmlformats.org/drawingml/2006/main" w="9525">
            <a:solidFill>
              <a:srgbClr val="D0CBC4"/>
            </a:solidFill>
          </a:ln>
        </p:spPr>
      </p:sp>
      <p:sp>
        <p:nvSpPr>
          <p:cNvPr id="16" name="stage2">
            <a:extLst xmlns:a="http://schemas.openxmlformats.org/drawingml/2006/main">
              <a:ext uri="{FF2B5EF4-FFF2-40B4-BE49-F238E27FC236}">
                <a16:creationId xmlns:a16="http://schemas.microsoft.com/office/drawing/2014/main" id="{396EA644-E77D-46DD-AEDF-45E1EA0B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57450"/>
            <a:ext cx="3105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03  Client onboarding</a:t>
            </a:r>
          </a:p>
        </p:txBody>
      </p:sp>
      <p:sp>
        <p:nvSpPr>
          <p:cNvPr id="17" name="detail2">
            <a:extLst xmlns:a="http://schemas.openxmlformats.org/drawingml/2006/main">
              <a:ext uri="{FF2B5EF4-FFF2-40B4-BE49-F238E27FC236}">
                <a16:creationId xmlns:a16="http://schemas.microsoft.com/office/drawing/2014/main" id="{6B6B6C14-1B27-49AB-B110-F1541716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67025"/>
            <a:ext cx="3057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B6762"/>
                </a:solidFill>
                <a:latin typeface="Arial"/>
                <a:ea typeface="Arial"/>
                <a:cs typeface="Arial"/>
              </a:rPr>
              <a:t>Provision access; confirm systems, required data and contacts.</a:t>
            </a:r>
          </a:p>
        </p:txBody>
      </p:sp>
      <p:sp>
        <p:nvSpPr>
          <p:cNvPr id="18" name="result2">
            <a:extLst xmlns:a="http://schemas.openxmlformats.org/drawingml/2006/main">
              <a:ext uri="{FF2B5EF4-FFF2-40B4-BE49-F238E27FC236}">
                <a16:creationId xmlns:a16="http://schemas.microsoft.com/office/drawing/2014/main" id="{61FC7361-C4BE-499D-B1B4-F3C75ADA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67125"/>
            <a:ext cx="3057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85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859"/>
                </a:solidFill>
                <a:latin typeface="Arial"/>
                <a:ea typeface="Arial"/>
                <a:cs typeface="Arial"/>
              </a:rPr>
              <a:t>OUTPUT  Access and onboarding checklist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EB0181-4F9A-4864-AE79-8D61A7EB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62450"/>
            <a:ext cx="33337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D"/>
          </a:solidFill>
          <a:ln xmlns:a="http://schemas.openxmlformats.org/drawingml/2006/main" w="9525">
            <a:solidFill>
              <a:srgbClr val="D0CBC4"/>
            </a:solidFill>
          </a:ln>
        </p:spPr>
      </p:sp>
      <p:sp>
        <p:nvSpPr>
          <p:cNvPr id="20" name="stage3">
            <a:extLst xmlns:a="http://schemas.openxmlformats.org/drawingml/2006/main">
              <a:ext uri="{FF2B5EF4-FFF2-40B4-BE49-F238E27FC236}">
                <a16:creationId xmlns:a16="http://schemas.microsoft.com/office/drawing/2014/main" id="{C54E7790-9004-40B8-8263-4CD1C151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57700"/>
            <a:ext cx="3105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04  Automation setup</a:t>
            </a:r>
          </a:p>
        </p:txBody>
      </p:sp>
      <p:sp>
        <p:nvSpPr>
          <p:cNvPr id="21" name="detail3">
            <a:extLst xmlns:a="http://schemas.openxmlformats.org/drawingml/2006/main">
              <a:ext uri="{FF2B5EF4-FFF2-40B4-BE49-F238E27FC236}">
                <a16:creationId xmlns:a16="http://schemas.microsoft.com/office/drawing/2014/main" id="{0E66A5E5-1952-4508-B7AF-92ECC273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867275"/>
            <a:ext cx="3057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B6762"/>
                </a:solidFill>
                <a:latin typeface="Arial"/>
                <a:ea typeface="Arial"/>
                <a:cs typeface="Arial"/>
              </a:rPr>
              <a:t>Configure mappings, routing, approvals and exception paths.</a:t>
            </a:r>
          </a:p>
        </p:txBody>
      </p:sp>
      <p:sp>
        <p:nvSpPr>
          <p:cNvPr id="22" name="result3">
            <a:extLst xmlns:a="http://schemas.openxmlformats.org/drawingml/2006/main">
              <a:ext uri="{FF2B5EF4-FFF2-40B4-BE49-F238E27FC236}">
                <a16:creationId xmlns:a16="http://schemas.microsoft.com/office/drawing/2014/main" id="{71D74438-8C71-473F-AF93-CCDA9A3E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667375"/>
            <a:ext cx="3057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85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859"/>
                </a:solidFill>
                <a:latin typeface="Arial"/>
                <a:ea typeface="Arial"/>
                <a:cs typeface="Arial"/>
              </a:rPr>
              <a:t>OUTPUT  Workflow ready for 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8B5892-142E-4A1C-8545-F07D60EA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62450"/>
            <a:ext cx="33337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D"/>
          </a:solidFill>
          <a:ln xmlns:a="http://schemas.openxmlformats.org/drawingml/2006/main" w="9525">
            <a:solidFill>
              <a:srgbClr val="D0CBC4"/>
            </a:solidFill>
          </a:ln>
        </p:spPr>
      </p:sp>
      <p:sp>
        <p:nvSpPr>
          <p:cNvPr id="24" name="stage4">
            <a:extLst xmlns:a="http://schemas.openxmlformats.org/drawingml/2006/main">
              <a:ext uri="{FF2B5EF4-FFF2-40B4-BE49-F238E27FC236}">
                <a16:creationId xmlns:a16="http://schemas.microsoft.com/office/drawing/2014/main" id="{C7764B06-40F8-484E-90D8-F2F5AE1F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457700"/>
            <a:ext cx="3105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05  Test &amp; approve</a:t>
            </a:r>
          </a:p>
        </p:txBody>
      </p:sp>
      <p:sp>
        <p:nvSpPr>
          <p:cNvPr id="25" name="detail4">
            <a:extLst xmlns:a="http://schemas.openxmlformats.org/drawingml/2006/main">
              <a:ext uri="{FF2B5EF4-FFF2-40B4-BE49-F238E27FC236}">
                <a16:creationId xmlns:a16="http://schemas.microsoft.com/office/drawing/2014/main" id="{AD478EAC-AC46-4621-95E9-00646C60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867275"/>
            <a:ext cx="3057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B6762"/>
                </a:solidFill>
                <a:latin typeface="Arial"/>
                <a:ea typeface="Arial"/>
                <a:cs typeface="Arial"/>
              </a:rPr>
              <a:t>Validate normal and failure cases; client approves launch.</a:t>
            </a:r>
          </a:p>
        </p:txBody>
      </p:sp>
      <p:sp>
        <p:nvSpPr>
          <p:cNvPr id="26" name="result4">
            <a:extLst xmlns:a="http://schemas.openxmlformats.org/drawingml/2006/main">
              <a:ext uri="{FF2B5EF4-FFF2-40B4-BE49-F238E27FC236}">
                <a16:creationId xmlns:a16="http://schemas.microsoft.com/office/drawing/2014/main" id="{C167A98B-1243-408B-AE95-309E873C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667375"/>
            <a:ext cx="3057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85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859"/>
                </a:solidFill>
                <a:latin typeface="Arial"/>
                <a:ea typeface="Arial"/>
                <a:cs typeface="Arial"/>
              </a:rPr>
              <a:t>OUTPUT  Client launch approval 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D2A0DC-70BB-4FCE-AC4E-9DBC9E8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33337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D"/>
          </a:solidFill>
          <a:ln xmlns:a="http://schemas.openxmlformats.org/drawingml/2006/main" w="9525">
            <a:solidFill>
              <a:srgbClr val="D0CBC4"/>
            </a:solidFill>
          </a:ln>
        </p:spPr>
      </p:sp>
      <p:sp>
        <p:nvSpPr>
          <p:cNvPr id="28" name="stage5">
            <a:extLst xmlns:a="http://schemas.openxmlformats.org/drawingml/2006/main">
              <a:ext uri="{FF2B5EF4-FFF2-40B4-BE49-F238E27FC236}">
                <a16:creationId xmlns:a16="http://schemas.microsoft.com/office/drawing/2014/main" id="{01FAD6DF-5965-41DD-8AB4-1BCE5AE7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57700"/>
            <a:ext cx="3105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06  Operate &amp; improve</a:t>
            </a:r>
          </a:p>
        </p:txBody>
      </p:sp>
      <p:sp>
        <p:nvSpPr>
          <p:cNvPr id="29" name="detail5">
            <a:extLst xmlns:a="http://schemas.openxmlformats.org/drawingml/2006/main">
              <a:ext uri="{FF2B5EF4-FFF2-40B4-BE49-F238E27FC236}">
                <a16:creationId xmlns:a16="http://schemas.microsoft.com/office/drawing/2014/main" id="{E80A881D-7F81-4F0D-A605-ABF0BE59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67275"/>
            <a:ext cx="3057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B6762"/>
                </a:solidFill>
                <a:latin typeface="Arial"/>
                <a:ea typeface="Arial"/>
                <a:cs typeface="Arial"/>
              </a:rPr>
              <a:t>Monitor activity, investigate exceptions and review outcomes.</a:t>
            </a:r>
          </a:p>
        </p:txBody>
      </p:sp>
      <p:sp>
        <p:nvSpPr>
          <p:cNvPr id="30" name="result5">
            <a:extLst xmlns:a="http://schemas.openxmlformats.org/drawingml/2006/main">
              <a:ext uri="{FF2B5EF4-FFF2-40B4-BE49-F238E27FC236}">
                <a16:creationId xmlns:a16="http://schemas.microsoft.com/office/drawing/2014/main" id="{F5C35537-D548-4166-BEA8-88CCACE2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667375"/>
            <a:ext cx="3057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85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859"/>
                </a:solidFill>
                <a:latin typeface="Arial"/>
                <a:ea typeface="Arial"/>
                <a:cs typeface="Arial"/>
              </a:rPr>
              <a:t>OUTPUT  Review cadence and improvement list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D7AE46-62FE-4B5D-9C4A-DE9E1C59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57525"/>
            <a:ext cx="295275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859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E887C6-27B9-4B6F-A09D-FF327F94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57525"/>
            <a:ext cx="295275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859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3F9346-A601-47B6-B7FE-83342B75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219575"/>
            <a:ext cx="200025" cy="1238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26859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32632A-BF49-4303-99FF-DA502BB0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057775"/>
            <a:ext cx="295275" cy="2000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26859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641EEE-276F-42AC-90B2-25BEB2C7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57775"/>
            <a:ext cx="295275" cy="2000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26859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045188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brand">
            <a:extLst xmlns:a="http://schemas.openxmlformats.org/drawingml/2006/main">
              <a:ext uri="{FF2B5EF4-FFF2-40B4-BE49-F238E27FC236}">
                <a16:creationId xmlns:a16="http://schemas.microsoft.com/office/drawing/2014/main" id="{92984A4D-AB4D-43DE-8E08-02D44F19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DB7A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BDB7AE"/>
                </a:solidFill>
                <a:latin typeface="Arial"/>
                <a:ea typeface="Arial"/>
                <a:cs typeface="Arial"/>
              </a:rPr>
              <a:t>PRIME STATE SYSTEMS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5571F3E1-93E2-4B0C-9182-7E908716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DB7A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BDB7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A46550-289A-4D12-AE70-006CEEC0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FEFDFC"/>
                </a:solidFill>
                <a:latin typeface="Georgia"/>
                <a:ea typeface="Georgia"/>
                <a:cs typeface="Georgia"/>
              </a:defRPr>
            </a:pPr>
            <a:r>
              <a:rPr sz="2925">
                <a:solidFill>
                  <a:srgbClr val="FEFDFC"/>
                </a:solidFill>
                <a:latin typeface="Georgia"/>
                <a:ea typeface="Georgia"/>
                <a:cs typeface="Georgia"/>
              </a:rPr>
              <a:t>A bounded pilot with explicit success criteria</a:t>
            </a:r>
          </a:p>
        </p:txBody>
      </p:sp>
      <p:sp>
        <p:nvSpPr>
          <p:cNvPr id="4" name="intro">
            <a:extLst xmlns:a="http://schemas.openxmlformats.org/drawingml/2006/main">
              <a:ext uri="{FF2B5EF4-FFF2-40B4-BE49-F238E27FC236}">
                <a16:creationId xmlns:a16="http://schemas.microsoft.com/office/drawing/2014/main" id="{335D3AC1-4A08-447B-9B35-A6DDBB0B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D8D2C9"/>
                </a:solidFill>
                <a:latin typeface="Arial"/>
                <a:ea typeface="Arial"/>
                <a:cs typeface="Arial"/>
              </a:rPr>
              <a:t>Select one important workflow, agree the starting baseline, and evaluate its execution before committing to a wider rollout.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A81CF-14F1-4C77-9E94-51C7F671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4640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1DF7F18-33D5-4A93-B09B-77345579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DB7AE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DB7AE"/>
                </a:solidFill>
                <a:latin typeface="Arial"/>
                <a:ea typeface="Arial"/>
                <a:cs typeface="Arial"/>
              </a:rPr>
              <a:t>PREPRODUCTION  /  Proposed scope and operating approach; client-specific requirements to be agreed</a:t>
            </a:r>
          </a:p>
        </p:txBody>
      </p:sp>
      <p:sp>
        <p:nvSpPr>
          <p:cNvPr id="7" name="h1">
            <a:extLst xmlns:a="http://schemas.openxmlformats.org/drawingml/2006/main">
              <a:ext uri="{FF2B5EF4-FFF2-40B4-BE49-F238E27FC236}">
                <a16:creationId xmlns:a16="http://schemas.microsoft.com/office/drawing/2014/main" id="{E45BC435-1ACE-499C-A936-47623187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DB7A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BDB7AE"/>
                </a:solidFill>
                <a:latin typeface="Arial"/>
                <a:ea typeface="Arial"/>
                <a:cs typeface="Arial"/>
              </a:rPr>
              <a:t>PILOT REQUIREMENT</a:t>
            </a:r>
          </a:p>
        </p:txBody>
      </p:sp>
      <p:sp>
        <p:nvSpPr>
          <p:cNvPr id="8" name="h2">
            <a:extLst xmlns:a="http://schemas.openxmlformats.org/drawingml/2006/main">
              <a:ext uri="{FF2B5EF4-FFF2-40B4-BE49-F238E27FC236}">
                <a16:creationId xmlns:a16="http://schemas.microsoft.com/office/drawing/2014/main" id="{2D1B20F1-9CF4-4CC0-A621-04CC054B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717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DB7A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BDB7AE"/>
                </a:solidFill>
                <a:latin typeface="Arial"/>
                <a:ea typeface="Arial"/>
                <a:cs typeface="Arial"/>
              </a:rPr>
              <a:t>WHAT WILL BE AGREED OR REVIEWED</a:t>
            </a:r>
          </a:p>
        </p:txBody>
      </p:sp>
      <p:sp>
        <p:nvSpPr>
          <p:cNvPr id="9" name="h3">
            <a:extLst xmlns:a="http://schemas.openxmlformats.org/drawingml/2006/main">
              <a:ext uri="{FF2B5EF4-FFF2-40B4-BE49-F238E27FC236}">
                <a16:creationId xmlns:a16="http://schemas.microsoft.com/office/drawing/2014/main" id="{4864B6ED-A265-42ED-B150-3418AF7B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717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DB7A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BDB7AE"/>
                </a:solidFill>
                <a:latin typeface="Arial"/>
                <a:ea typeface="Arial"/>
                <a:cs typeface="Arial"/>
              </a:rPr>
              <a:t>PROPOSED RESPONSIBILITY</a:t>
            </a:r>
          </a:p>
        </p:txBody>
      </p:sp>
      <p:sp>
        <p:nvSpPr>
          <p:cNvPr id="10" name="r0">
            <a:extLst xmlns:a="http://schemas.openxmlformats.org/drawingml/2006/main">
              <a:ext uri="{FF2B5EF4-FFF2-40B4-BE49-F238E27FC236}">
                <a16:creationId xmlns:a16="http://schemas.microsoft.com/office/drawing/2014/main" id="{3D53924F-E0CF-41B1-A2F3-BA3FDBE1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EFDFC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FEFDFC"/>
                </a:solidFill>
                <a:latin typeface="Georgia"/>
                <a:ea typeface="Georgia"/>
                <a:cs typeface="Georgia"/>
              </a:rPr>
              <a:t>Scope</a:t>
            </a:r>
          </a:p>
        </p:txBody>
      </p:sp>
      <p:sp>
        <p:nvSpPr>
          <p:cNvPr id="11" name="d0">
            <a:extLst xmlns:a="http://schemas.openxmlformats.org/drawingml/2006/main">
              <a:ext uri="{FF2B5EF4-FFF2-40B4-BE49-F238E27FC236}">
                <a16:creationId xmlns:a16="http://schemas.microsoft.com/office/drawing/2014/main" id="{6E0F412D-EF37-4837-9563-A3519521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09875"/>
            <a:ext cx="585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8D2C9"/>
                </a:solidFill>
                <a:latin typeface="Arial"/>
                <a:ea typeface="Arial"/>
                <a:cs typeface="Arial"/>
              </a:rPr>
              <a:t>One workflow, named owner, connected systems and agreed exclusions.</a:t>
            </a:r>
          </a:p>
        </p:txBody>
      </p:sp>
      <p:sp>
        <p:nvSpPr>
          <p:cNvPr id="12" name="o0">
            <a:extLst xmlns:a="http://schemas.openxmlformats.org/drawingml/2006/main">
              <a:ext uri="{FF2B5EF4-FFF2-40B4-BE49-F238E27FC236}">
                <a16:creationId xmlns:a16="http://schemas.microsoft.com/office/drawing/2014/main" id="{955A3FFE-1ECB-4E8F-8EC3-BC8684B6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09875"/>
            <a:ext cx="2419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8D2C9"/>
                </a:solidFill>
                <a:latin typeface="Arial"/>
                <a:ea typeface="Arial"/>
                <a:cs typeface="Arial"/>
              </a:rPr>
              <a:t>Client + Prime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51A158-4813-401E-9821-BA7A0EF2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4640"/>
          </a:solidFill>
          <a:ln xmlns:a="http://schemas.openxmlformats.org/drawingml/2006/main" w="0">
            <a:noFill/>
          </a:ln>
        </p:spPr>
      </p:sp>
      <p:sp>
        <p:nvSpPr>
          <p:cNvPr id="14" name="r1">
            <a:extLst xmlns:a="http://schemas.openxmlformats.org/drawingml/2006/main">
              <a:ext uri="{FF2B5EF4-FFF2-40B4-BE49-F238E27FC236}">
                <a16:creationId xmlns:a16="http://schemas.microsoft.com/office/drawing/2014/main" id="{D13851B6-29C4-40FC-8535-A7361CE9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EFDFC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FEFDFC"/>
                </a:solidFill>
                <a:latin typeface="Georgia"/>
                <a:ea typeface="Georgia"/>
                <a:cs typeface="Georgia"/>
              </a:rPr>
              <a:t>Readiness</a:t>
            </a:r>
          </a:p>
        </p:txBody>
      </p:sp>
      <p:sp>
        <p:nvSpPr>
          <p:cNvPr id="15" name="d1">
            <a:extLst xmlns:a="http://schemas.openxmlformats.org/drawingml/2006/main">
              <a:ext uri="{FF2B5EF4-FFF2-40B4-BE49-F238E27FC236}">
                <a16:creationId xmlns:a16="http://schemas.microsoft.com/office/drawing/2014/main" id="{BAFBB9AD-ADD2-4E10-AEBA-B48917C1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29000"/>
            <a:ext cx="585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8D2C9"/>
                </a:solidFill>
                <a:latin typeface="Arial"/>
                <a:ea typeface="Arial"/>
                <a:cs typeface="Arial"/>
              </a:rPr>
              <a:t>Required access, suitable sample data, rules and exception ownership.</a:t>
            </a:r>
          </a:p>
        </p:txBody>
      </p:sp>
      <p:sp>
        <p:nvSpPr>
          <p:cNvPr id="16" name="o1">
            <a:extLst xmlns:a="http://schemas.openxmlformats.org/drawingml/2006/main">
              <a:ext uri="{FF2B5EF4-FFF2-40B4-BE49-F238E27FC236}">
                <a16:creationId xmlns:a16="http://schemas.microsoft.com/office/drawing/2014/main" id="{ADE06CD7-069E-4AA6-B885-E9C77577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29000"/>
            <a:ext cx="2419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8D2C9"/>
                </a:solidFill>
                <a:latin typeface="Arial"/>
                <a:ea typeface="Arial"/>
                <a:cs typeface="Arial"/>
              </a:rPr>
              <a:t>Client + Prime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02D31B-3B16-4710-8969-D6F5409F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4640"/>
          </a:solidFill>
          <a:ln xmlns:a="http://schemas.openxmlformats.org/drawingml/2006/main" w="0">
            <a:noFill/>
          </a:ln>
        </p:spPr>
      </p:sp>
      <p:sp>
        <p:nvSpPr>
          <p:cNvPr id="18" name="r2">
            <a:extLst xmlns:a="http://schemas.openxmlformats.org/drawingml/2006/main">
              <a:ext uri="{FF2B5EF4-FFF2-40B4-BE49-F238E27FC236}">
                <a16:creationId xmlns:a16="http://schemas.microsoft.com/office/drawing/2014/main" id="{B97CBC0A-FC03-4681-B1B2-140834E9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EFDFC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FEFDFC"/>
                </a:solidFill>
                <a:latin typeface="Georgia"/>
                <a:ea typeface="Georgia"/>
                <a:cs typeface="Georgia"/>
              </a:rPr>
              <a:t>Validation</a:t>
            </a:r>
          </a:p>
        </p:txBody>
      </p:sp>
      <p:sp>
        <p:nvSpPr>
          <p:cNvPr id="19" name="d2">
            <a:extLst xmlns:a="http://schemas.openxmlformats.org/drawingml/2006/main">
              <a:ext uri="{FF2B5EF4-FFF2-40B4-BE49-F238E27FC236}">
                <a16:creationId xmlns:a16="http://schemas.microsoft.com/office/drawing/2014/main" id="{38D8BF0C-C682-4D04-A161-27A3E060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48125"/>
            <a:ext cx="585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8D2C9"/>
                </a:solidFill>
                <a:latin typeface="Arial"/>
                <a:ea typeface="Arial"/>
                <a:cs typeface="Arial"/>
              </a:rPr>
              <a:t>Normal cases, duplicates, missing data, failures and approval paths.</a:t>
            </a:r>
          </a:p>
        </p:txBody>
      </p:sp>
      <p:sp>
        <p:nvSpPr>
          <p:cNvPr id="20" name="o2">
            <a:extLst xmlns:a="http://schemas.openxmlformats.org/drawingml/2006/main">
              <a:ext uri="{FF2B5EF4-FFF2-40B4-BE49-F238E27FC236}">
                <a16:creationId xmlns:a16="http://schemas.microsoft.com/office/drawing/2014/main" id="{F3D0211B-BA23-441C-8F77-2C2E1D74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48125"/>
            <a:ext cx="2419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8D2C9"/>
                </a:solidFill>
                <a:latin typeface="Arial"/>
                <a:ea typeface="Arial"/>
                <a:cs typeface="Arial"/>
              </a:rPr>
              <a:t>Prime State; client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6DB756-E403-4D03-8703-E77AB7A9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4640"/>
          </a:solidFill>
          <a:ln xmlns:a="http://schemas.openxmlformats.org/drawingml/2006/main" w="0">
            <a:noFill/>
          </a:ln>
        </p:spPr>
      </p:sp>
      <p:sp>
        <p:nvSpPr>
          <p:cNvPr id="22" name="r3">
            <a:extLst xmlns:a="http://schemas.openxmlformats.org/drawingml/2006/main">
              <a:ext uri="{FF2B5EF4-FFF2-40B4-BE49-F238E27FC236}">
                <a16:creationId xmlns:a16="http://schemas.microsoft.com/office/drawing/2014/main" id="{BCB2D638-0B82-490D-B91F-36FD37D2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EFDFC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FEFDFC"/>
                </a:solidFill>
                <a:latin typeface="Georgia"/>
                <a:ea typeface="Georgia"/>
                <a:cs typeface="Georgia"/>
              </a:rPr>
              <a:t>Evaluation</a:t>
            </a:r>
          </a:p>
        </p:txBody>
      </p:sp>
      <p:sp>
        <p:nvSpPr>
          <p:cNvPr id="23" name="d3">
            <a:extLst xmlns:a="http://schemas.openxmlformats.org/drawingml/2006/main">
              <a:ext uri="{FF2B5EF4-FFF2-40B4-BE49-F238E27FC236}">
                <a16:creationId xmlns:a16="http://schemas.microsoft.com/office/drawing/2014/main" id="{8FE181A1-1A23-4117-9C20-B92D89FD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67250"/>
            <a:ext cx="585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8D2C9"/>
                </a:solidFill>
                <a:latin typeface="Arial"/>
                <a:ea typeface="Arial"/>
                <a:cs typeface="Arial"/>
              </a:rPr>
              <a:t>Review baseline versus pilot results; success thresholds agreed in advance.</a:t>
            </a:r>
          </a:p>
        </p:txBody>
      </p:sp>
      <p:sp>
        <p:nvSpPr>
          <p:cNvPr id="24" name="o3">
            <a:extLst xmlns:a="http://schemas.openxmlformats.org/drawingml/2006/main">
              <a:ext uri="{FF2B5EF4-FFF2-40B4-BE49-F238E27FC236}">
                <a16:creationId xmlns:a16="http://schemas.microsoft.com/office/drawing/2014/main" id="{EB958508-1AB8-4462-9730-AC2E77FD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667250"/>
            <a:ext cx="2419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8D2C9"/>
                </a:solidFill>
                <a:latin typeface="Arial"/>
                <a:ea typeface="Arial"/>
                <a:cs typeface="Arial"/>
              </a:rPr>
              <a:t>Joint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D5C755-2E07-4459-A6A3-A88333B4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4640"/>
          </a:solidFill>
          <a:ln xmlns:a="http://schemas.openxmlformats.org/drawingml/2006/main" w="0">
            <a:noFill/>
          </a:ln>
        </p:spPr>
      </p:sp>
      <p:sp>
        <p:nvSpPr>
          <p:cNvPr id="26" name="r4">
            <a:extLst xmlns:a="http://schemas.openxmlformats.org/drawingml/2006/main">
              <a:ext uri="{FF2B5EF4-FFF2-40B4-BE49-F238E27FC236}">
                <a16:creationId xmlns:a16="http://schemas.microsoft.com/office/drawing/2014/main" id="{1B03BD31-2FA7-4F12-B672-B8E47185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EFDFC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FEFDFC"/>
                </a:solidFill>
                <a:latin typeface="Georgia"/>
                <a:ea typeface="Georgia"/>
                <a:cs typeface="Georgia"/>
              </a:rPr>
              <a:t>Expansion decision</a:t>
            </a:r>
          </a:p>
        </p:txBody>
      </p:sp>
      <p:sp>
        <p:nvSpPr>
          <p:cNvPr id="27" name="d4">
            <a:extLst xmlns:a="http://schemas.openxmlformats.org/drawingml/2006/main">
              <a:ext uri="{FF2B5EF4-FFF2-40B4-BE49-F238E27FC236}">
                <a16:creationId xmlns:a16="http://schemas.microsoft.com/office/drawing/2014/main" id="{D81B1B5F-9DBA-449F-821F-EE83E80D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286375"/>
            <a:ext cx="585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8D2C9"/>
                </a:solidFill>
                <a:latin typeface="Arial"/>
                <a:ea typeface="Arial"/>
                <a:cs typeface="Arial"/>
              </a:rPr>
              <a:t>Resolve open issues; agree support, next workflow and rollout scope.</a:t>
            </a:r>
          </a:p>
        </p:txBody>
      </p:sp>
      <p:sp>
        <p:nvSpPr>
          <p:cNvPr id="28" name="o4">
            <a:extLst xmlns:a="http://schemas.openxmlformats.org/drawingml/2006/main">
              <a:ext uri="{FF2B5EF4-FFF2-40B4-BE49-F238E27FC236}">
                <a16:creationId xmlns:a16="http://schemas.microsoft.com/office/drawing/2014/main" id="{24F1DA6F-8BB1-4857-9327-96B9ACFD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86375"/>
            <a:ext cx="2419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8D2C9"/>
                </a:solidFill>
                <a:latin typeface="Arial"/>
                <a:ea typeface="Arial"/>
                <a:cs typeface="Arial"/>
              </a:rPr>
              <a:t>Client approval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F9367D-E5FF-4264-A07F-25445EE5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4640"/>
          </a:solidFill>
          <a:ln xmlns:a="http://schemas.openxmlformats.org/drawingml/2006/main" w="0">
            <a:noFill/>
          </a:ln>
        </p:spPr>
      </p:sp>
      <p:sp>
        <p:nvSpPr>
          <p:cNvPr id="30" name="decision">
            <a:extLst xmlns:a="http://schemas.openxmlformats.org/drawingml/2006/main">
              <a:ext uri="{FF2B5EF4-FFF2-40B4-BE49-F238E27FC236}">
                <a16:creationId xmlns:a16="http://schemas.microsoft.com/office/drawing/2014/main" id="{9177EB4E-8FEC-4BCA-AD9E-4B9A916A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EFDFC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EFDFC"/>
                </a:solidFill>
                <a:latin typeface="Arial"/>
                <a:ea typeface="Arial"/>
                <a:cs typeface="Arial"/>
              </a:rPr>
              <a:t>CLIENT INPUT  Nominate an owner; select a workflow; provide approved sample data and access.</a:t>
            </a:r>
          </a:p>
        </p:txBody>
      </p:sp>
    </p:spTree>
    <p:extLst>
      <p:ext uri="{BB962C8B-B14F-4D97-AF65-F5344CB8AC3E}">
        <p14:creationId xmlns:p14="http://schemas.microsoft.com/office/powerpoint/2010/main" val="2257913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2026-09-08T05:32:36.0450000Z</dcterms:created>
  <dcterms:modified xsi:type="dcterms:W3CDTF">2026-09-08T05:32:36.0450000Z</dcterms:modified>
</coreProperties>
</file>