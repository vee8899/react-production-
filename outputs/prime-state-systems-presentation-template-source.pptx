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8b833b5c4b4f02" /><Relationship Type="http://schemas.openxmlformats.org/officeDocument/2006/relationships/extended-properties" Target="/docProps/app.xml" Id="R026c3662869f4d74" /><Relationship Type="http://schemas.openxmlformats.org/officeDocument/2006/relationships/officeDocument" Target="/ppt/presentation.xml" Id="R684673a82a4642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48c95b6ed44e9b"/>
  </p:sldMasterIdLst>
  <p:notesMasterIdLst>
    <p:notesMasterId xmlns:r="http://schemas.openxmlformats.org/officeDocument/2006/relationships" r:id="Rbe27bef4b4494e44"/>
  </p:notesMasterIdLst>
  <p:sldIdLst>
    <p:sldId xmlns:r="http://schemas.openxmlformats.org/officeDocument/2006/relationships" id="256" r:id="Rb25954213d6c4c57"/>
    <p:sldId xmlns:r="http://schemas.openxmlformats.org/officeDocument/2006/relationships" id="257" r:id="R33a5d90f20ab4202"/>
    <p:sldId xmlns:r="http://schemas.openxmlformats.org/officeDocument/2006/relationships" id="258" r:id="Rf5fbb2e541a642e8"/>
    <p:sldId xmlns:r="http://schemas.openxmlformats.org/officeDocument/2006/relationships" id="259" r:id="R357c8c7e3f3941ae"/>
    <p:sldId xmlns:r="http://schemas.openxmlformats.org/officeDocument/2006/relationships" id="260" r:id="R47b3b599fd364e94"/>
    <p:sldId xmlns:r="http://schemas.openxmlformats.org/officeDocument/2006/relationships" id="261" r:id="R5004c7b24012436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cf193c5cba4af1" /><Relationship Type="http://schemas.openxmlformats.org/officeDocument/2006/relationships/slideMaster" Target="/ppt/slideMasters/slideMaster1.xml" Id="Rbc48c95b6ed44e9b" /><Relationship Type="http://schemas.openxmlformats.org/officeDocument/2006/relationships/notesMaster" Target="/ppt/notesMasters/notesMaster1.xml" Id="Rbe27bef4b4494e44" /><Relationship Type="http://schemas.openxmlformats.org/officeDocument/2006/relationships/presProps" Target="/ppt/presProps.xml" Id="R22660614404048b4" /><Relationship Type="http://schemas.openxmlformats.org/officeDocument/2006/relationships/tableStyles" Target="/ppt/tableStyles.xml" Id="Rad539131dd534207" /><Relationship Type="http://schemas.openxmlformats.org/officeDocument/2006/relationships/slide" Target="/ppt/slides/slide1.xml" Id="Rb25954213d6c4c57" /><Relationship Type="http://schemas.openxmlformats.org/officeDocument/2006/relationships/slide" Target="/ppt/slides/slide2.xml" Id="R33a5d90f20ab4202" /><Relationship Type="http://schemas.openxmlformats.org/officeDocument/2006/relationships/slide" Target="/ppt/slides/slide3.xml" Id="Rf5fbb2e541a642e8" /><Relationship Type="http://schemas.openxmlformats.org/officeDocument/2006/relationships/slide" Target="/ppt/slides/slide4.xml" Id="R357c8c7e3f3941ae" /><Relationship Type="http://schemas.openxmlformats.org/officeDocument/2006/relationships/slide" Target="/ppt/slides/slide5.xml" Id="R47b3b599fd364e94" /><Relationship Type="http://schemas.openxmlformats.org/officeDocument/2006/relationships/slide" Target="/ppt/slides/slide6.xml" Id="R5004c7b2401243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658ae85acc4b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610cfd54f14edd" /><Relationship Type="http://schemas.openxmlformats.org/officeDocument/2006/relationships/notesMaster" Target="/ppt/notesMasters/notesMaster1.xml" Id="Re82297363ad74e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43ec93c1e84da3" /><Relationship Type="http://schemas.openxmlformats.org/officeDocument/2006/relationships/notesMaster" Target="/ppt/notesMasters/notesMaster1.xml" Id="R994cdcd2edca4d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2b45ee883e4142" /><Relationship Type="http://schemas.openxmlformats.org/officeDocument/2006/relationships/notesMaster" Target="/ppt/notesMasters/notesMaster1.xml" Id="R9093579b4ead48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b711e1974f4176" /><Relationship Type="http://schemas.openxmlformats.org/officeDocument/2006/relationships/notesMaster" Target="/ppt/notesMasters/notesMaster1.xml" Id="R2b19a1110bba4c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d4c4c5d86b49b5" /><Relationship Type="http://schemas.openxmlformats.org/officeDocument/2006/relationships/notesMaster" Target="/ppt/notesMasters/notesMaster1.xml" Id="R6e72e24d459541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0e0cccb2c74472f" /><Relationship Type="http://schemas.openxmlformats.org/officeDocument/2006/relationships/notesMaster" Target="/ppt/notesMasters/notesMaster1.xml" Id="Rae17e35e4af44f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82da2805d04c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5df7e624fe4891" /><Relationship Type="http://schemas.openxmlformats.org/officeDocument/2006/relationships/slideLayout" Target="/ppt/slideLayouts/slideLayout1.xml" Id="R544571f4667c42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4571f4667c42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c9adda5516453a" /><Relationship Type="http://schemas.openxmlformats.org/officeDocument/2006/relationships/notesSlide" Target="/ppt/notesSlides/notesSlide1.xml" Id="Rd0c8d799a30343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a6397f87748ba" /><Relationship Type="http://schemas.openxmlformats.org/officeDocument/2006/relationships/notesSlide" Target="/ppt/notesSlides/notesSlide2.xml" Id="R9f2ba8366f3942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1fedbcd0964e40" /><Relationship Type="http://schemas.openxmlformats.org/officeDocument/2006/relationships/notesSlide" Target="/ppt/notesSlides/notesSlide3.xml" Id="R17f24333b1ec44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08ebdcc5b54ba5" /><Relationship Type="http://schemas.openxmlformats.org/officeDocument/2006/relationships/notesSlide" Target="/ppt/notesSlides/notesSlide4.xml" Id="R362bbf3da3de449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648c6480ff4f10" /><Relationship Type="http://schemas.openxmlformats.org/officeDocument/2006/relationships/notesSlide" Target="/ppt/notesSlides/notesSlide5.xml" Id="R626e3a870ded4b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a9457b11fc4335" /><Relationship Type="http://schemas.openxmlformats.org/officeDocument/2006/relationships/notesSlide" Target="/ppt/notesSlides/notesSlide6.xml" Id="R11358ece62f64a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E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5843BA-E198-40B0-8644-053AD86E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B6762"/>
                </a:solidFill>
              </a:defRPr>
            </a:pPr>
            <a:r>
              <a:rPr sz="825" b="1">
                <a:solidFill>
                  <a:srgbClr val="6B6762"/>
                </a:solidFill>
              </a:rPr>
              <a:t>PRIME STATE / FIELD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64A5A8-EF40-4330-9E5E-CCE3CA91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B6762"/>
                </a:solidFill>
              </a:defRPr>
            </a:pPr>
            <a:r>
              <a:rPr sz="825" b="1">
                <a:solidFill>
                  <a:srgbClr val="6B6762"/>
                </a:solidFill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8DD5EB-42D5-417A-8CC4-422CAB6B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6572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F0E0D"/>
                </a:solidFill>
              </a:defRPr>
            </a:pPr>
            <a:r>
              <a:rPr sz="4050" b="1">
                <a:solidFill>
                  <a:srgbClr val="0F0E0D"/>
                </a:solidFill>
              </a:rPr>
              <a:t>A quieter way</a:t>
            </a:r>
          </a:p>
          <a:p xmlns:a="http://schemas.openxmlformats.org/drawingml/2006/main">
            <a:pPr>
              <a:defRPr sz="4050" b="1">
                <a:solidFill>
                  <a:srgbClr val="0F0E0D"/>
                </a:solidFill>
              </a:defRPr>
            </a:pPr>
            <a:r>
              <a:rPr sz="4050" b="1">
                <a:solidFill>
                  <a:srgbClr val="0F0E0D"/>
                </a:solidFill>
              </a:rPr>
              <a:t>to run real estate</a:t>
            </a:r>
          </a:p>
          <a:p xmlns:a="http://schemas.openxmlformats.org/drawingml/2006/main">
            <a:pPr>
              <a:defRPr sz="4050" b="1">
                <a:solidFill>
                  <a:srgbClr val="0F0E0D"/>
                </a:solidFill>
              </a:defRPr>
            </a:pPr>
            <a:r>
              <a:rPr sz="4050" b="1">
                <a:solidFill>
                  <a:srgbClr val="0F0E0D"/>
                </a:solidFill>
              </a:rPr>
              <a:t>automation.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18526B-F66F-432E-8000-EB81157F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B6762"/>
                </a:solidFill>
              </a:defRPr>
            </a:pPr>
            <a:r>
              <a:rPr sz="1575">
                <a:solidFill>
                  <a:srgbClr val="6B6762"/>
                </a:solidFill>
              </a:rPr>
              <a:t>Prime State Systems gives ambitious real-estate teams a clear operating layer for the workflows that move their business.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595BF2-1C98-470D-B860-2DAB831B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066800"/>
            <a:ext cx="3295650" cy="4000500"/>
          </a:xfrm>
          <a:prstGeom xmlns:a="http://schemas.openxmlformats.org/drawingml/2006/main" prst="roundRect">
            <a:avLst>
              <a:gd name="adj" fmla="val 4624"/>
            </a:avLst>
          </a:prstGeom>
          <a:solidFill xmlns:a="http://schemas.openxmlformats.org/drawingml/2006/main">
            <a:srgbClr val="F2F0ED"/>
          </a:solidFill>
          <a:ln xmlns:a="http://schemas.openxmlformats.org/drawingml/2006/main" w="9525">
            <a:solidFill>
              <a:srgbClr val="E0DD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B4C462-FAD9-4018-B30B-6F4DF9BC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28750"/>
            <a:ext cx="26479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F0E0D"/>
          </a:solidFill>
          <a:ln xmlns:a="http://schemas.openxmlformats.org/drawingml/2006/main" w="9525">
            <a:solidFill>
              <a:srgbClr val="0F0E0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5E6CE9-803D-43BC-95DA-AEF678B5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811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EFDFC"/>
                </a:solidFill>
              </a:defRPr>
            </a:pPr>
            <a:r>
              <a:rPr sz="900" b="1">
                <a:solidFill>
                  <a:srgbClr val="FEFDFC"/>
                </a:solidFill>
              </a:rPr>
              <a:t>PRIME 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2E55D5-9B3F-4AB6-ADEB-F048B799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669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0E0D"/>
                </a:solidFill>
              </a:defRPr>
            </a:pPr>
            <a:r>
              <a:rPr sz="2100" b="1">
                <a:solidFill>
                  <a:srgbClr val="0F0E0D"/>
                </a:solidFill>
              </a:rPr>
              <a:t>Control room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751BAB-A0F0-4220-B35A-CBBED4DD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7432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B6762"/>
                </a:solidFill>
              </a:defRPr>
            </a:pPr>
            <a:r>
              <a:rPr sz="750" b="1">
                <a:solidFill>
                  <a:srgbClr val="6B6762"/>
                </a:solidFill>
              </a:rPr>
              <a:t>LIVE OPERATIONS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734ABA-2935-47F1-BD3D-1AD66A97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DD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EDDA38-16B9-4C85-9400-5EE1E888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623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B6762"/>
                </a:solidFill>
              </a:defRPr>
            </a:pPr>
            <a:r>
              <a:rPr sz="1050">
                <a:solidFill>
                  <a:srgbClr val="6B6762"/>
                </a:solidFill>
              </a:rPr>
              <a:t>Workflow health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21EA78-18E9-4C9C-992C-14B633A2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65A"/>
                </a:solidFill>
              </a:defRPr>
            </a:pPr>
            <a:r>
              <a:rPr sz="1200" b="1">
                <a:solidFill>
                  <a:srgbClr val="52665A"/>
                </a:solidFill>
              </a:rPr>
              <a:t>98.4%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B1BABF-5070-4763-86EB-FD903A6F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DD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F61744-F715-451F-9D2D-FBFA134B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576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B6762"/>
                </a:solidFill>
              </a:defRPr>
            </a:pPr>
            <a:r>
              <a:rPr sz="1050">
                <a:solidFill>
                  <a:srgbClr val="6B6762"/>
                </a:solidFill>
              </a:rPr>
              <a:t>Runs this week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B7B537-34D2-44CC-A46D-425BD0FF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385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0E0D"/>
                </a:solidFill>
              </a:defRPr>
            </a:pPr>
            <a:r>
              <a:rPr sz="1200" b="1">
                <a:solidFill>
                  <a:srgbClr val="0F0E0D"/>
                </a:solidFill>
              </a:rPr>
              <a:t>1,284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0CF9FF-5F9F-4287-BF87-499F798A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DD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5C1140-31DE-4120-80CA-2E111508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529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B6762"/>
                </a:solidFill>
              </a:defRPr>
            </a:pPr>
            <a:r>
              <a:rPr sz="1050">
                <a:solidFill>
                  <a:srgbClr val="6B6762"/>
                </a:solidFill>
              </a:rPr>
              <a:t>Needs attention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0497FF-5FF9-438F-827D-DB1AB29F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338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B5B4A"/>
                </a:solidFill>
              </a:defRPr>
            </a:pPr>
            <a:r>
              <a:rPr sz="1200" b="1">
                <a:solidFill>
                  <a:srgbClr val="8B5B4A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661EED-0925-4742-8678-9E7BE668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B6762"/>
                </a:solidFill>
              </a:defRPr>
            </a:pPr>
            <a:r>
              <a:rPr sz="825">
                <a:solidFill>
                  <a:srgbClr val="6B6762"/>
                </a:solidFill>
              </a:rPr>
              <a:t>Client portal / 2026</a:t>
            </a:r>
          </a:p>
        </p:txBody>
      </p:sp>
    </p:spTree>
    <p:extLst>
      <p:ext uri="{BB962C8B-B14F-4D97-AF65-F5344CB8AC3E}">
        <p14:creationId xmlns:p14="http://schemas.microsoft.com/office/powerpoint/2010/main" val="19010705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E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F36EC0-E8D6-4042-95A6-E5C61133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B6762"/>
                </a:solidFill>
              </a:defRPr>
            </a:pPr>
            <a:r>
              <a:rPr sz="825" b="1">
                <a:solidFill>
                  <a:srgbClr val="6B6762"/>
                </a:solidFill>
              </a:rPr>
              <a:t>PRIME STATE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063771-2E4D-4AD8-B880-9BF246CC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B6762"/>
                </a:solidFill>
              </a:defRPr>
            </a:pPr>
            <a:r>
              <a:rPr sz="825" b="1">
                <a:solidFill>
                  <a:srgbClr val="6B6762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26DA24-8667-4810-BDC8-F45F0641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65A"/>
                </a:solidFill>
              </a:defRPr>
            </a:pPr>
            <a:r>
              <a:rPr sz="900" b="1">
                <a:solidFill>
                  <a:srgbClr val="52665A"/>
                </a:solidFill>
              </a:rPr>
              <a:t>THE OPPORTUNITY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939484-FF0A-4E3E-A76A-A18AF60B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00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0E0D"/>
                </a:solidFill>
              </a:defRPr>
            </a:pPr>
            <a:r>
              <a:rPr sz="3150" b="1">
                <a:solidFill>
                  <a:srgbClr val="0F0E0D"/>
                </a:solidFill>
              </a:rPr>
              <a:t>Your operations should explain themselves.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D31A27-05DA-4431-BB97-44BDF363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DD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3B6261-6B06-448C-A50C-E9E1AD0F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5619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0F0E0D"/>
                </a:solidFill>
              </a:defRPr>
            </a:pPr>
            <a:r>
              <a:rPr sz="1875">
                <a:solidFill>
                  <a:srgbClr val="0F0E0D"/>
                </a:solidFill>
              </a:rPr>
              <a:t>Real-estate teams don’t need another place to check. They need one calm layer that makes automation legible: what is running, what changed, and where a human should look next.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574393-5E9A-415F-BE4C-E22D7E77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24150"/>
            <a:ext cx="4171950" cy="2419350"/>
          </a:xfrm>
          <a:prstGeom xmlns:a="http://schemas.openxmlformats.org/drawingml/2006/main" prst="roundRect">
            <a:avLst>
              <a:gd name="adj" fmla="val 6299"/>
            </a:avLst>
          </a:prstGeom>
          <a:solidFill xmlns:a="http://schemas.openxmlformats.org/drawingml/2006/main">
            <a:srgbClr val="0F0E0D"/>
          </a:solidFill>
          <a:ln xmlns:a="http://schemas.openxmlformats.org/drawingml/2006/main" w="9525">
            <a:solidFill>
              <a:srgbClr val="0F0E0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1D7FA8-2819-4FBC-9CC0-7296F31B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86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D9CDBD"/>
                </a:solidFill>
              </a:defRPr>
            </a:pPr>
            <a:r>
              <a:rPr sz="825" b="1">
                <a:solidFill>
                  <a:srgbClr val="D9CDBD"/>
                </a:solidFill>
              </a:rPr>
              <a:t>THE SHIFT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1421C6-62E3-4C25-9503-9EE14814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476625"/>
            <a:ext cx="3238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EFDFC"/>
                </a:solidFill>
              </a:defRPr>
            </a:pPr>
            <a:r>
              <a:rPr sz="2550" b="1">
                <a:solidFill>
                  <a:srgbClr val="FEFDFC"/>
                </a:solidFill>
              </a:rPr>
              <a:t>From invisible</a:t>
            </a:r>
          </a:p>
          <a:p xmlns:a="http://schemas.openxmlformats.org/drawingml/2006/main">
            <a:pPr>
              <a:defRPr sz="2550" b="1">
                <a:solidFill>
                  <a:srgbClr val="FEFDFC"/>
                </a:solidFill>
              </a:defRPr>
            </a:pPr>
            <a:r>
              <a:rPr sz="2550" b="1">
                <a:solidFill>
                  <a:srgbClr val="FEFDFC"/>
                </a:solidFill>
              </a:rPr>
              <a:t>workflows</a:t>
            </a:r>
          </a:p>
          <a:p xmlns:a="http://schemas.openxmlformats.org/drawingml/2006/main">
            <a:pPr>
              <a:defRPr sz="2550" b="1">
                <a:solidFill>
                  <a:srgbClr val="FEFDFC"/>
                </a:solidFill>
              </a:defRPr>
            </a:pPr>
            <a:r>
              <a:rPr sz="2550" b="1">
                <a:solidFill>
                  <a:srgbClr val="FEFDFC"/>
                </a:solidFill>
              </a:rPr>
              <a:t>to visible momentum.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F278F6-F8DA-4FD1-BBF0-0D7DAAC0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B6762"/>
                </a:solidFill>
              </a:defRPr>
            </a:pPr>
            <a:r>
              <a:rPr sz="1125">
                <a:solidFill>
                  <a:srgbClr val="6B6762"/>
                </a:solidFill>
              </a:rPr>
              <a:t>A shared view for owners, operators, and the systems that support them.</a:t>
            </a:r>
          </a:p>
        </p:txBody>
      </p:sp>
    </p:spTree>
    <p:extLst>
      <p:ext uri="{BB962C8B-B14F-4D97-AF65-F5344CB8AC3E}">
        <p14:creationId xmlns:p14="http://schemas.microsoft.com/office/powerpoint/2010/main" val="21395996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E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261E99-C054-469C-8986-D41AE858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B6762"/>
                </a:solidFill>
              </a:defRPr>
            </a:pPr>
            <a:r>
              <a:rPr sz="825" b="1">
                <a:solidFill>
                  <a:srgbClr val="6B6762"/>
                </a:solidFill>
              </a:rPr>
              <a:t>PRIME STATE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C98346-BCD4-4B7B-8BAC-7EDABA7B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B6762"/>
                </a:solidFill>
              </a:defRPr>
            </a:pPr>
            <a:r>
              <a:rPr sz="825" b="1">
                <a:solidFill>
                  <a:srgbClr val="6B6762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46387A-C2D2-40F2-AF78-C103B77F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65A"/>
                </a:solidFill>
              </a:defRPr>
            </a:pPr>
            <a:r>
              <a:rPr sz="900" b="1">
                <a:solidFill>
                  <a:srgbClr val="52665A"/>
                </a:solidFill>
              </a:rPr>
              <a:t>HOW IT WORKS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373D01-C408-4857-9AF4-F2A16FAD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00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0E0D"/>
                </a:solidFill>
              </a:defRPr>
            </a:pPr>
            <a:r>
              <a:rPr sz="3150" b="1">
                <a:solidFill>
                  <a:srgbClr val="0F0E0D"/>
                </a:solidFill>
              </a:rPr>
              <a:t>One operating layer. Three moments of clarity.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0A5416-778F-4F19-893F-DF63C10A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DD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1173B9-C44E-4334-BE89-398016B7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2665A"/>
                </a:solidFill>
              </a:defRPr>
            </a:pPr>
            <a:r>
              <a:rPr sz="1050" b="1">
                <a:solidFill>
                  <a:srgbClr val="52665A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AC8F08-5B77-4BCD-B240-FFAEEE55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F0E0D"/>
                </a:solidFill>
              </a:defRPr>
            </a:pPr>
            <a:r>
              <a:rPr sz="2325" b="1">
                <a:solidFill>
                  <a:srgbClr val="0F0E0D"/>
                </a:solidFill>
              </a:rPr>
              <a:t>See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BA7DC3-4D20-4E33-8252-B9AF0B44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DD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D2EF12-3EB3-466E-B1AD-B24C546D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272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B6762"/>
                </a:solidFill>
              </a:defRPr>
            </a:pPr>
            <a:r>
              <a:rPr sz="1275">
                <a:solidFill>
                  <a:srgbClr val="6B6762"/>
                </a:solidFill>
              </a:rPr>
              <a:t>Subscribed services, current state, and the pulse of the business.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6787E9-1855-49B4-91C4-A2CA5910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194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2665A"/>
                </a:solidFill>
              </a:defRPr>
            </a:pPr>
            <a:r>
              <a:rPr sz="1050" b="1">
                <a:solidFill>
                  <a:srgbClr val="52665A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1654A2-F669-4D34-B2FF-5B55E996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766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F0E0D"/>
                </a:solidFill>
              </a:defRPr>
            </a:pPr>
            <a:r>
              <a:rPr sz="2325" b="1">
                <a:solidFill>
                  <a:srgbClr val="0F0E0D"/>
                </a:solidFill>
              </a:rPr>
              <a:t>Understand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40E4F4-D31B-407F-A701-E88A2500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DD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86504C-E61A-425C-970E-2C4C561D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267200"/>
            <a:ext cx="272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B6762"/>
                </a:solidFill>
              </a:defRPr>
            </a:pPr>
            <a:r>
              <a:rPr sz="1275">
                <a:solidFill>
                  <a:srgbClr val="6B6762"/>
                </a:solidFill>
              </a:rPr>
              <a:t>Every workflow run with status, time, records, and duration.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053AE2-2836-471B-98B0-C4930BBE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194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2665A"/>
                </a:solidFill>
              </a:defRPr>
            </a:pPr>
            <a:r>
              <a:rPr sz="1050" b="1">
                <a:solidFill>
                  <a:srgbClr val="52665A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2476BF-3F09-4A25-A229-F7DE7497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766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F0E0D"/>
                </a:solidFill>
              </a:defRPr>
            </a:pPr>
            <a:r>
              <a:rPr sz="2325" b="1">
                <a:solidFill>
                  <a:srgbClr val="0F0E0D"/>
                </a:solidFill>
              </a:rPr>
              <a:t>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111696-C1B7-4CA5-9A74-EA737B2A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DD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B2747A-8653-40D1-B828-3F654D4E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67200"/>
            <a:ext cx="272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B6762"/>
                </a:solidFill>
              </a:defRPr>
            </a:pPr>
            <a:r>
              <a:rPr sz="1275">
                <a:solidFill>
                  <a:srgbClr val="6B6762"/>
                </a:solidFill>
              </a:rPr>
              <a:t>Quick actions and recoverable states when a system needs attention.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B3D3E1-0002-48BD-967C-0D77F5DA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DD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8E6E8E-C177-408A-882B-83E0C55E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F0E0D"/>
                </a:solidFill>
              </a:defRPr>
            </a:pPr>
            <a:r>
              <a:rPr sz="1350">
                <a:solidFill>
                  <a:srgbClr val="0F0E0D"/>
                </a:solidFill>
              </a:rPr>
              <a:t>The result is less hunting, fewer surprises, and a better handoff between people and systems.</a:t>
            </a:r>
          </a:p>
        </p:txBody>
      </p:sp>
    </p:spTree>
    <p:extLst>
      <p:ext uri="{BB962C8B-B14F-4D97-AF65-F5344CB8AC3E}">
        <p14:creationId xmlns:p14="http://schemas.microsoft.com/office/powerpoint/2010/main" val="16045188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0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FD3C78-F100-4C03-8C75-3E797988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B6762"/>
                </a:solidFill>
              </a:defRPr>
            </a:pPr>
            <a:r>
              <a:rPr sz="825" b="1">
                <a:solidFill>
                  <a:srgbClr val="6B6762"/>
                </a:solidFill>
              </a:rPr>
              <a:t>PRIME STATE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154E74-366F-46FB-BC4D-A1C3153E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B6762"/>
                </a:solidFill>
              </a:defRPr>
            </a:pPr>
            <a:r>
              <a:rPr sz="825" b="1">
                <a:solidFill>
                  <a:srgbClr val="6B6762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5F53DA-B158-4497-968F-3F81D0A6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65A"/>
                </a:solidFill>
              </a:defRPr>
            </a:pPr>
            <a:r>
              <a:rPr sz="900" b="1">
                <a:solidFill>
                  <a:srgbClr val="52665A"/>
                </a:solidFill>
              </a:rPr>
              <a:t>THE CLIENT 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C8F6B6-603E-4DA6-8613-020C666D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00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0E0D"/>
                </a:solidFill>
              </a:defRPr>
            </a:pPr>
            <a:r>
              <a:rPr sz="3150" b="1">
                <a:solidFill>
                  <a:srgbClr val="0F0E0D"/>
                </a:solidFill>
              </a:rPr>
              <a:t>A dashboard that answers the next question.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1B5B61-B64E-4F5A-A273-BE319025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DD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B04EE8-B9F6-4324-B5AE-B4F8E1C3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276225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EFDFC"/>
          </a:solidFill>
          <a:ln xmlns:a="http://schemas.openxmlformats.org/drawingml/2006/main" w="9525">
            <a:solidFill>
              <a:srgbClr val="E0DD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C8C4BD-5122-46FB-A071-612078BE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670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B6762"/>
                </a:solidFill>
              </a:defRPr>
            </a:pPr>
            <a:r>
              <a:rPr sz="825" b="1">
                <a:solidFill>
                  <a:srgbClr val="6B6762"/>
                </a:solidFill>
              </a:rPr>
              <a:t>GOOD MORNING, NORTHSTAR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54CC35-5EBF-4200-9881-96A78CD3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8137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0E0D"/>
                </a:solidFill>
              </a:defRPr>
            </a:pPr>
            <a:r>
              <a:rPr sz="2250" b="1">
                <a:solidFill>
                  <a:srgbClr val="0F0E0D"/>
                </a:solidFill>
              </a:rPr>
              <a:t>Your systems are moving.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0D84BA-B318-48B5-A6C9-321AD2D2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148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0E0D"/>
                </a:solidFill>
              </a:defRPr>
            </a:pPr>
            <a:r>
              <a:rPr sz="2100" b="1">
                <a:solidFill>
                  <a:srgbClr val="0F0E0D"/>
                </a:solidFill>
              </a:rPr>
              <a:t>06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36F3CD-675C-4FED-AB91-A1D37B3D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720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B6762"/>
                </a:solidFill>
              </a:defRPr>
            </a:pPr>
            <a:r>
              <a:rPr sz="1050">
                <a:solidFill>
                  <a:srgbClr val="6B6762"/>
                </a:solidFill>
              </a:rPr>
              <a:t>Active workflows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801C12-F43C-4180-B9DA-FB8C1205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148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0E0D"/>
                </a:solidFill>
              </a:defRPr>
            </a:pPr>
            <a:r>
              <a:rPr sz="2100" b="1">
                <a:solidFill>
                  <a:srgbClr val="0F0E0D"/>
                </a:solidFill>
              </a:rPr>
              <a:t>1,284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1D0DD7-046A-44C7-AC39-28DA2049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720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B6762"/>
                </a:solidFill>
              </a:defRPr>
            </a:pPr>
            <a:r>
              <a:rPr sz="1050">
                <a:solidFill>
                  <a:srgbClr val="6B6762"/>
                </a:solidFill>
              </a:rPr>
              <a:t>Runs this week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97A3B0-F2C4-4E4F-AE86-DFB0C26E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1148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2665A"/>
                </a:solidFill>
              </a:defRPr>
            </a:pPr>
            <a:r>
              <a:rPr sz="2100" b="1">
                <a:solidFill>
                  <a:srgbClr val="52665A"/>
                </a:solidFill>
              </a:rPr>
              <a:t>98.4%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99C245-709B-45A9-883A-BC764924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5720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B6762"/>
                </a:solidFill>
              </a:defRPr>
            </a:pPr>
            <a:r>
              <a:rPr sz="1050">
                <a:solidFill>
                  <a:srgbClr val="6B6762"/>
                </a:solidFill>
              </a:rPr>
              <a:t>Successful runs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9F8361-C121-404A-A2B3-7315946A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57550"/>
            <a:ext cx="30289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0ED"/>
          </a:solidFill>
          <a:ln xmlns:a="http://schemas.openxmlformats.org/drawingml/2006/main" w="9525">
            <a:solidFill>
              <a:srgbClr val="E0DD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B00F81-7BC5-429C-9EEB-691C6450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052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B6762"/>
                </a:solidFill>
              </a:defRPr>
            </a:pPr>
            <a:r>
              <a:rPr sz="750" b="1">
                <a:solidFill>
                  <a:srgbClr val="6B6762"/>
                </a:solidFill>
              </a:rPr>
              <a:t>RECENT ACTIVITY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D9E15E-99A0-4478-AE81-F8FA6034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671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F0E0D"/>
                </a:solidFill>
              </a:defRPr>
            </a:pPr>
            <a:r>
              <a:rPr sz="975">
                <a:solidFill>
                  <a:srgbClr val="0F0E0D"/>
                </a:solidFill>
              </a:rPr>
              <a:t>Listing sync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29BD14-2BD6-4359-A936-7167541D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867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65A"/>
                </a:solidFill>
              </a:defRPr>
            </a:pPr>
            <a:r>
              <a:rPr sz="825">
                <a:solidFill>
                  <a:srgbClr val="52665A"/>
                </a:solidFill>
              </a:rPr>
              <a:t>Complete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C4A307-BD9F-4748-9FA3-306EC68A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910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F0E0D"/>
                </a:solidFill>
              </a:defRPr>
            </a:pPr>
            <a:r>
              <a:rPr sz="975">
                <a:solidFill>
                  <a:srgbClr val="0F0E0D"/>
                </a:solidFill>
              </a:rPr>
              <a:t>Lead routing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9B3099-2700-4984-8F05-A0D235A9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1910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65A"/>
                </a:solidFill>
              </a:defRPr>
            </a:pPr>
            <a:r>
              <a:rPr sz="825">
                <a:solidFill>
                  <a:srgbClr val="52665A"/>
                </a:solidFill>
              </a:rPr>
              <a:t>Complete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8D6727-7756-47D7-8C90-E0C3D5B3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148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F0E0D"/>
                </a:solidFill>
              </a:defRPr>
            </a:pPr>
            <a:r>
              <a:rPr sz="975">
                <a:solidFill>
                  <a:srgbClr val="0F0E0D"/>
                </a:solidFill>
              </a:rPr>
              <a:t>Market digest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01A661-163B-43B4-B585-66F4CC1C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5148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B5B4A"/>
                </a:solidFill>
              </a:defRPr>
            </a:pPr>
            <a:r>
              <a:rPr sz="825">
                <a:solidFill>
                  <a:srgbClr val="8B5B4A"/>
                </a:solidFill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8479406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E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F52DF2-6D56-404F-B311-ECC0F6FF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B6762"/>
                </a:solidFill>
              </a:defRPr>
            </a:pPr>
            <a:r>
              <a:rPr sz="825" b="1">
                <a:solidFill>
                  <a:srgbClr val="6B6762"/>
                </a:solidFill>
              </a:rPr>
              <a:t>PRIME STATE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746176-9DC6-4141-BAAE-D5DD5C6F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B6762"/>
                </a:solidFill>
              </a:defRPr>
            </a:pPr>
            <a:r>
              <a:rPr sz="825" b="1">
                <a:solidFill>
                  <a:srgbClr val="6B6762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210CBB-BB0C-4518-8E8A-1CDE097B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65A"/>
                </a:solidFill>
              </a:defRPr>
            </a:pPr>
            <a:r>
              <a:rPr sz="900" b="1">
                <a:solidFill>
                  <a:srgbClr val="52665A"/>
                </a:solidFill>
              </a:rPr>
              <a:t>THE FOUNDATION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11F0AC-2E10-4114-8F1A-FF8A59AE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00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0E0D"/>
                </a:solidFill>
              </a:defRPr>
            </a:pPr>
            <a:r>
              <a:rPr sz="3150" b="1">
                <a:solidFill>
                  <a:srgbClr val="0F0E0D"/>
                </a:solidFill>
              </a:rPr>
              <a:t>Visibility is useful only when trust is built 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B9ACD5-E42E-425E-BBBA-243EC7E1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DD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E01FCC-D0F1-4724-8157-6D606CFB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65A"/>
                </a:solidFill>
              </a:defRPr>
            </a:pPr>
            <a:r>
              <a:rPr sz="975" b="1">
                <a:solidFill>
                  <a:srgbClr val="52665A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B005AD-590C-4415-96CB-818711CC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813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0E0D"/>
                </a:solidFill>
              </a:defRPr>
            </a:pPr>
            <a:r>
              <a:rPr sz="1425" b="1">
                <a:solidFill>
                  <a:srgbClr val="0F0E0D"/>
                </a:solidFill>
              </a:rPr>
              <a:t>Scoped by organization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DD6386-33DB-4F36-9C4C-368C0DAF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861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B6762"/>
                </a:solidFill>
              </a:defRPr>
            </a:pPr>
            <a:r>
              <a:rPr sz="1125">
                <a:solidFill>
                  <a:srgbClr val="6B6762"/>
                </a:solidFill>
              </a:rPr>
              <a:t>Every client sees only their own data.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00B7FE-B016-47BF-9DB1-E8ED0497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DD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F158E6-667C-4DC3-8F51-CA3F153A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65A"/>
                </a:solidFill>
              </a:defRPr>
            </a:pPr>
            <a:r>
              <a:rPr sz="975" b="1">
                <a:solidFill>
                  <a:srgbClr val="52665A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81CAE3-9538-4DBD-864F-DAC3ADEE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576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0E0D"/>
                </a:solidFill>
              </a:defRPr>
            </a:pPr>
            <a:r>
              <a:rPr sz="1425" b="1">
                <a:solidFill>
                  <a:srgbClr val="0F0E0D"/>
                </a:solidFill>
              </a:rPr>
              <a:t>Recoverable by design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19A719-83F2-4DEF-AE45-C0DD55FD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624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B6762"/>
                </a:solidFill>
              </a:defRPr>
            </a:pPr>
            <a:r>
              <a:rPr sz="1125">
                <a:solidFill>
                  <a:srgbClr val="6B6762"/>
                </a:solidFill>
              </a:rPr>
              <a:t>Loading, empty, failed, paused, and disconnected states are part of the product.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1DBEA8-C110-40CD-86A7-5EED85A6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DD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A08C8C-AF08-4BA0-83D9-6098C60E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65A"/>
                </a:solidFill>
              </a:defRPr>
            </a:pPr>
            <a:r>
              <a:rPr sz="975" b="1">
                <a:solidFill>
                  <a:srgbClr val="52665A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0F5928-B4FE-4C84-B266-9EBE9F00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339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0E0D"/>
                </a:solidFill>
              </a:defRPr>
            </a:pPr>
            <a:r>
              <a:rPr sz="1425" b="1">
                <a:solidFill>
                  <a:srgbClr val="0F0E0D"/>
                </a:solidFill>
              </a:rPr>
              <a:t>Canonical by default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F9FED8-B33A-46CF-8DA6-324DDCD2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387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B6762"/>
                </a:solidFill>
              </a:defRPr>
            </a:pPr>
            <a:r>
              <a:rPr sz="1125">
                <a:solidFill>
                  <a:srgbClr val="6B6762"/>
                </a:solidFill>
              </a:rPr>
              <a:t>Workflow activity comes from one clear execution source.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A7469A-3925-4D7A-8FC5-125B8199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DD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067AB3-9BD1-4619-A12C-2B18E0E6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00350"/>
            <a:ext cx="3981450" cy="2724150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0F0E0D"/>
          </a:solidFill>
          <a:ln xmlns:a="http://schemas.openxmlformats.org/drawingml/2006/main" w="9525">
            <a:solidFill>
              <a:srgbClr val="0F0E0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1838B0-99A7-40CD-B241-E42A838B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623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D9CDBD"/>
                </a:solidFill>
              </a:defRPr>
            </a:pPr>
            <a:r>
              <a:rPr sz="825" b="1">
                <a:solidFill>
                  <a:srgbClr val="D9CDBD"/>
                </a:solidFill>
              </a:rPr>
              <a:t>THE PROMISE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DE224E-E146-4A57-8BA0-623EF66D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62350"/>
            <a:ext cx="29527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EFDFC"/>
                </a:solidFill>
              </a:defRPr>
            </a:pPr>
            <a:r>
              <a:rPr sz="2700" b="1">
                <a:solidFill>
                  <a:srgbClr val="FEFDFC"/>
                </a:solidFill>
              </a:rPr>
              <a:t>Know what</a:t>
            </a:r>
          </a:p>
          <a:p xmlns:a="http://schemas.openxmlformats.org/drawingml/2006/main">
            <a:pPr>
              <a:defRPr sz="2700" b="1">
                <a:solidFill>
                  <a:srgbClr val="FEFDFC"/>
                </a:solidFill>
              </a:defRPr>
            </a:pPr>
            <a:r>
              <a:rPr sz="2700" b="1">
                <a:solidFill>
                  <a:srgbClr val="FEFDFC"/>
                </a:solidFill>
              </a:rPr>
              <a:t>is happening.</a:t>
            </a:r>
          </a:p>
          <a:p xmlns:a="http://schemas.openxmlformats.org/drawingml/2006/main">
            <a:pPr>
              <a:defRPr sz="2700" b="1">
                <a:solidFill>
                  <a:srgbClr val="FEFDFC"/>
                </a:solidFill>
              </a:defRPr>
            </a:pPr>
            <a:r>
              <a:rPr sz="2700" b="1">
                <a:solidFill>
                  <a:srgbClr val="FEFDFC"/>
                </a:solidFill>
              </a:rPr>
              <a:t>Know what</a:t>
            </a:r>
          </a:p>
          <a:p xmlns:a="http://schemas.openxmlformats.org/drawingml/2006/main">
            <a:pPr>
              <a:defRPr sz="2700" b="1">
                <a:solidFill>
                  <a:srgbClr val="FEFDFC"/>
                </a:solidFill>
              </a:defRPr>
            </a:pPr>
            <a:r>
              <a:rPr sz="2700" b="1">
                <a:solidFill>
                  <a:srgbClr val="FEFDFC"/>
                </a:solidFill>
              </a:rPr>
              <a:t>to do next.</a:t>
            </a:r>
          </a:p>
        </p:txBody>
      </p:sp>
    </p:spTree>
    <p:extLst>
      <p:ext uri="{BB962C8B-B14F-4D97-AF65-F5344CB8AC3E}">
        <p14:creationId xmlns:p14="http://schemas.microsoft.com/office/powerpoint/2010/main" val="2819269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F0E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32A323-18FE-428B-8E7B-D286FD4C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B6762"/>
                </a:solidFill>
              </a:defRPr>
            </a:pPr>
            <a:r>
              <a:rPr sz="825" b="1">
                <a:solidFill>
                  <a:srgbClr val="6B6762"/>
                </a:solidFill>
              </a:rPr>
              <a:t>PRIME STATE / NEXT MOVE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9F80C9-FCA1-4C66-981F-7F975055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B6762"/>
                </a:solidFill>
              </a:defRPr>
            </a:pPr>
            <a:r>
              <a:rPr sz="825" b="1">
                <a:solidFill>
                  <a:srgbClr val="6B6762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8CC6A8-E04D-4E9C-9405-3F0A3DF4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EFDFC"/>
                </a:solidFill>
              </a:defRPr>
            </a:pPr>
            <a:r>
              <a:rPr sz="4200" b="1">
                <a:solidFill>
                  <a:srgbClr val="FEFDFC"/>
                </a:solidFill>
              </a:rPr>
              <a:t>Make the invisible</a:t>
            </a:r>
          </a:p>
          <a:p xmlns:a="http://schemas.openxmlformats.org/drawingml/2006/main">
            <a:pPr>
              <a:defRPr sz="4200" b="1">
                <a:solidFill>
                  <a:srgbClr val="FEFDFC"/>
                </a:solidFill>
              </a:defRPr>
            </a:pPr>
            <a:r>
              <a:rPr sz="4200" b="1">
                <a:solidFill>
                  <a:srgbClr val="FEFDFC"/>
                </a:solidFill>
              </a:rPr>
              <a:t>work visible.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180DEB-48A2-467D-8183-351F84BB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552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D9CDBD"/>
                </a:solidFill>
              </a:defRPr>
            </a:pPr>
            <a:r>
              <a:rPr sz="1575">
                <a:solidFill>
                  <a:srgbClr val="D9CDBD"/>
                </a:solidFill>
              </a:rPr>
              <a:t>Prime State Systems is the operating layer for real-estate automation that teams can actually understand and act 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3C6B4D-38A4-4091-966B-7E074CD4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28575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9CDBD"/>
          </a:solidFill>
          <a:ln xmlns:a="http://schemas.openxmlformats.org/drawingml/2006/main" w="9525">
            <a:solidFill>
              <a:srgbClr val="D9CDB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D300CE-02FC-428D-B0EB-378E209E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76825"/>
            <a:ext cx="2428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F0E0D"/>
                </a:solidFill>
              </a:defRPr>
            </a:pPr>
            <a:r>
              <a:rPr sz="825" b="1">
                <a:solidFill>
                  <a:srgbClr val="0F0E0D"/>
                </a:solidFill>
              </a:rPr>
              <a:t>START WITH A CLEARER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C5A7E4-3F59-406E-9437-6A842BA7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D9CDBD"/>
                </a:solidFill>
              </a:defRPr>
            </a:pPr>
            <a:r>
              <a:rPr sz="900">
                <a:solidFill>
                  <a:srgbClr val="D9CDBD"/>
                </a:solidFill>
              </a:rPr>
              <a:t>primestate.systems</a:t>
            </a:r>
          </a:p>
        </p:txBody>
      </p:sp>
    </p:spTree>
    <p:extLst>
      <p:ext uri="{BB962C8B-B14F-4D97-AF65-F5344CB8AC3E}">
        <p14:creationId xmlns:p14="http://schemas.microsoft.com/office/powerpoint/2010/main" val="2257913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2026-07-19T03:28:36.0260000Z</dcterms:created>
  <dcterms:modified xsi:type="dcterms:W3CDTF">2026-07-19T03:28:36.0260000Z</dcterms:modified>
</coreProperties>
</file>