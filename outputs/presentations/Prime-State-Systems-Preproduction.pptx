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user product description, September 2026; repository README.md; src/pages/HomePage.tsx; src/pages/DashboardPage.tsx. Preproduction concept. Illustrative workflow view is editable presentation artwork, not a live screenshot or evidence of performance. Research-informed describes the intended process design approach; no specific study or validated outcome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client engagement journey, based on the user request and repository src/pages/HomePage.tsx: platform, implementation, and ongoing operations. This describes a proposed process, not a completed client engagement or evidence of production readiness. Initial communication is followed by process scoping, onboarding, workflow configuration, testing and approval, then ongoing monitoring and improvement. Timelines, scope, access and success criteria require agreement. Every stage and arrow is a native editable PowerPoint shape.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next step, not an agreed commercial commitment. Product is in preproduction per user. Pilot scope, integration access, process rules, baseline, success criteria, and launch validation remain to be agreed.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D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15843BA-E198-40B0-8644-053AD86E8A41}"/>
              </a:ext>
            </a:extLst>
          </p:cNvPr>
          <p:cNvSpPr>
            <a:spLocks noGrp="1"/>
          </p:cNvSpPr>
          <p:nvPr/>
        </p:nvSpPr>
        <p:spPr>
          <a:xfrm>
            <a:off x="361950" y="600075"/>
            <a:ext cx="6515100" cy="1085850"/>
          </a:xfrm>
          <a:prstGeom prst="rect">
            <a:avLst/>
          </a:prstGeom>
          <a:noFill/>
          <a:ln w="0">
            <a:noFill/>
            <a:prstDash val="solid"/>
          </a:ln>
        </p:spPr>
        <p:txBody>
          <a:bodyPr>
            <a:noAutofit/>
          </a:bodyPr>
          <a:lstStyle/>
          <a:p>
            <a:pPr>
              <a:buNone/>
              <a:defRPr sz="975" b="0">
                <a:solidFill>
                  <a:srgbClr val="6B6762"/>
                </a:solidFill>
                <a:latin typeface="Arial"/>
                <a:ea typeface="Arial"/>
                <a:cs typeface="Arial"/>
              </a:defRPr>
            </a:pPr>
            <a:r>
              <a:rPr sz="3600" b="0" dirty="0">
                <a:solidFill>
                  <a:srgbClr val="6B6762"/>
                </a:solidFill>
                <a:latin typeface="Bahnschrift" panose="020B0502040204020203" pitchFamily="34" charset="0"/>
                <a:ea typeface="Arial"/>
                <a:cs typeface="Arial"/>
              </a:rPr>
              <a:t>PRIME STATE SYSTEMS</a:t>
            </a:r>
          </a:p>
        </p:txBody>
      </p:sp>
      <p:sp>
        <p:nvSpPr>
          <p:cNvPr id="2" name="Rectangle 1">
            <a:extLst>
              <a:ext uri="{FF2B5EF4-FFF2-40B4-BE49-F238E27FC236}">
                <a16:creationId xmlns:a16="http://schemas.microsoft.com/office/drawing/2014/main" id="{F664A5A8-EF40-4330-9E5E-CCE3CA91F138}"/>
              </a:ext>
            </a:extLst>
          </p:cNvPr>
          <p:cNvSpPr>
            <a:spLocks noGrp="1"/>
          </p:cNvSpPr>
          <p:nvPr/>
        </p:nvSpPr>
        <p:spPr>
          <a:xfrm>
            <a:off x="10953750" y="342900"/>
            <a:ext cx="552450" cy="190500"/>
          </a:xfrm>
          <a:prstGeom prst="rect">
            <a:avLst/>
          </a:prstGeom>
          <a:noFill/>
          <a:ln w="0">
            <a:noFill/>
            <a:prstDash val="solid"/>
          </a:ln>
        </p:spPr>
        <p:txBody>
          <a:bodyPr/>
          <a:lstStyle/>
          <a:p>
            <a:pPr>
              <a:buNone/>
              <a:defRPr sz="825" b="1">
                <a:solidFill>
                  <a:srgbClr val="6B6762"/>
                </a:solidFill>
                <a:latin typeface="Arial"/>
                <a:ea typeface="Arial"/>
                <a:cs typeface="Arial"/>
              </a:defRPr>
            </a:pPr>
            <a:r>
              <a:rPr sz="825" b="1">
                <a:solidFill>
                  <a:srgbClr val="6B6762"/>
                </a:solidFill>
                <a:latin typeface="Arial"/>
                <a:ea typeface="Arial"/>
                <a:cs typeface="Arial"/>
              </a:rPr>
              <a:t>01</a:t>
            </a:r>
          </a:p>
        </p:txBody>
      </p:sp>
      <p:sp>
        <p:nvSpPr>
          <p:cNvPr id="3" name="Rectangle 2">
            <a:extLst>
              <a:ext uri="{FF2B5EF4-FFF2-40B4-BE49-F238E27FC236}">
                <a16:creationId xmlns:a16="http://schemas.microsoft.com/office/drawing/2014/main" id="{C68DD5EB-42D5-417A-8CC4-422CAB6BAA6D}"/>
              </a:ext>
            </a:extLst>
          </p:cNvPr>
          <p:cNvSpPr>
            <a:spLocks noGrp="1"/>
          </p:cNvSpPr>
          <p:nvPr/>
        </p:nvSpPr>
        <p:spPr>
          <a:xfrm>
            <a:off x="685800" y="1447800"/>
            <a:ext cx="6667500" cy="1952625"/>
          </a:xfrm>
          <a:prstGeom prst="rect">
            <a:avLst/>
          </a:prstGeom>
          <a:noFill/>
          <a:ln w="0">
            <a:noFill/>
            <a:prstDash val="solid"/>
          </a:ln>
        </p:spPr>
        <p:txBody>
          <a:bodyPr>
            <a:noAutofit/>
          </a:bodyPr>
          <a:lstStyle/>
          <a:p>
            <a:pPr>
              <a:buNone/>
              <a:defRPr sz="3600" b="0">
                <a:solidFill>
                  <a:srgbClr val="0F0E0D"/>
                </a:solidFill>
                <a:latin typeface="Georgia"/>
                <a:ea typeface="Georgia"/>
                <a:cs typeface="Georgia"/>
              </a:defRPr>
            </a:pPr>
            <a:r>
              <a:rPr sz="3600" b="0" dirty="0">
                <a:solidFill>
                  <a:srgbClr val="0F0E0D"/>
                </a:solidFill>
                <a:latin typeface="Georgia"/>
                <a:ea typeface="Georgia"/>
                <a:cs typeface="Georgia"/>
              </a:rPr>
              <a:t>A consistent way</a:t>
            </a:r>
          </a:p>
          <a:p>
            <a:pPr>
              <a:buNone/>
              <a:defRPr sz="3600" b="0">
                <a:solidFill>
                  <a:srgbClr val="0F0E0D"/>
                </a:solidFill>
                <a:latin typeface="Georgia"/>
                <a:ea typeface="Georgia"/>
                <a:cs typeface="Georgia"/>
              </a:defRPr>
            </a:pPr>
            <a:r>
              <a:rPr sz="3600" b="0" dirty="0">
                <a:solidFill>
                  <a:srgbClr val="0F0E0D"/>
                </a:solidFill>
                <a:latin typeface="Georgia"/>
                <a:ea typeface="Georgia"/>
                <a:cs typeface="Georgia"/>
              </a:rPr>
              <a:t>to run repeatable</a:t>
            </a:r>
          </a:p>
          <a:p>
            <a:pPr>
              <a:buNone/>
              <a:defRPr sz="3600" b="0">
                <a:solidFill>
                  <a:srgbClr val="0F0E0D"/>
                </a:solidFill>
                <a:latin typeface="Georgia"/>
                <a:ea typeface="Georgia"/>
                <a:cs typeface="Georgia"/>
              </a:defRPr>
            </a:pPr>
            <a:r>
              <a:rPr sz="3600" b="0" dirty="0">
                <a:solidFill>
                  <a:srgbClr val="0F0E0D"/>
                </a:solidFill>
                <a:latin typeface="Georgia"/>
                <a:ea typeface="Georgia"/>
                <a:cs typeface="Georgia"/>
              </a:rPr>
              <a:t>business operations</a:t>
            </a:r>
          </a:p>
        </p:txBody>
      </p:sp>
      <p:sp>
        <p:nvSpPr>
          <p:cNvPr id="4" name="Rectangle 3">
            <a:extLst>
              <a:ext uri="{FF2B5EF4-FFF2-40B4-BE49-F238E27FC236}">
                <a16:creationId xmlns:a16="http://schemas.microsoft.com/office/drawing/2014/main" id="{DD18526B-F66F-432E-8000-EB81157F9181}"/>
              </a:ext>
            </a:extLst>
          </p:cNvPr>
          <p:cNvSpPr>
            <a:spLocks noGrp="1"/>
          </p:cNvSpPr>
          <p:nvPr/>
        </p:nvSpPr>
        <p:spPr>
          <a:xfrm>
            <a:off x="723900" y="3800475"/>
            <a:ext cx="5810250" cy="1428750"/>
          </a:xfrm>
          <a:prstGeom prst="rect">
            <a:avLst/>
          </a:prstGeom>
          <a:noFill/>
          <a:ln w="0">
            <a:noFill/>
            <a:prstDash val="solid"/>
          </a:ln>
        </p:spPr>
        <p:txBody>
          <a:bodyPr>
            <a:noAutofit/>
          </a:bodyPr>
          <a:lstStyle/>
          <a:p>
            <a:pPr>
              <a:buNone/>
              <a:defRPr sz="1650" b="0">
                <a:solidFill>
                  <a:srgbClr val="6B6762"/>
                </a:solidFill>
                <a:latin typeface="Arial"/>
                <a:ea typeface="Arial"/>
                <a:cs typeface="Arial"/>
              </a:defRPr>
            </a:pPr>
            <a:r>
              <a:rPr sz="1650" b="0" dirty="0">
                <a:solidFill>
                  <a:srgbClr val="6B6762"/>
                </a:solidFill>
                <a:latin typeface="Arial"/>
                <a:ea typeface="Arial"/>
                <a:cs typeface="Arial"/>
              </a:rPr>
              <a:t>Research</a:t>
            </a:r>
            <a:r>
              <a:rPr lang="en-US" sz="1650" b="0" dirty="0">
                <a:solidFill>
                  <a:srgbClr val="6B6762"/>
                </a:solidFill>
                <a:latin typeface="Arial"/>
                <a:ea typeface="Arial"/>
                <a:cs typeface="Arial"/>
              </a:rPr>
              <a:t> </a:t>
            </a:r>
            <a:r>
              <a:rPr sz="1650" b="0" dirty="0">
                <a:solidFill>
                  <a:srgbClr val="6B6762"/>
                </a:solidFill>
                <a:latin typeface="Arial"/>
                <a:ea typeface="Arial"/>
                <a:cs typeface="Arial"/>
              </a:rPr>
              <a:t>informed processes, configured around your business and delivered through managed workflows</a:t>
            </a:r>
            <a:r>
              <a:rPr lang="en-US" sz="1650" b="0" dirty="0">
                <a:solidFill>
                  <a:srgbClr val="6B6762"/>
                </a:solidFill>
                <a:latin typeface="Arial"/>
                <a:ea typeface="Arial"/>
                <a:cs typeface="Arial"/>
              </a:rPr>
              <a:t> </a:t>
            </a:r>
            <a:r>
              <a:rPr sz="1650" b="0" dirty="0">
                <a:solidFill>
                  <a:srgbClr val="6B6762"/>
                </a:solidFill>
                <a:latin typeface="Arial"/>
                <a:ea typeface="Arial"/>
                <a:cs typeface="Arial"/>
              </a:rPr>
              <a:t>with visibility into execution and exceptions.</a:t>
            </a:r>
          </a:p>
        </p:txBody>
      </p:sp>
      <p:sp>
        <p:nvSpPr>
          <p:cNvPr id="5" name="Rectangle: Rounded Corners 4">
            <a:extLst>
              <a:ext uri="{FF2B5EF4-FFF2-40B4-BE49-F238E27FC236}">
                <a16:creationId xmlns:a16="http://schemas.microsoft.com/office/drawing/2014/main" id="{8C595BF2-1C98-470D-B860-2DAB831B2273}"/>
              </a:ext>
            </a:extLst>
          </p:cNvPr>
          <p:cNvSpPr>
            <a:spLocks noGrp="1"/>
          </p:cNvSpPr>
          <p:nvPr/>
        </p:nvSpPr>
        <p:spPr>
          <a:xfrm>
            <a:off x="7658100" y="847725"/>
            <a:ext cx="3295650" cy="4000500"/>
          </a:xfrm>
          <a:prstGeom prst="roundRect">
            <a:avLst>
              <a:gd name="adj" fmla="val 4624"/>
            </a:avLst>
          </a:prstGeom>
          <a:solidFill>
            <a:srgbClr val="F2F0ED"/>
          </a:solidFill>
          <a:ln w="9525">
            <a:solidFill>
              <a:srgbClr val="E0DDDA"/>
            </a:solidFill>
            <a:prstDash val="solid"/>
          </a:ln>
        </p:spPr>
        <p:txBody>
          <a:bodyPr/>
          <a:lstStyle/>
          <a:p>
            <a:endParaRPr dirty="0"/>
          </a:p>
        </p:txBody>
      </p:sp>
      <p:sp>
        <p:nvSpPr>
          <p:cNvPr id="7" name="Rectangle 6">
            <a:extLst>
              <a:ext uri="{FF2B5EF4-FFF2-40B4-BE49-F238E27FC236}">
                <a16:creationId xmlns:a16="http://schemas.microsoft.com/office/drawing/2014/main" id="{675E6CE9-803D-43BC-95DA-AEF678B50163}"/>
              </a:ext>
            </a:extLst>
          </p:cNvPr>
          <p:cNvSpPr>
            <a:spLocks noGrp="1"/>
          </p:cNvSpPr>
          <p:nvPr/>
        </p:nvSpPr>
        <p:spPr>
          <a:xfrm>
            <a:off x="8058150" y="1581150"/>
            <a:ext cx="2190750" cy="190500"/>
          </a:xfrm>
          <a:prstGeom prst="rect">
            <a:avLst/>
          </a:prstGeom>
          <a:noFill/>
          <a:ln w="0">
            <a:noFill/>
            <a:prstDash val="solid"/>
          </a:ln>
        </p:spPr>
        <p:txBody>
          <a:bodyPr>
            <a:noAutofit/>
          </a:bodyPr>
          <a:lstStyle/>
          <a:p>
            <a:pPr algn="ctr">
              <a:buNone/>
              <a:defRPr sz="975" b="0">
                <a:solidFill>
                  <a:srgbClr val="FEFDFC"/>
                </a:solidFill>
                <a:latin typeface="Arial"/>
                <a:ea typeface="Arial"/>
                <a:cs typeface="Arial"/>
              </a:defRPr>
            </a:pPr>
            <a:endParaRPr sz="975" b="0" dirty="0">
              <a:solidFill>
                <a:srgbClr val="FEFDFC"/>
              </a:solidFill>
              <a:latin typeface="Bahnschrift" panose="020B0502040204020203" pitchFamily="34" charset="0"/>
              <a:ea typeface="Arial"/>
              <a:cs typeface="Arial"/>
            </a:endParaRPr>
          </a:p>
        </p:txBody>
      </p:sp>
      <p:sp>
        <p:nvSpPr>
          <p:cNvPr id="8" name="Rectangle 7">
            <a:extLst>
              <a:ext uri="{FF2B5EF4-FFF2-40B4-BE49-F238E27FC236}">
                <a16:creationId xmlns:a16="http://schemas.microsoft.com/office/drawing/2014/main" id="{8A2E55D5-9B3F-4AB6-ADEB-F048B799CF24}"/>
              </a:ext>
            </a:extLst>
          </p:cNvPr>
          <p:cNvSpPr>
            <a:spLocks noGrp="1"/>
          </p:cNvSpPr>
          <p:nvPr/>
        </p:nvSpPr>
        <p:spPr>
          <a:xfrm>
            <a:off x="8001000" y="1600200"/>
            <a:ext cx="2667000" cy="1123950"/>
          </a:xfrm>
          <a:prstGeom prst="rect">
            <a:avLst/>
          </a:prstGeom>
          <a:noFill/>
          <a:ln w="0">
            <a:noFill/>
            <a:prstDash val="solid"/>
          </a:ln>
        </p:spPr>
        <p:txBody>
          <a:bodyPr>
            <a:noAutofit/>
          </a:bodyPr>
          <a:lstStyle/>
          <a:p>
            <a:pPr algn="ctr">
              <a:buNone/>
              <a:defRPr sz="1875" b="0">
                <a:solidFill>
                  <a:srgbClr val="0F0E0D"/>
                </a:solidFill>
                <a:latin typeface="Georgia"/>
                <a:ea typeface="Georgia"/>
                <a:cs typeface="Georgia"/>
              </a:defRPr>
            </a:pPr>
            <a:r>
              <a:rPr sz="1875" b="0" dirty="0">
                <a:solidFill>
                  <a:srgbClr val="0F0E0D"/>
                </a:solidFill>
                <a:latin typeface="Georgia"/>
                <a:ea typeface="Georgia"/>
                <a:cs typeface="Georgia"/>
              </a:rPr>
              <a:t>Workflow visibility</a:t>
            </a:r>
          </a:p>
        </p:txBody>
      </p:sp>
      <p:sp>
        <p:nvSpPr>
          <p:cNvPr id="9" name="Rectangle 8">
            <a:extLst>
              <a:ext uri="{FF2B5EF4-FFF2-40B4-BE49-F238E27FC236}">
                <a16:creationId xmlns:a16="http://schemas.microsoft.com/office/drawing/2014/main" id="{4A751BAB-A0F0-4220-B35A-CBBED4DDD3C2}"/>
              </a:ext>
            </a:extLst>
          </p:cNvPr>
          <p:cNvSpPr>
            <a:spLocks noGrp="1"/>
          </p:cNvSpPr>
          <p:nvPr/>
        </p:nvSpPr>
        <p:spPr>
          <a:xfrm>
            <a:off x="7867650" y="2743200"/>
            <a:ext cx="2476500" cy="209550"/>
          </a:xfrm>
          <a:prstGeom prst="rect">
            <a:avLst/>
          </a:prstGeom>
          <a:noFill/>
          <a:ln w="0">
            <a:noFill/>
            <a:prstDash val="solid"/>
          </a:ln>
        </p:spPr>
        <p:txBody>
          <a:bodyPr>
            <a:noAutofit/>
          </a:bodyPr>
          <a:lstStyle/>
          <a:p>
            <a:pPr>
              <a:buNone/>
              <a:defRPr sz="900" b="0">
                <a:solidFill>
                  <a:srgbClr val="6B6762"/>
                </a:solidFill>
                <a:latin typeface="Arial"/>
                <a:ea typeface="Arial"/>
                <a:cs typeface="Arial"/>
              </a:defRPr>
            </a:pPr>
            <a:r>
              <a:rPr sz="900" b="0">
                <a:solidFill>
                  <a:srgbClr val="6B6762"/>
                </a:solidFill>
                <a:latin typeface="Arial"/>
                <a:ea typeface="Arial"/>
                <a:cs typeface="Arial"/>
              </a:rPr>
              <a:t>ILLUSTRATIVE VIEW</a:t>
            </a:r>
          </a:p>
        </p:txBody>
      </p:sp>
      <p:sp>
        <p:nvSpPr>
          <p:cNvPr id="10" name="Rectangle 9">
            <a:extLst>
              <a:ext uri="{FF2B5EF4-FFF2-40B4-BE49-F238E27FC236}">
                <a16:creationId xmlns:a16="http://schemas.microsoft.com/office/drawing/2014/main" id="{47734ABA-2935-47F1-BD3D-1AD66A97AF4F}"/>
              </a:ext>
            </a:extLst>
          </p:cNvPr>
          <p:cNvSpPr>
            <a:spLocks noGrp="1"/>
          </p:cNvSpPr>
          <p:nvPr/>
        </p:nvSpPr>
        <p:spPr>
          <a:xfrm>
            <a:off x="7848600" y="3048000"/>
            <a:ext cx="2647950" cy="9525"/>
          </a:xfrm>
          <a:prstGeom prst="rect">
            <a:avLst/>
          </a:prstGeom>
          <a:solidFill>
            <a:srgbClr val="E0DDDA"/>
          </a:solidFill>
          <a:ln w="0">
            <a:noFill/>
            <a:prstDash val="solid"/>
          </a:ln>
        </p:spPr>
        <p:txBody>
          <a:bodyPr/>
          <a:lstStyle/>
          <a:p>
            <a:endParaRPr/>
          </a:p>
        </p:txBody>
      </p:sp>
      <p:sp>
        <p:nvSpPr>
          <p:cNvPr id="11" name="Rectangle 10">
            <a:extLst>
              <a:ext uri="{FF2B5EF4-FFF2-40B4-BE49-F238E27FC236}">
                <a16:creationId xmlns:a16="http://schemas.microsoft.com/office/drawing/2014/main" id="{4FEDDA38-16B9-4C85-9400-5EE1E888F351}"/>
              </a:ext>
            </a:extLst>
          </p:cNvPr>
          <p:cNvSpPr>
            <a:spLocks noGrp="1"/>
          </p:cNvSpPr>
          <p:nvPr/>
        </p:nvSpPr>
        <p:spPr>
          <a:xfrm>
            <a:off x="7867650" y="3143250"/>
            <a:ext cx="1619250" cy="285750"/>
          </a:xfrm>
          <a:prstGeom prst="rect">
            <a:avLst/>
          </a:prstGeom>
          <a:noFill/>
          <a:ln w="0">
            <a:noFill/>
            <a:prstDash val="solid"/>
          </a:ln>
        </p:spPr>
        <p:txBody>
          <a:bodyPr>
            <a:noAutofit/>
          </a:bodyPr>
          <a:lstStyle/>
          <a:p>
            <a:pPr>
              <a:buNone/>
              <a:defRPr sz="1200" b="0">
                <a:solidFill>
                  <a:srgbClr val="6B6762"/>
                </a:solidFill>
                <a:latin typeface="Arial"/>
                <a:ea typeface="Arial"/>
                <a:cs typeface="Arial"/>
              </a:defRPr>
            </a:pPr>
            <a:r>
              <a:rPr sz="1200" b="0" dirty="0">
                <a:solidFill>
                  <a:srgbClr val="6B6762"/>
                </a:solidFill>
                <a:latin typeface="Arial"/>
                <a:ea typeface="Arial"/>
                <a:cs typeface="Arial"/>
              </a:rPr>
              <a:t>Lead capture</a:t>
            </a:r>
          </a:p>
        </p:txBody>
      </p:sp>
      <p:sp>
        <p:nvSpPr>
          <p:cNvPr id="12" name="Rectangle 11">
            <a:extLst>
              <a:ext uri="{FF2B5EF4-FFF2-40B4-BE49-F238E27FC236}">
                <a16:creationId xmlns:a16="http://schemas.microsoft.com/office/drawing/2014/main" id="{E421EA78-18E9-4C9C-992C-14B633A2B717}"/>
              </a:ext>
            </a:extLst>
          </p:cNvPr>
          <p:cNvSpPr>
            <a:spLocks noGrp="1"/>
          </p:cNvSpPr>
          <p:nvPr/>
        </p:nvSpPr>
        <p:spPr>
          <a:xfrm>
            <a:off x="9477375" y="3143250"/>
            <a:ext cx="1095375" cy="285750"/>
          </a:xfrm>
          <a:prstGeom prst="rect">
            <a:avLst/>
          </a:prstGeom>
          <a:noFill/>
          <a:ln w="0">
            <a:noFill/>
            <a:prstDash val="solid"/>
          </a:ln>
        </p:spPr>
        <p:txBody>
          <a:bodyPr>
            <a:noAutofit/>
          </a:bodyPr>
          <a:lstStyle/>
          <a:p>
            <a:pPr>
              <a:buNone/>
              <a:defRPr sz="1200" b="0">
                <a:solidFill>
                  <a:srgbClr val="526859"/>
                </a:solidFill>
                <a:latin typeface="Arial"/>
                <a:ea typeface="Arial"/>
                <a:cs typeface="Arial"/>
              </a:defRPr>
            </a:pPr>
            <a:r>
              <a:rPr sz="1200" b="0" dirty="0">
                <a:solidFill>
                  <a:srgbClr val="526859"/>
                </a:solidFill>
                <a:latin typeface="Arial"/>
                <a:ea typeface="Arial"/>
                <a:cs typeface="Arial"/>
              </a:rPr>
              <a:t>Recorded</a:t>
            </a:r>
          </a:p>
        </p:txBody>
      </p:sp>
      <p:sp>
        <p:nvSpPr>
          <p:cNvPr id="13" name="Rectangle 12">
            <a:extLst>
              <a:ext uri="{FF2B5EF4-FFF2-40B4-BE49-F238E27FC236}">
                <a16:creationId xmlns:a16="http://schemas.microsoft.com/office/drawing/2014/main" id="{7EB1BABF-5070-4763-86EB-FD903A6F87A7}"/>
              </a:ext>
            </a:extLst>
          </p:cNvPr>
          <p:cNvSpPr>
            <a:spLocks noGrp="1"/>
          </p:cNvSpPr>
          <p:nvPr/>
        </p:nvSpPr>
        <p:spPr>
          <a:xfrm>
            <a:off x="7848600" y="3543300"/>
            <a:ext cx="2647950" cy="9525"/>
          </a:xfrm>
          <a:prstGeom prst="rect">
            <a:avLst/>
          </a:prstGeom>
          <a:solidFill>
            <a:srgbClr val="E0DDDA"/>
          </a:solidFill>
          <a:ln w="0">
            <a:noFill/>
            <a:prstDash val="solid"/>
          </a:ln>
        </p:spPr>
        <p:txBody>
          <a:bodyPr/>
          <a:lstStyle/>
          <a:p>
            <a:endParaRPr/>
          </a:p>
        </p:txBody>
      </p:sp>
      <p:sp>
        <p:nvSpPr>
          <p:cNvPr id="14" name="Rectangle 13">
            <a:extLst>
              <a:ext uri="{FF2B5EF4-FFF2-40B4-BE49-F238E27FC236}">
                <a16:creationId xmlns:a16="http://schemas.microsoft.com/office/drawing/2014/main" id="{4DF61744-F715-451F-9D2D-FBFA134B1D59}"/>
              </a:ext>
            </a:extLst>
          </p:cNvPr>
          <p:cNvSpPr>
            <a:spLocks noGrp="1"/>
          </p:cNvSpPr>
          <p:nvPr/>
        </p:nvSpPr>
        <p:spPr>
          <a:xfrm>
            <a:off x="7867650" y="3638550"/>
            <a:ext cx="1619250" cy="285750"/>
          </a:xfrm>
          <a:prstGeom prst="rect">
            <a:avLst/>
          </a:prstGeom>
          <a:noFill/>
          <a:ln w="0">
            <a:noFill/>
            <a:prstDash val="solid"/>
          </a:ln>
        </p:spPr>
        <p:txBody>
          <a:bodyPr>
            <a:noAutofit/>
          </a:bodyPr>
          <a:lstStyle/>
          <a:p>
            <a:pPr>
              <a:buNone/>
              <a:defRPr sz="1200" b="0">
                <a:solidFill>
                  <a:srgbClr val="6B6762"/>
                </a:solidFill>
                <a:latin typeface="Arial"/>
                <a:ea typeface="Arial"/>
                <a:cs typeface="Arial"/>
              </a:defRPr>
            </a:pPr>
            <a:r>
              <a:rPr sz="1200" b="0">
                <a:solidFill>
                  <a:srgbClr val="6B6762"/>
                </a:solidFill>
                <a:latin typeface="Arial"/>
                <a:ea typeface="Arial"/>
                <a:cs typeface="Arial"/>
              </a:rPr>
              <a:t>Qualification</a:t>
            </a:r>
          </a:p>
        </p:txBody>
      </p:sp>
      <p:sp>
        <p:nvSpPr>
          <p:cNvPr id="15" name="Rectangle 14">
            <a:extLst>
              <a:ext uri="{FF2B5EF4-FFF2-40B4-BE49-F238E27FC236}">
                <a16:creationId xmlns:a16="http://schemas.microsoft.com/office/drawing/2014/main" id="{9CB7B537-34D2-44CC-A46D-425BD0FF5241}"/>
              </a:ext>
            </a:extLst>
          </p:cNvPr>
          <p:cNvSpPr>
            <a:spLocks noGrp="1"/>
          </p:cNvSpPr>
          <p:nvPr/>
        </p:nvSpPr>
        <p:spPr>
          <a:xfrm>
            <a:off x="9477375" y="3638550"/>
            <a:ext cx="1095375" cy="285750"/>
          </a:xfrm>
          <a:prstGeom prst="rect">
            <a:avLst/>
          </a:prstGeom>
          <a:noFill/>
          <a:ln w="0">
            <a:noFill/>
            <a:prstDash val="solid"/>
          </a:ln>
        </p:spPr>
        <p:txBody>
          <a:bodyPr>
            <a:noAutofit/>
          </a:bodyPr>
          <a:lstStyle/>
          <a:p>
            <a:pPr>
              <a:buNone/>
              <a:defRPr sz="1200" b="0">
                <a:solidFill>
                  <a:srgbClr val="0F0E0D"/>
                </a:solidFill>
                <a:latin typeface="Arial"/>
                <a:ea typeface="Arial"/>
                <a:cs typeface="Arial"/>
              </a:defRPr>
            </a:pPr>
            <a:r>
              <a:rPr sz="1200" b="0" dirty="0">
                <a:solidFill>
                  <a:srgbClr val="0F0E0D"/>
                </a:solidFill>
                <a:latin typeface="Arial"/>
                <a:ea typeface="Arial"/>
                <a:cs typeface="Arial"/>
              </a:rPr>
              <a:t>Assigned</a:t>
            </a:r>
          </a:p>
        </p:txBody>
      </p:sp>
      <p:sp>
        <p:nvSpPr>
          <p:cNvPr id="16" name="Rectangle 15">
            <a:extLst>
              <a:ext uri="{FF2B5EF4-FFF2-40B4-BE49-F238E27FC236}">
                <a16:creationId xmlns:a16="http://schemas.microsoft.com/office/drawing/2014/main" id="{010CF9FF-5F9F-4287-BF87-499F798A2445}"/>
              </a:ext>
            </a:extLst>
          </p:cNvPr>
          <p:cNvSpPr>
            <a:spLocks noGrp="1"/>
          </p:cNvSpPr>
          <p:nvPr/>
        </p:nvSpPr>
        <p:spPr>
          <a:xfrm>
            <a:off x="7848600" y="4038600"/>
            <a:ext cx="2647950" cy="9525"/>
          </a:xfrm>
          <a:prstGeom prst="rect">
            <a:avLst/>
          </a:prstGeom>
          <a:solidFill>
            <a:srgbClr val="E0DDDA"/>
          </a:solidFill>
          <a:ln w="0">
            <a:noFill/>
            <a:prstDash val="solid"/>
          </a:ln>
        </p:spPr>
        <p:txBody>
          <a:bodyPr/>
          <a:lstStyle/>
          <a:p>
            <a:endParaRPr/>
          </a:p>
        </p:txBody>
      </p:sp>
      <p:sp>
        <p:nvSpPr>
          <p:cNvPr id="17" name="Rectangle 16">
            <a:extLst>
              <a:ext uri="{FF2B5EF4-FFF2-40B4-BE49-F238E27FC236}">
                <a16:creationId xmlns:a16="http://schemas.microsoft.com/office/drawing/2014/main" id="{5E5C1140-31DE-4120-80CA-2E1115086F64}"/>
              </a:ext>
            </a:extLst>
          </p:cNvPr>
          <p:cNvSpPr>
            <a:spLocks noGrp="1"/>
          </p:cNvSpPr>
          <p:nvPr/>
        </p:nvSpPr>
        <p:spPr>
          <a:xfrm>
            <a:off x="7867650" y="4133850"/>
            <a:ext cx="1524000" cy="285750"/>
          </a:xfrm>
          <a:prstGeom prst="rect">
            <a:avLst/>
          </a:prstGeom>
          <a:noFill/>
          <a:ln w="0">
            <a:noFill/>
            <a:prstDash val="solid"/>
          </a:ln>
        </p:spPr>
        <p:txBody>
          <a:bodyPr>
            <a:noAutofit/>
          </a:bodyPr>
          <a:lstStyle/>
          <a:p>
            <a:pPr>
              <a:buNone/>
              <a:defRPr sz="1200" b="0">
                <a:solidFill>
                  <a:srgbClr val="6B6762"/>
                </a:solidFill>
                <a:latin typeface="Arial"/>
                <a:ea typeface="Arial"/>
                <a:cs typeface="Arial"/>
              </a:defRPr>
            </a:pPr>
            <a:r>
              <a:rPr sz="1200" b="0">
                <a:solidFill>
                  <a:srgbClr val="6B6762"/>
                </a:solidFill>
                <a:latin typeface="Arial"/>
                <a:ea typeface="Arial"/>
                <a:cs typeface="Arial"/>
              </a:rPr>
              <a:t>Follow-up</a:t>
            </a:r>
          </a:p>
        </p:txBody>
      </p:sp>
      <p:sp>
        <p:nvSpPr>
          <p:cNvPr id="18" name="Rectangle 17">
            <a:extLst>
              <a:ext uri="{FF2B5EF4-FFF2-40B4-BE49-F238E27FC236}">
                <a16:creationId xmlns:a16="http://schemas.microsoft.com/office/drawing/2014/main" id="{A30497FF-5FF9-438F-827D-DB1AB29F8765}"/>
              </a:ext>
            </a:extLst>
          </p:cNvPr>
          <p:cNvSpPr>
            <a:spLocks noGrp="1"/>
          </p:cNvSpPr>
          <p:nvPr/>
        </p:nvSpPr>
        <p:spPr>
          <a:xfrm>
            <a:off x="9477375" y="4133850"/>
            <a:ext cx="1095375" cy="285750"/>
          </a:xfrm>
          <a:prstGeom prst="rect">
            <a:avLst/>
          </a:prstGeom>
          <a:noFill/>
          <a:ln w="0">
            <a:noFill/>
            <a:prstDash val="solid"/>
          </a:ln>
        </p:spPr>
        <p:txBody>
          <a:bodyPr>
            <a:noAutofit/>
          </a:bodyPr>
          <a:lstStyle/>
          <a:p>
            <a:pPr>
              <a:buNone/>
              <a:defRPr sz="1200" b="0">
                <a:solidFill>
                  <a:srgbClr val="986A45"/>
                </a:solidFill>
                <a:latin typeface="Arial"/>
                <a:ea typeface="Arial"/>
                <a:cs typeface="Arial"/>
              </a:defRPr>
            </a:pPr>
            <a:r>
              <a:rPr sz="1200" b="0">
                <a:solidFill>
                  <a:srgbClr val="986A45"/>
                </a:solidFill>
                <a:latin typeface="Arial"/>
                <a:ea typeface="Arial"/>
                <a:cs typeface="Arial"/>
              </a:rPr>
              <a:t>Review</a:t>
            </a:r>
          </a:p>
        </p:txBody>
      </p:sp>
      <p:sp>
        <p:nvSpPr>
          <p:cNvPr id="19" name="Rectangle 18">
            <a:extLst>
              <a:ext uri="{FF2B5EF4-FFF2-40B4-BE49-F238E27FC236}">
                <a16:creationId xmlns:a16="http://schemas.microsoft.com/office/drawing/2014/main" id="{06661EED-0925-4742-8678-9E7BE668F2D8}"/>
              </a:ext>
            </a:extLst>
          </p:cNvPr>
          <p:cNvSpPr>
            <a:spLocks noGrp="1"/>
          </p:cNvSpPr>
          <p:nvPr/>
        </p:nvSpPr>
        <p:spPr>
          <a:xfrm>
            <a:off x="723900" y="6019800"/>
            <a:ext cx="6191250" cy="238125"/>
          </a:xfrm>
          <a:prstGeom prst="rect">
            <a:avLst/>
          </a:prstGeom>
          <a:noFill/>
          <a:ln w="0">
            <a:noFill/>
            <a:prstDash val="solid"/>
          </a:ln>
        </p:spPr>
        <p:txBody>
          <a:bodyPr>
            <a:noAutofit/>
          </a:bodyPr>
          <a:lstStyle/>
          <a:p>
            <a:pPr>
              <a:buNone/>
              <a:defRPr sz="900" b="0">
                <a:solidFill>
                  <a:srgbClr val="6B6762"/>
                </a:solidFill>
                <a:latin typeface="Arial"/>
                <a:ea typeface="Arial"/>
                <a:cs typeface="Arial"/>
              </a:defRPr>
            </a:pPr>
            <a:r>
              <a:rPr sz="900" b="0" dirty="0">
                <a:solidFill>
                  <a:srgbClr val="6B6762"/>
                </a:solidFill>
                <a:latin typeface="Arial"/>
                <a:ea typeface="Arial"/>
                <a:cs typeface="Arial"/>
              </a:rPr>
              <a:t>PREPRODUCTION PREVIEW  /  SEPTEMBER 2026</a:t>
            </a:r>
          </a:p>
        </p:txBody>
      </p:sp>
    </p:spTree>
    <p:extLst>
      <p:ext uri="{BB962C8B-B14F-4D97-AF65-F5344CB8AC3E}">
        <p14:creationId xmlns:p14="http://schemas.microsoft.com/office/powerpoint/2010/main" val="1901070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DFC"/>
        </a:solidFill>
        <a:effectLst/>
      </p:bgPr>
    </p:bg>
    <p:spTree>
      <p:nvGrpSpPr>
        <p:cNvPr id="1" name=""/>
        <p:cNvGrpSpPr/>
        <p:nvPr/>
      </p:nvGrpSpPr>
      <p:grpSpPr>
        <a:xfrm>
          <a:off x="0" y="0"/>
          <a:ext cx="0" cy="0"/>
          <a:chOff x="0" y="0"/>
          <a:chExt cx="0" cy="0"/>
        </a:xfrm>
      </p:grpSpPr>
      <p:sp>
        <p:nvSpPr>
          <p:cNvPr id="36" name="brand">
            <a:extLst>
              <a:ext uri="{FF2B5EF4-FFF2-40B4-BE49-F238E27FC236}">
                <a16:creationId xmlns:a16="http://schemas.microsoft.com/office/drawing/2014/main" id="{7B9A8572-5BAD-4369-A615-1557E3B4E268}"/>
              </a:ext>
            </a:extLst>
          </p:cNvPr>
          <p:cNvSpPr>
            <a:spLocks noGrp="1"/>
          </p:cNvSpPr>
          <p:nvPr/>
        </p:nvSpPr>
        <p:spPr>
          <a:xfrm>
            <a:off x="685800" y="342900"/>
            <a:ext cx="5715000" cy="2857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6B6762"/>
                </a:solidFill>
                <a:latin typeface="Arial"/>
                <a:ea typeface="Arial"/>
                <a:cs typeface="Arial"/>
              </a:defRPr>
            </a:pPr>
            <a:r>
              <a:rPr kumimoji="0" sz="975" b="0" i="0" u="none" strike="noStrike" kern="1200" cap="none" spc="0" normalizeH="0" baseline="0" noProof="0">
                <a:ln>
                  <a:noFill/>
                </a:ln>
                <a:solidFill>
                  <a:srgbClr val="6B6762"/>
                </a:solidFill>
                <a:effectLst/>
                <a:uLnTx/>
                <a:uFillTx/>
                <a:latin typeface="Arial"/>
                <a:ea typeface="Arial"/>
                <a:cs typeface="Arial"/>
              </a:rPr>
              <a:t>PRIME STATE SYSTEMS</a:t>
            </a:r>
          </a:p>
        </p:txBody>
      </p:sp>
      <p:sp>
        <p:nvSpPr>
          <p:cNvPr id="2" name="page">
            <a:extLst>
              <a:ext uri="{FF2B5EF4-FFF2-40B4-BE49-F238E27FC236}">
                <a16:creationId xmlns:a16="http://schemas.microsoft.com/office/drawing/2014/main" id="{4B951139-C0E8-46CA-A33A-47D968A9F32A}"/>
              </a:ext>
            </a:extLst>
          </p:cNvPr>
          <p:cNvSpPr>
            <a:spLocks noGrp="1"/>
          </p:cNvSpPr>
          <p:nvPr/>
        </p:nvSpPr>
        <p:spPr>
          <a:xfrm>
            <a:off x="10953750" y="342900"/>
            <a:ext cx="552450" cy="2857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6B6762"/>
                </a:solidFill>
                <a:latin typeface="Arial"/>
                <a:ea typeface="Arial"/>
                <a:cs typeface="Arial"/>
              </a:defRPr>
            </a:pPr>
            <a:r>
              <a:rPr kumimoji="0" sz="975" b="0" i="0" u="none" strike="noStrike" kern="1200" cap="none" spc="0" normalizeH="0" baseline="0" noProof="0">
                <a:ln>
                  <a:noFill/>
                </a:ln>
                <a:solidFill>
                  <a:srgbClr val="6B6762"/>
                </a:solidFill>
                <a:effectLst/>
                <a:uLnTx/>
                <a:uFillTx/>
                <a:latin typeface="Arial"/>
                <a:ea typeface="Arial"/>
                <a:cs typeface="Arial"/>
              </a:rPr>
              <a:t>02</a:t>
            </a:r>
          </a:p>
        </p:txBody>
      </p:sp>
      <p:sp>
        <p:nvSpPr>
          <p:cNvPr id="3" name="label">
            <a:extLst>
              <a:ext uri="{FF2B5EF4-FFF2-40B4-BE49-F238E27FC236}">
                <a16:creationId xmlns:a16="http://schemas.microsoft.com/office/drawing/2014/main" id="{26288672-A637-4353-9F09-67F8F21C0BBF}"/>
              </a:ext>
            </a:extLst>
          </p:cNvPr>
          <p:cNvSpPr>
            <a:spLocks noGrp="1"/>
          </p:cNvSpPr>
          <p:nvPr/>
        </p:nvSpPr>
        <p:spPr>
          <a:xfrm>
            <a:off x="685800" y="933450"/>
            <a:ext cx="6667500" cy="2857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PROPOSED CLIENT JOURNEY</a:t>
            </a:r>
          </a:p>
        </p:txBody>
      </p:sp>
      <p:sp>
        <p:nvSpPr>
          <p:cNvPr id="4" name="title">
            <a:extLst>
              <a:ext uri="{FF2B5EF4-FFF2-40B4-BE49-F238E27FC236}">
                <a16:creationId xmlns:a16="http://schemas.microsoft.com/office/drawing/2014/main" id="{9A9D891D-AC2A-462A-8A28-92F2A9029118}"/>
              </a:ext>
            </a:extLst>
          </p:cNvPr>
          <p:cNvSpPr>
            <a:spLocks noGrp="1"/>
          </p:cNvSpPr>
          <p:nvPr/>
        </p:nvSpPr>
        <p:spPr>
          <a:xfrm>
            <a:off x="685800" y="1295400"/>
            <a:ext cx="10820400" cy="7143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225" b="0">
                <a:solidFill>
                  <a:srgbClr val="0F0E0D"/>
                </a:solidFill>
                <a:latin typeface="Georgia"/>
                <a:ea typeface="Georgia"/>
                <a:cs typeface="Georgia"/>
              </a:defRPr>
            </a:pPr>
            <a:r>
              <a:rPr kumimoji="0" sz="3225" b="0" i="0" u="none" strike="noStrike" kern="1200" cap="none" spc="0" normalizeH="0" baseline="0" noProof="0">
                <a:ln>
                  <a:noFill/>
                </a:ln>
                <a:solidFill>
                  <a:srgbClr val="0F0E0D"/>
                </a:solidFill>
                <a:effectLst/>
                <a:uLnTx/>
                <a:uFillTx/>
                <a:latin typeface="Georgia"/>
                <a:ea typeface="Georgia"/>
                <a:cs typeface="Georgia"/>
              </a:rPr>
              <a:t>A defined process for every new client</a:t>
            </a:r>
          </a:p>
        </p:txBody>
      </p:sp>
      <p:sp>
        <p:nvSpPr>
          <p:cNvPr id="5" name="subtitle">
            <a:extLst>
              <a:ext uri="{FF2B5EF4-FFF2-40B4-BE49-F238E27FC236}">
                <a16:creationId xmlns:a16="http://schemas.microsoft.com/office/drawing/2014/main" id="{DA4102B6-66EC-4F09-8AAE-A9AE362240B1}"/>
              </a:ext>
            </a:extLst>
          </p:cNvPr>
          <p:cNvSpPr>
            <a:spLocks noGrp="1"/>
          </p:cNvSpPr>
          <p:nvPr/>
        </p:nvSpPr>
        <p:spPr>
          <a:xfrm>
            <a:off x="685800" y="1952625"/>
            <a:ext cx="10477500" cy="3333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6B6762"/>
                </a:solidFill>
                <a:latin typeface="Arial"/>
                <a:ea typeface="Arial"/>
                <a:cs typeface="Arial"/>
              </a:defRPr>
            </a:pPr>
            <a:r>
              <a:rPr kumimoji="0" sz="1575" b="0" i="0" u="none" strike="noStrike" kern="1200" cap="none" spc="0" normalizeH="0" baseline="0" noProof="0">
                <a:ln>
                  <a:noFill/>
                </a:ln>
                <a:solidFill>
                  <a:srgbClr val="6B6762"/>
                </a:solidFill>
                <a:effectLst/>
                <a:uLnTx/>
                <a:uFillTx/>
                <a:latin typeface="Arial"/>
                <a:ea typeface="Arial"/>
                <a:cs typeface="Arial"/>
              </a:rPr>
              <a:t>From the first conversation to managed automation</a:t>
            </a:r>
          </a:p>
        </p:txBody>
      </p:sp>
      <p:sp>
        <p:nvSpPr>
          <p:cNvPr id="6" name="stage-01">
            <a:extLst>
              <a:ext uri="{FF2B5EF4-FFF2-40B4-BE49-F238E27FC236}">
                <a16:creationId xmlns:a16="http://schemas.microsoft.com/office/drawing/2014/main" id="{485EE7C2-09D4-4E02-A582-1441071952F8}"/>
              </a:ext>
            </a:extLst>
          </p:cNvPr>
          <p:cNvSpPr>
            <a:spLocks noGrp="1"/>
          </p:cNvSpPr>
          <p:nvPr/>
        </p:nvSpPr>
        <p:spPr>
          <a:xfrm>
            <a:off x="685800" y="2609850"/>
            <a:ext cx="3200400" cy="1314450"/>
          </a:xfrm>
          <a:prstGeom prst="rect">
            <a:avLst/>
          </a:prstGeom>
          <a:solidFill>
            <a:srgbClr val="F2F0ED"/>
          </a:solidFill>
          <a:ln w="9525">
            <a:solidFill>
              <a:srgbClr val="E0DDDA"/>
            </a:solidFill>
          </a:ln>
        </p:spPr>
      </p:sp>
      <p:sp>
        <p:nvSpPr>
          <p:cNvPr id="7" name="number-01">
            <a:extLst>
              <a:ext uri="{FF2B5EF4-FFF2-40B4-BE49-F238E27FC236}">
                <a16:creationId xmlns:a16="http://schemas.microsoft.com/office/drawing/2014/main" id="{9A8C9EA3-9521-486C-A023-34772B777C50}"/>
              </a:ext>
            </a:extLst>
          </p:cNvPr>
          <p:cNvSpPr>
            <a:spLocks noGrp="1"/>
          </p:cNvSpPr>
          <p:nvPr/>
        </p:nvSpPr>
        <p:spPr>
          <a:xfrm>
            <a:off x="838200" y="2724150"/>
            <a:ext cx="476250" cy="2286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01</a:t>
            </a:r>
          </a:p>
        </p:txBody>
      </p:sp>
      <p:sp>
        <p:nvSpPr>
          <p:cNvPr id="8" name="stage-title-01">
            <a:extLst>
              <a:ext uri="{FF2B5EF4-FFF2-40B4-BE49-F238E27FC236}">
                <a16:creationId xmlns:a16="http://schemas.microsoft.com/office/drawing/2014/main" id="{9920BA14-BA7E-4757-8B59-7C8F0A34CFB4}"/>
              </a:ext>
            </a:extLst>
          </p:cNvPr>
          <p:cNvSpPr>
            <a:spLocks noGrp="1"/>
          </p:cNvSpPr>
          <p:nvPr/>
        </p:nvSpPr>
        <p:spPr>
          <a:xfrm>
            <a:off x="838200" y="2981325"/>
            <a:ext cx="29432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0F0E0D"/>
                </a:solidFill>
                <a:latin typeface="Georgia"/>
                <a:ea typeface="Georgia"/>
                <a:cs typeface="Georgia"/>
              </a:defRPr>
            </a:pPr>
            <a:r>
              <a:rPr kumimoji="0" sz="1950" b="0" i="0" u="none" strike="noStrike" kern="1200" cap="none" spc="0" normalizeH="0" baseline="0" noProof="0">
                <a:ln>
                  <a:noFill/>
                </a:ln>
                <a:solidFill>
                  <a:srgbClr val="0F0E0D"/>
                </a:solidFill>
                <a:effectLst/>
                <a:uLnTx/>
                <a:uFillTx/>
                <a:latin typeface="Georgia"/>
                <a:ea typeface="Georgia"/>
                <a:cs typeface="Georgia"/>
              </a:rPr>
              <a:t>Initial conversation</a:t>
            </a:r>
          </a:p>
        </p:txBody>
      </p:sp>
      <p:sp>
        <p:nvSpPr>
          <p:cNvPr id="9" name="stage-body-01">
            <a:extLst>
              <a:ext uri="{FF2B5EF4-FFF2-40B4-BE49-F238E27FC236}">
                <a16:creationId xmlns:a16="http://schemas.microsoft.com/office/drawing/2014/main" id="{78DFFFBE-78FD-4EC5-AA86-0C42BA01A754}"/>
              </a:ext>
            </a:extLst>
          </p:cNvPr>
          <p:cNvSpPr>
            <a:spLocks noGrp="1"/>
          </p:cNvSpPr>
          <p:nvPr/>
        </p:nvSpPr>
        <p:spPr>
          <a:xfrm>
            <a:off x="838200" y="3400425"/>
            <a:ext cx="2971800"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Understand the business, priorities</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and operational bottlenecks.</a:t>
            </a:r>
          </a:p>
        </p:txBody>
      </p:sp>
      <p:sp>
        <p:nvSpPr>
          <p:cNvPr id="10" name="stage-02">
            <a:extLst>
              <a:ext uri="{FF2B5EF4-FFF2-40B4-BE49-F238E27FC236}">
                <a16:creationId xmlns:a16="http://schemas.microsoft.com/office/drawing/2014/main" id="{E11E631F-D325-4ABC-8773-637519400EAB}"/>
              </a:ext>
            </a:extLst>
          </p:cNvPr>
          <p:cNvSpPr>
            <a:spLocks noGrp="1"/>
          </p:cNvSpPr>
          <p:nvPr/>
        </p:nvSpPr>
        <p:spPr>
          <a:xfrm>
            <a:off x="4495800" y="2609850"/>
            <a:ext cx="3200400" cy="1314450"/>
          </a:xfrm>
          <a:prstGeom prst="rect">
            <a:avLst/>
          </a:prstGeom>
          <a:solidFill>
            <a:srgbClr val="F2F0ED"/>
          </a:solidFill>
          <a:ln w="9525">
            <a:solidFill>
              <a:srgbClr val="E0DDDA"/>
            </a:solidFill>
          </a:ln>
        </p:spPr>
      </p:sp>
      <p:sp>
        <p:nvSpPr>
          <p:cNvPr id="11" name="number-02">
            <a:extLst>
              <a:ext uri="{FF2B5EF4-FFF2-40B4-BE49-F238E27FC236}">
                <a16:creationId xmlns:a16="http://schemas.microsoft.com/office/drawing/2014/main" id="{5366E0D4-ACF1-48BD-8DFC-D09AA11746E2}"/>
              </a:ext>
            </a:extLst>
          </p:cNvPr>
          <p:cNvSpPr>
            <a:spLocks noGrp="1"/>
          </p:cNvSpPr>
          <p:nvPr/>
        </p:nvSpPr>
        <p:spPr>
          <a:xfrm>
            <a:off x="4648200" y="2724150"/>
            <a:ext cx="476250" cy="2286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02</a:t>
            </a:r>
          </a:p>
        </p:txBody>
      </p:sp>
      <p:sp>
        <p:nvSpPr>
          <p:cNvPr id="12" name="stage-title-02">
            <a:extLst>
              <a:ext uri="{FF2B5EF4-FFF2-40B4-BE49-F238E27FC236}">
                <a16:creationId xmlns:a16="http://schemas.microsoft.com/office/drawing/2014/main" id="{5DB86CFE-6192-4055-9F82-58EC759E54AC}"/>
              </a:ext>
            </a:extLst>
          </p:cNvPr>
          <p:cNvSpPr>
            <a:spLocks noGrp="1"/>
          </p:cNvSpPr>
          <p:nvPr/>
        </p:nvSpPr>
        <p:spPr>
          <a:xfrm>
            <a:off x="4648200" y="2981325"/>
            <a:ext cx="29432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0F0E0D"/>
                </a:solidFill>
                <a:latin typeface="Georgia"/>
                <a:ea typeface="Georgia"/>
                <a:cs typeface="Georgia"/>
              </a:defRPr>
            </a:pPr>
            <a:r>
              <a:rPr kumimoji="0" sz="1950" b="0" i="0" u="none" strike="noStrike" kern="1200" cap="none" spc="0" normalizeH="0" baseline="0" noProof="0">
                <a:ln>
                  <a:noFill/>
                </a:ln>
                <a:solidFill>
                  <a:srgbClr val="0F0E0D"/>
                </a:solidFill>
                <a:effectLst/>
                <a:uLnTx/>
                <a:uFillTx/>
                <a:latin typeface="Georgia"/>
                <a:ea typeface="Georgia"/>
                <a:cs typeface="Georgia"/>
              </a:rPr>
              <a:t>Process &amp; scope</a:t>
            </a:r>
          </a:p>
        </p:txBody>
      </p:sp>
      <p:sp>
        <p:nvSpPr>
          <p:cNvPr id="13" name="stage-body-02">
            <a:extLst>
              <a:ext uri="{FF2B5EF4-FFF2-40B4-BE49-F238E27FC236}">
                <a16:creationId xmlns:a16="http://schemas.microsoft.com/office/drawing/2014/main" id="{4232EA26-9EFD-4418-98F9-FBB2ABF685A4}"/>
              </a:ext>
            </a:extLst>
          </p:cNvPr>
          <p:cNvSpPr>
            <a:spLocks noGrp="1"/>
          </p:cNvSpPr>
          <p:nvPr/>
        </p:nvSpPr>
        <p:spPr>
          <a:xfrm>
            <a:off x="4648200" y="3400425"/>
            <a:ext cx="2971800"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Map the workflow and agree</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ownership and success criteria.</a:t>
            </a:r>
          </a:p>
        </p:txBody>
      </p:sp>
      <p:sp>
        <p:nvSpPr>
          <p:cNvPr id="14" name="stage-03">
            <a:extLst>
              <a:ext uri="{FF2B5EF4-FFF2-40B4-BE49-F238E27FC236}">
                <a16:creationId xmlns:a16="http://schemas.microsoft.com/office/drawing/2014/main" id="{5D246DCE-D855-4666-95FC-E3CA1478103E}"/>
              </a:ext>
            </a:extLst>
          </p:cNvPr>
          <p:cNvSpPr>
            <a:spLocks noGrp="1"/>
          </p:cNvSpPr>
          <p:nvPr/>
        </p:nvSpPr>
        <p:spPr>
          <a:xfrm>
            <a:off x="8305800" y="2609850"/>
            <a:ext cx="3200400" cy="1314450"/>
          </a:xfrm>
          <a:prstGeom prst="rect">
            <a:avLst/>
          </a:prstGeom>
          <a:solidFill>
            <a:srgbClr val="F2F0ED"/>
          </a:solidFill>
          <a:ln w="9525">
            <a:solidFill>
              <a:srgbClr val="E0DDDA"/>
            </a:solidFill>
          </a:ln>
        </p:spPr>
      </p:sp>
      <p:sp>
        <p:nvSpPr>
          <p:cNvPr id="15" name="number-03">
            <a:extLst>
              <a:ext uri="{FF2B5EF4-FFF2-40B4-BE49-F238E27FC236}">
                <a16:creationId xmlns:a16="http://schemas.microsoft.com/office/drawing/2014/main" id="{482ED925-AE54-40DE-BEC1-C0F551AFC420}"/>
              </a:ext>
            </a:extLst>
          </p:cNvPr>
          <p:cNvSpPr>
            <a:spLocks noGrp="1"/>
          </p:cNvSpPr>
          <p:nvPr/>
        </p:nvSpPr>
        <p:spPr>
          <a:xfrm>
            <a:off x="8458200" y="2724150"/>
            <a:ext cx="476250" cy="2286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03</a:t>
            </a:r>
          </a:p>
        </p:txBody>
      </p:sp>
      <p:sp>
        <p:nvSpPr>
          <p:cNvPr id="16" name="stage-title-03">
            <a:extLst>
              <a:ext uri="{FF2B5EF4-FFF2-40B4-BE49-F238E27FC236}">
                <a16:creationId xmlns:a16="http://schemas.microsoft.com/office/drawing/2014/main" id="{3B004CB0-35CE-4B6D-94BA-D5182C9B946C}"/>
              </a:ext>
            </a:extLst>
          </p:cNvPr>
          <p:cNvSpPr>
            <a:spLocks noGrp="1"/>
          </p:cNvSpPr>
          <p:nvPr/>
        </p:nvSpPr>
        <p:spPr>
          <a:xfrm>
            <a:off x="8458200" y="2981325"/>
            <a:ext cx="29432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0F0E0D"/>
                </a:solidFill>
                <a:latin typeface="Georgia"/>
                <a:ea typeface="Georgia"/>
                <a:cs typeface="Georgia"/>
              </a:defRPr>
            </a:pPr>
            <a:r>
              <a:rPr kumimoji="0" sz="1950" b="0" i="0" u="none" strike="noStrike" kern="1200" cap="none" spc="0" normalizeH="0" baseline="0" noProof="0">
                <a:ln>
                  <a:noFill/>
                </a:ln>
                <a:solidFill>
                  <a:srgbClr val="0F0E0D"/>
                </a:solidFill>
                <a:effectLst/>
                <a:uLnTx/>
                <a:uFillTx/>
                <a:latin typeface="Georgia"/>
                <a:ea typeface="Georgia"/>
                <a:cs typeface="Georgia"/>
              </a:rPr>
              <a:t>Client onboarding</a:t>
            </a:r>
          </a:p>
        </p:txBody>
      </p:sp>
      <p:sp>
        <p:nvSpPr>
          <p:cNvPr id="17" name="stage-body-03">
            <a:extLst>
              <a:ext uri="{FF2B5EF4-FFF2-40B4-BE49-F238E27FC236}">
                <a16:creationId xmlns:a16="http://schemas.microsoft.com/office/drawing/2014/main" id="{B2D09F46-1C22-48C9-BFF5-75FF66E2C876}"/>
              </a:ext>
            </a:extLst>
          </p:cNvPr>
          <p:cNvSpPr>
            <a:spLocks noGrp="1"/>
          </p:cNvSpPr>
          <p:nvPr/>
        </p:nvSpPr>
        <p:spPr>
          <a:xfrm>
            <a:off x="8458200" y="3400425"/>
            <a:ext cx="2971800"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Set up access, connect systems</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and confirm the required data.</a:t>
            </a:r>
          </a:p>
        </p:txBody>
      </p:sp>
      <p:sp>
        <p:nvSpPr>
          <p:cNvPr id="18" name="stage-04">
            <a:extLst>
              <a:ext uri="{FF2B5EF4-FFF2-40B4-BE49-F238E27FC236}">
                <a16:creationId xmlns:a16="http://schemas.microsoft.com/office/drawing/2014/main" id="{CA412E57-576B-4C42-AC48-9BB7321BEA17}"/>
              </a:ext>
            </a:extLst>
          </p:cNvPr>
          <p:cNvSpPr>
            <a:spLocks noGrp="1"/>
          </p:cNvSpPr>
          <p:nvPr/>
        </p:nvSpPr>
        <p:spPr>
          <a:xfrm>
            <a:off x="8305800" y="4429125"/>
            <a:ext cx="3200400" cy="1314450"/>
          </a:xfrm>
          <a:prstGeom prst="rect">
            <a:avLst/>
          </a:prstGeom>
          <a:solidFill>
            <a:srgbClr val="F2F0ED"/>
          </a:solidFill>
          <a:ln w="9525">
            <a:solidFill>
              <a:srgbClr val="E0DDDA"/>
            </a:solidFill>
          </a:ln>
        </p:spPr>
      </p:sp>
      <p:sp>
        <p:nvSpPr>
          <p:cNvPr id="19" name="number-04">
            <a:extLst>
              <a:ext uri="{FF2B5EF4-FFF2-40B4-BE49-F238E27FC236}">
                <a16:creationId xmlns:a16="http://schemas.microsoft.com/office/drawing/2014/main" id="{265C63CC-D0D8-463F-A8B6-147311B3F816}"/>
              </a:ext>
            </a:extLst>
          </p:cNvPr>
          <p:cNvSpPr>
            <a:spLocks noGrp="1"/>
          </p:cNvSpPr>
          <p:nvPr/>
        </p:nvSpPr>
        <p:spPr>
          <a:xfrm>
            <a:off x="8458200" y="4543425"/>
            <a:ext cx="476250" cy="2286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04</a:t>
            </a:r>
          </a:p>
        </p:txBody>
      </p:sp>
      <p:sp>
        <p:nvSpPr>
          <p:cNvPr id="20" name="stage-title-04">
            <a:extLst>
              <a:ext uri="{FF2B5EF4-FFF2-40B4-BE49-F238E27FC236}">
                <a16:creationId xmlns:a16="http://schemas.microsoft.com/office/drawing/2014/main" id="{F1B69E85-36E7-4489-B48A-9FE71A88295C}"/>
              </a:ext>
            </a:extLst>
          </p:cNvPr>
          <p:cNvSpPr>
            <a:spLocks noGrp="1"/>
          </p:cNvSpPr>
          <p:nvPr/>
        </p:nvSpPr>
        <p:spPr>
          <a:xfrm>
            <a:off x="8458200" y="4800600"/>
            <a:ext cx="29432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0F0E0D"/>
                </a:solidFill>
                <a:latin typeface="Georgia"/>
                <a:ea typeface="Georgia"/>
                <a:cs typeface="Georgia"/>
              </a:defRPr>
            </a:pPr>
            <a:r>
              <a:rPr kumimoji="0" sz="1950" b="0" i="0" u="none" strike="noStrike" kern="1200" cap="none" spc="0" normalizeH="0" baseline="0" noProof="0">
                <a:ln>
                  <a:noFill/>
                </a:ln>
                <a:solidFill>
                  <a:srgbClr val="0F0E0D"/>
                </a:solidFill>
                <a:effectLst/>
                <a:uLnTx/>
                <a:uFillTx/>
                <a:latin typeface="Georgia"/>
                <a:ea typeface="Georgia"/>
                <a:cs typeface="Georgia"/>
              </a:rPr>
              <a:t>Automation setup</a:t>
            </a:r>
          </a:p>
        </p:txBody>
      </p:sp>
      <p:sp>
        <p:nvSpPr>
          <p:cNvPr id="21" name="stage-body-04">
            <a:extLst>
              <a:ext uri="{FF2B5EF4-FFF2-40B4-BE49-F238E27FC236}">
                <a16:creationId xmlns:a16="http://schemas.microsoft.com/office/drawing/2014/main" id="{F8FF7CF3-C1D5-47B4-AE00-7E5B6E1E4A25}"/>
              </a:ext>
            </a:extLst>
          </p:cNvPr>
          <p:cNvSpPr>
            <a:spLocks noGrp="1"/>
          </p:cNvSpPr>
          <p:nvPr/>
        </p:nvSpPr>
        <p:spPr>
          <a:xfrm>
            <a:off x="8458200" y="5219700"/>
            <a:ext cx="2971800"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Configure rules, approvals</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and exception handling.</a:t>
            </a:r>
          </a:p>
        </p:txBody>
      </p:sp>
      <p:sp>
        <p:nvSpPr>
          <p:cNvPr id="22" name="stage-05">
            <a:extLst>
              <a:ext uri="{FF2B5EF4-FFF2-40B4-BE49-F238E27FC236}">
                <a16:creationId xmlns:a16="http://schemas.microsoft.com/office/drawing/2014/main" id="{CA62B1B4-B34A-438C-B0D3-92439099BB92}"/>
              </a:ext>
            </a:extLst>
          </p:cNvPr>
          <p:cNvSpPr>
            <a:spLocks noGrp="1"/>
          </p:cNvSpPr>
          <p:nvPr/>
        </p:nvSpPr>
        <p:spPr>
          <a:xfrm>
            <a:off x="4495800" y="4429125"/>
            <a:ext cx="3200400" cy="1314450"/>
          </a:xfrm>
          <a:prstGeom prst="rect">
            <a:avLst/>
          </a:prstGeom>
          <a:solidFill>
            <a:srgbClr val="F2F0ED"/>
          </a:solidFill>
          <a:ln w="9525">
            <a:solidFill>
              <a:srgbClr val="E0DDDA"/>
            </a:solidFill>
          </a:ln>
        </p:spPr>
      </p:sp>
      <p:sp>
        <p:nvSpPr>
          <p:cNvPr id="23" name="number-05">
            <a:extLst>
              <a:ext uri="{FF2B5EF4-FFF2-40B4-BE49-F238E27FC236}">
                <a16:creationId xmlns:a16="http://schemas.microsoft.com/office/drawing/2014/main" id="{9355EB41-F347-4D3F-91FC-3A7FCC4B8623}"/>
              </a:ext>
            </a:extLst>
          </p:cNvPr>
          <p:cNvSpPr>
            <a:spLocks noGrp="1"/>
          </p:cNvSpPr>
          <p:nvPr/>
        </p:nvSpPr>
        <p:spPr>
          <a:xfrm>
            <a:off x="4648200" y="4543425"/>
            <a:ext cx="476250" cy="2286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05</a:t>
            </a:r>
          </a:p>
        </p:txBody>
      </p:sp>
      <p:sp>
        <p:nvSpPr>
          <p:cNvPr id="24" name="stage-title-05">
            <a:extLst>
              <a:ext uri="{FF2B5EF4-FFF2-40B4-BE49-F238E27FC236}">
                <a16:creationId xmlns:a16="http://schemas.microsoft.com/office/drawing/2014/main" id="{9B636D8A-5829-4948-858B-087A520CC31B}"/>
              </a:ext>
            </a:extLst>
          </p:cNvPr>
          <p:cNvSpPr>
            <a:spLocks noGrp="1"/>
          </p:cNvSpPr>
          <p:nvPr/>
        </p:nvSpPr>
        <p:spPr>
          <a:xfrm>
            <a:off x="4648200" y="4800600"/>
            <a:ext cx="29432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0F0E0D"/>
                </a:solidFill>
                <a:latin typeface="Georgia"/>
                <a:ea typeface="Georgia"/>
                <a:cs typeface="Georgia"/>
              </a:defRPr>
            </a:pPr>
            <a:r>
              <a:rPr kumimoji="0" sz="1950" b="0" i="0" u="none" strike="noStrike" kern="1200" cap="none" spc="0" normalizeH="0" baseline="0" noProof="0">
                <a:ln>
                  <a:noFill/>
                </a:ln>
                <a:solidFill>
                  <a:srgbClr val="0F0E0D"/>
                </a:solidFill>
                <a:effectLst/>
                <a:uLnTx/>
                <a:uFillTx/>
                <a:latin typeface="Georgia"/>
                <a:ea typeface="Georgia"/>
                <a:cs typeface="Georgia"/>
              </a:rPr>
              <a:t>Test &amp; approve</a:t>
            </a:r>
          </a:p>
        </p:txBody>
      </p:sp>
      <p:sp>
        <p:nvSpPr>
          <p:cNvPr id="25" name="stage-body-05">
            <a:extLst>
              <a:ext uri="{FF2B5EF4-FFF2-40B4-BE49-F238E27FC236}">
                <a16:creationId xmlns:a16="http://schemas.microsoft.com/office/drawing/2014/main" id="{7ABFA57A-AC56-449C-A805-F8391CFAD420}"/>
              </a:ext>
            </a:extLst>
          </p:cNvPr>
          <p:cNvSpPr>
            <a:spLocks noGrp="1"/>
          </p:cNvSpPr>
          <p:nvPr/>
        </p:nvSpPr>
        <p:spPr>
          <a:xfrm>
            <a:off x="4648200" y="5219700"/>
            <a:ext cx="2971800"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Validate with sample cases;</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review and approve the pilot.</a:t>
            </a:r>
          </a:p>
        </p:txBody>
      </p:sp>
      <p:sp>
        <p:nvSpPr>
          <p:cNvPr id="26" name="stage-06">
            <a:extLst>
              <a:ext uri="{FF2B5EF4-FFF2-40B4-BE49-F238E27FC236}">
                <a16:creationId xmlns:a16="http://schemas.microsoft.com/office/drawing/2014/main" id="{A6EA67D3-6063-48C8-A4BB-133551E4CE7E}"/>
              </a:ext>
            </a:extLst>
          </p:cNvPr>
          <p:cNvSpPr>
            <a:spLocks noGrp="1"/>
          </p:cNvSpPr>
          <p:nvPr/>
        </p:nvSpPr>
        <p:spPr>
          <a:xfrm>
            <a:off x="685800" y="4429125"/>
            <a:ext cx="3200400" cy="1314450"/>
          </a:xfrm>
          <a:prstGeom prst="rect">
            <a:avLst/>
          </a:prstGeom>
          <a:solidFill>
            <a:srgbClr val="F2F0ED"/>
          </a:solidFill>
          <a:ln w="9525">
            <a:solidFill>
              <a:srgbClr val="E0DDDA"/>
            </a:solidFill>
          </a:ln>
        </p:spPr>
      </p:sp>
      <p:sp>
        <p:nvSpPr>
          <p:cNvPr id="27" name="number-06">
            <a:extLst>
              <a:ext uri="{FF2B5EF4-FFF2-40B4-BE49-F238E27FC236}">
                <a16:creationId xmlns:a16="http://schemas.microsoft.com/office/drawing/2014/main" id="{9F6E6881-97ED-4465-9D23-A2B7D87EFE93}"/>
              </a:ext>
            </a:extLst>
          </p:cNvPr>
          <p:cNvSpPr>
            <a:spLocks noGrp="1"/>
          </p:cNvSpPr>
          <p:nvPr/>
        </p:nvSpPr>
        <p:spPr>
          <a:xfrm>
            <a:off x="838200" y="4543425"/>
            <a:ext cx="476250" cy="2286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526859"/>
                </a:solidFill>
                <a:latin typeface="Arial"/>
                <a:ea typeface="Arial"/>
                <a:cs typeface="Arial"/>
              </a:defRPr>
            </a:pPr>
            <a:r>
              <a:rPr kumimoji="0" sz="975" b="0" i="0" u="none" strike="noStrike" kern="1200" cap="none" spc="0" normalizeH="0" baseline="0" noProof="0">
                <a:ln>
                  <a:noFill/>
                </a:ln>
                <a:solidFill>
                  <a:srgbClr val="526859"/>
                </a:solidFill>
                <a:effectLst/>
                <a:uLnTx/>
                <a:uFillTx/>
                <a:latin typeface="Arial"/>
                <a:ea typeface="Arial"/>
                <a:cs typeface="Arial"/>
              </a:rPr>
              <a:t>06</a:t>
            </a:r>
          </a:p>
        </p:txBody>
      </p:sp>
      <p:sp>
        <p:nvSpPr>
          <p:cNvPr id="28" name="stage-title-06">
            <a:extLst>
              <a:ext uri="{FF2B5EF4-FFF2-40B4-BE49-F238E27FC236}">
                <a16:creationId xmlns:a16="http://schemas.microsoft.com/office/drawing/2014/main" id="{D376701C-9E34-4DAF-992C-17516B19579B}"/>
              </a:ext>
            </a:extLst>
          </p:cNvPr>
          <p:cNvSpPr>
            <a:spLocks noGrp="1"/>
          </p:cNvSpPr>
          <p:nvPr/>
        </p:nvSpPr>
        <p:spPr>
          <a:xfrm>
            <a:off x="838200" y="4800600"/>
            <a:ext cx="29432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0F0E0D"/>
                </a:solidFill>
                <a:latin typeface="Georgia"/>
                <a:ea typeface="Georgia"/>
                <a:cs typeface="Georgia"/>
              </a:defRPr>
            </a:pPr>
            <a:r>
              <a:rPr kumimoji="0" sz="1950" b="0" i="0" u="none" strike="noStrike" kern="1200" cap="none" spc="0" normalizeH="0" baseline="0" noProof="0">
                <a:ln>
                  <a:noFill/>
                </a:ln>
                <a:solidFill>
                  <a:srgbClr val="0F0E0D"/>
                </a:solidFill>
                <a:effectLst/>
                <a:uLnTx/>
                <a:uFillTx/>
                <a:latin typeface="Georgia"/>
                <a:ea typeface="Georgia"/>
                <a:cs typeface="Georgia"/>
              </a:rPr>
              <a:t>Operate &amp; improve</a:t>
            </a:r>
          </a:p>
        </p:txBody>
      </p:sp>
      <p:sp>
        <p:nvSpPr>
          <p:cNvPr id="29" name="stage-body-06">
            <a:extLst>
              <a:ext uri="{FF2B5EF4-FFF2-40B4-BE49-F238E27FC236}">
                <a16:creationId xmlns:a16="http://schemas.microsoft.com/office/drawing/2014/main" id="{9E221174-7805-4256-A559-DD4C9BA1A4B0}"/>
              </a:ext>
            </a:extLst>
          </p:cNvPr>
          <p:cNvSpPr>
            <a:spLocks noGrp="1"/>
          </p:cNvSpPr>
          <p:nvPr/>
        </p:nvSpPr>
        <p:spPr>
          <a:xfrm>
            <a:off x="838200" y="5219700"/>
            <a:ext cx="2971800"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Monitor activity, resolve issues</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6B6762"/>
                </a:solidFill>
                <a:latin typeface="Arial"/>
                <a:ea typeface="Arial"/>
                <a:cs typeface="Arial"/>
              </a:defRPr>
            </a:pPr>
            <a:r>
              <a:rPr kumimoji="0" sz="1350" b="0" i="0" u="none" strike="noStrike" kern="1200" cap="none" spc="0" normalizeH="0" baseline="0" noProof="0">
                <a:ln>
                  <a:noFill/>
                </a:ln>
                <a:solidFill>
                  <a:srgbClr val="6B6762"/>
                </a:solidFill>
                <a:effectLst/>
                <a:uLnTx/>
                <a:uFillTx/>
                <a:latin typeface="Arial"/>
                <a:ea typeface="Arial"/>
                <a:cs typeface="Arial"/>
              </a:rPr>
              <a:t>and refine the workflow.</a:t>
            </a:r>
          </a:p>
        </p:txBody>
      </p:sp>
      <p:sp>
        <p:nvSpPr>
          <p:cNvPr id="30" name="flow-forward-422">
            <a:extLst>
              <a:ext uri="{FF2B5EF4-FFF2-40B4-BE49-F238E27FC236}">
                <a16:creationId xmlns:a16="http://schemas.microsoft.com/office/drawing/2014/main" id="{00236BA4-8051-4447-84A8-61D77122A87D}"/>
              </a:ext>
            </a:extLst>
          </p:cNvPr>
          <p:cNvSpPr>
            <a:spLocks noGrp="1"/>
          </p:cNvSpPr>
          <p:nvPr/>
        </p:nvSpPr>
        <p:spPr>
          <a:xfrm>
            <a:off x="4019550" y="3133725"/>
            <a:ext cx="342900" cy="171450"/>
          </a:xfrm>
          <a:prstGeom prst="rightArrow">
            <a:avLst/>
          </a:prstGeom>
          <a:solidFill>
            <a:srgbClr val="526859"/>
          </a:solidFill>
          <a:ln w="0">
            <a:noFill/>
          </a:ln>
        </p:spPr>
      </p:sp>
      <p:sp>
        <p:nvSpPr>
          <p:cNvPr id="31" name="flow-forward-822">
            <a:extLst>
              <a:ext uri="{FF2B5EF4-FFF2-40B4-BE49-F238E27FC236}">
                <a16:creationId xmlns:a16="http://schemas.microsoft.com/office/drawing/2014/main" id="{A354A41C-B42F-467D-90BB-783B23A20B09}"/>
              </a:ext>
            </a:extLst>
          </p:cNvPr>
          <p:cNvSpPr>
            <a:spLocks noGrp="1"/>
          </p:cNvSpPr>
          <p:nvPr/>
        </p:nvSpPr>
        <p:spPr>
          <a:xfrm>
            <a:off x="7829550" y="3133725"/>
            <a:ext cx="342900" cy="171450"/>
          </a:xfrm>
          <a:prstGeom prst="rightArrow">
            <a:avLst/>
          </a:prstGeom>
          <a:solidFill>
            <a:srgbClr val="526859"/>
          </a:solidFill>
          <a:ln w="0">
            <a:noFill/>
          </a:ln>
        </p:spPr>
      </p:sp>
      <p:sp>
        <p:nvSpPr>
          <p:cNvPr id="32" name="flow-onboard-build">
            <a:extLst>
              <a:ext uri="{FF2B5EF4-FFF2-40B4-BE49-F238E27FC236}">
                <a16:creationId xmlns:a16="http://schemas.microsoft.com/office/drawing/2014/main" id="{252513EA-FEAD-42F7-A765-C000662D4046}"/>
              </a:ext>
            </a:extLst>
          </p:cNvPr>
          <p:cNvSpPr>
            <a:spLocks noGrp="1"/>
          </p:cNvSpPr>
          <p:nvPr/>
        </p:nvSpPr>
        <p:spPr>
          <a:xfrm>
            <a:off x="9820275" y="4038600"/>
            <a:ext cx="171450" cy="276225"/>
          </a:xfrm>
          <a:prstGeom prst="downArrow">
            <a:avLst/>
          </a:prstGeom>
          <a:solidFill>
            <a:srgbClr val="526859"/>
          </a:solidFill>
          <a:ln w="0">
            <a:noFill/>
          </a:ln>
        </p:spPr>
      </p:sp>
      <p:sp>
        <p:nvSpPr>
          <p:cNvPr id="33" name="flow-continue-422">
            <a:extLst>
              <a:ext uri="{FF2B5EF4-FFF2-40B4-BE49-F238E27FC236}">
                <a16:creationId xmlns:a16="http://schemas.microsoft.com/office/drawing/2014/main" id="{3B7F26C2-6EE7-4D3B-AD37-2CD17D27D5D5}"/>
              </a:ext>
            </a:extLst>
          </p:cNvPr>
          <p:cNvSpPr>
            <a:spLocks noGrp="1"/>
          </p:cNvSpPr>
          <p:nvPr/>
        </p:nvSpPr>
        <p:spPr>
          <a:xfrm>
            <a:off x="4019550" y="4953000"/>
            <a:ext cx="342900" cy="171450"/>
          </a:xfrm>
          <a:prstGeom prst="leftArrow">
            <a:avLst/>
          </a:prstGeom>
          <a:solidFill>
            <a:srgbClr val="526859"/>
          </a:solidFill>
          <a:ln w="0">
            <a:noFill/>
          </a:ln>
        </p:spPr>
      </p:sp>
      <p:sp>
        <p:nvSpPr>
          <p:cNvPr id="34" name="flow-continue-822">
            <a:extLst>
              <a:ext uri="{FF2B5EF4-FFF2-40B4-BE49-F238E27FC236}">
                <a16:creationId xmlns:a16="http://schemas.microsoft.com/office/drawing/2014/main" id="{39C3ACA9-558A-4088-8391-42088B7DD23E}"/>
              </a:ext>
            </a:extLst>
          </p:cNvPr>
          <p:cNvSpPr>
            <a:spLocks noGrp="1"/>
          </p:cNvSpPr>
          <p:nvPr/>
        </p:nvSpPr>
        <p:spPr>
          <a:xfrm>
            <a:off x="7829550" y="4953000"/>
            <a:ext cx="342900" cy="171450"/>
          </a:xfrm>
          <a:prstGeom prst="leftArrow">
            <a:avLst/>
          </a:prstGeom>
          <a:solidFill>
            <a:srgbClr val="526859"/>
          </a:solidFill>
          <a:ln w="0">
            <a:noFill/>
          </a:ln>
        </p:spPr>
      </p:sp>
      <p:sp>
        <p:nvSpPr>
          <p:cNvPr id="35" name="footer">
            <a:extLst>
              <a:ext uri="{FF2B5EF4-FFF2-40B4-BE49-F238E27FC236}">
                <a16:creationId xmlns:a16="http://schemas.microsoft.com/office/drawing/2014/main" id="{B8FC6001-3446-4695-8BDD-5ED2CEB384D3}"/>
              </a:ext>
            </a:extLst>
          </p:cNvPr>
          <p:cNvSpPr>
            <a:spLocks noGrp="1"/>
          </p:cNvSpPr>
          <p:nvPr/>
        </p:nvSpPr>
        <p:spPr>
          <a:xfrm>
            <a:off x="685800" y="6124575"/>
            <a:ext cx="10820400" cy="304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b="0">
                <a:solidFill>
                  <a:srgbClr val="6B6762"/>
                </a:solidFill>
                <a:latin typeface="Arial"/>
                <a:ea typeface="Arial"/>
                <a:cs typeface="Arial"/>
              </a:defRPr>
            </a:pPr>
            <a:r>
              <a:rPr kumimoji="0" sz="975" b="0" i="0" u="none" strike="noStrike" kern="1200" cap="none" spc="0" normalizeH="0" baseline="0" noProof="0">
                <a:ln>
                  <a:noFill/>
                </a:ln>
                <a:solidFill>
                  <a:srgbClr val="6B6762"/>
                </a:solidFill>
                <a:effectLst/>
                <a:uLnTx/>
                <a:uFillTx/>
                <a:latin typeface="Arial"/>
                <a:ea typeface="Arial"/>
                <a:cs typeface="Arial"/>
              </a:rPr>
              <a:t>PREPRODUCTION  /  The scope and launch criteria are agreed before the pilot begins.</a:t>
            </a:r>
          </a:p>
        </p:txBody>
      </p:sp>
    </p:spTree>
    <p:extLst>
      <p:ext uri="{BB962C8B-B14F-4D97-AF65-F5344CB8AC3E}">
        <p14:creationId xmlns:p14="http://schemas.microsoft.com/office/powerpoint/2010/main" val="1604518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E0D"/>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232A323-18FE-428B-8E7B-D286FD4CA1A6}"/>
              </a:ext>
            </a:extLst>
          </p:cNvPr>
          <p:cNvSpPr>
            <a:spLocks noGrp="1"/>
          </p:cNvSpPr>
          <p:nvPr/>
        </p:nvSpPr>
        <p:spPr>
          <a:xfrm>
            <a:off x="685800" y="342900"/>
            <a:ext cx="6667500" cy="266700"/>
          </a:xfrm>
          <a:prstGeom prst="rect">
            <a:avLst/>
          </a:prstGeom>
          <a:noFill/>
          <a:ln w="0">
            <a:noFill/>
            <a:prstDash val="solid"/>
          </a:ln>
        </p:spPr>
        <p:txBody>
          <a:bodyPr>
            <a:noAutofit/>
          </a:bodyPr>
          <a:lstStyle/>
          <a:p>
            <a:pPr>
              <a:buNone/>
              <a:defRPr sz="975" b="0">
                <a:solidFill>
                  <a:srgbClr val="BDB7AE"/>
                </a:solidFill>
                <a:latin typeface="Arial"/>
                <a:ea typeface="Arial"/>
                <a:cs typeface="Arial"/>
              </a:defRPr>
            </a:pPr>
            <a:r>
              <a:rPr sz="975" b="0">
                <a:solidFill>
                  <a:srgbClr val="BDB7AE"/>
                </a:solidFill>
                <a:latin typeface="Arial"/>
                <a:ea typeface="Arial"/>
                <a:cs typeface="Arial"/>
              </a:rPr>
              <a:t>PRIME STATE SYSTEMS  /  PROPOSED PILOT</a:t>
            </a:r>
          </a:p>
        </p:txBody>
      </p:sp>
      <p:sp>
        <p:nvSpPr>
          <p:cNvPr id="2" name="Rectangle 1">
            <a:extLst>
              <a:ext uri="{FF2B5EF4-FFF2-40B4-BE49-F238E27FC236}">
                <a16:creationId xmlns:a16="http://schemas.microsoft.com/office/drawing/2014/main" id="{1B9F80C9-FCA1-4C66-981F-7F975055AF45}"/>
              </a:ext>
            </a:extLst>
          </p:cNvPr>
          <p:cNvSpPr>
            <a:spLocks noGrp="1"/>
          </p:cNvSpPr>
          <p:nvPr/>
        </p:nvSpPr>
        <p:spPr>
          <a:xfrm>
            <a:off x="10953750" y="342900"/>
            <a:ext cx="552450" cy="190500"/>
          </a:xfrm>
          <a:prstGeom prst="rect">
            <a:avLst/>
          </a:prstGeom>
          <a:noFill/>
          <a:ln w="0">
            <a:noFill/>
            <a:prstDash val="solid"/>
          </a:ln>
        </p:spPr>
        <p:txBody>
          <a:bodyPr>
            <a:noAutofit/>
          </a:bodyPr>
          <a:lstStyle/>
          <a:p>
            <a:pPr>
              <a:buNone/>
              <a:defRPr sz="975" b="0">
                <a:solidFill>
                  <a:srgbClr val="BDB7AE"/>
                </a:solidFill>
                <a:latin typeface="Arial"/>
                <a:ea typeface="Arial"/>
                <a:cs typeface="Arial"/>
              </a:defRPr>
            </a:pPr>
            <a:r>
              <a:rPr sz="975" b="0">
                <a:solidFill>
                  <a:srgbClr val="BDB7AE"/>
                </a:solidFill>
                <a:latin typeface="Arial"/>
                <a:ea typeface="Arial"/>
                <a:cs typeface="Arial"/>
              </a:rPr>
              <a:t>03</a:t>
            </a:r>
          </a:p>
        </p:txBody>
      </p:sp>
      <p:sp>
        <p:nvSpPr>
          <p:cNvPr id="3" name="Rectangle 2">
            <a:extLst>
              <a:ext uri="{FF2B5EF4-FFF2-40B4-BE49-F238E27FC236}">
                <a16:creationId xmlns:a16="http://schemas.microsoft.com/office/drawing/2014/main" id="{C78CC6A8-E04D-4E9C-9405-3F0A3DF40B71}"/>
              </a:ext>
            </a:extLst>
          </p:cNvPr>
          <p:cNvSpPr>
            <a:spLocks noGrp="1"/>
          </p:cNvSpPr>
          <p:nvPr/>
        </p:nvSpPr>
        <p:spPr>
          <a:xfrm>
            <a:off x="685800" y="1447800"/>
            <a:ext cx="7239000" cy="1476375"/>
          </a:xfrm>
          <a:prstGeom prst="rect">
            <a:avLst/>
          </a:prstGeom>
          <a:noFill/>
          <a:ln w="0">
            <a:noFill/>
            <a:prstDash val="solid"/>
          </a:ln>
        </p:spPr>
        <p:txBody>
          <a:bodyPr>
            <a:noAutofit/>
          </a:bodyPr>
          <a:lstStyle/>
          <a:p>
            <a:pPr>
              <a:buNone/>
              <a:defRPr sz="3675" b="0">
                <a:solidFill>
                  <a:srgbClr val="FEFDFC"/>
                </a:solidFill>
                <a:latin typeface="Georgia"/>
                <a:ea typeface="Georgia"/>
                <a:cs typeface="Georgia"/>
              </a:defRPr>
            </a:pPr>
            <a:r>
              <a:rPr sz="3675" b="0">
                <a:solidFill>
                  <a:srgbClr val="FEFDFC"/>
                </a:solidFill>
                <a:latin typeface="Georgia"/>
                <a:ea typeface="Georgia"/>
                <a:cs typeface="Georgia"/>
              </a:rPr>
              <a:t>Begin with one</a:t>
            </a:r>
          </a:p>
          <a:p>
            <a:pPr>
              <a:buNone/>
              <a:defRPr sz="3675" b="0">
                <a:solidFill>
                  <a:srgbClr val="FEFDFC"/>
                </a:solidFill>
                <a:latin typeface="Georgia"/>
                <a:ea typeface="Georgia"/>
                <a:cs typeface="Georgia"/>
              </a:defRPr>
            </a:pPr>
            <a:r>
              <a:rPr sz="3675" b="0">
                <a:solidFill>
                  <a:srgbClr val="FEFDFC"/>
                </a:solidFill>
                <a:latin typeface="Georgia"/>
                <a:ea typeface="Georgia"/>
                <a:cs typeface="Georgia"/>
              </a:rPr>
              <a:t>important workflow</a:t>
            </a:r>
          </a:p>
        </p:txBody>
      </p:sp>
      <p:sp>
        <p:nvSpPr>
          <p:cNvPr id="4" name="Rectangle 3">
            <a:extLst>
              <a:ext uri="{FF2B5EF4-FFF2-40B4-BE49-F238E27FC236}">
                <a16:creationId xmlns:a16="http://schemas.microsoft.com/office/drawing/2014/main" id="{EA180DEB-48A2-467D-8183-351F84BBCAA7}"/>
              </a:ext>
            </a:extLst>
          </p:cNvPr>
          <p:cNvSpPr>
            <a:spLocks noGrp="1"/>
          </p:cNvSpPr>
          <p:nvPr/>
        </p:nvSpPr>
        <p:spPr>
          <a:xfrm>
            <a:off x="723900" y="3333750"/>
            <a:ext cx="5619750" cy="1095375"/>
          </a:xfrm>
          <a:prstGeom prst="rect">
            <a:avLst/>
          </a:prstGeom>
          <a:noFill/>
          <a:ln w="0">
            <a:noFill/>
            <a:prstDash val="solid"/>
          </a:ln>
        </p:spPr>
        <p:txBody>
          <a:bodyPr>
            <a:noAutofit/>
          </a:bodyPr>
          <a:lstStyle/>
          <a:p>
            <a:pPr>
              <a:buNone/>
              <a:defRPr sz="1725" b="0">
                <a:solidFill>
                  <a:srgbClr val="E0DDDA"/>
                </a:solidFill>
                <a:latin typeface="Arial"/>
                <a:ea typeface="Arial"/>
                <a:cs typeface="Arial"/>
              </a:defRPr>
            </a:pPr>
            <a:r>
              <a:rPr sz="1725" b="0">
                <a:solidFill>
                  <a:srgbClr val="E0DDDA"/>
                </a:solidFill>
                <a:latin typeface="Arial"/>
                <a:ea typeface="Arial"/>
                <a:cs typeface="Arial"/>
              </a:rPr>
              <a:t>Define the process, connect the required systems, and evaluate execution before expanding the scope.</a:t>
            </a:r>
          </a:p>
        </p:txBody>
      </p:sp>
      <p:sp>
        <p:nvSpPr>
          <p:cNvPr id="5" name="Rectangle: Rounded Corners 4">
            <a:extLst>
              <a:ext uri="{FF2B5EF4-FFF2-40B4-BE49-F238E27FC236}">
                <a16:creationId xmlns:a16="http://schemas.microsoft.com/office/drawing/2014/main" id="{0C3C6B4D-38A4-4091-966B-7E074CD42943}"/>
              </a:ext>
            </a:extLst>
          </p:cNvPr>
          <p:cNvSpPr>
            <a:spLocks noGrp="1"/>
          </p:cNvSpPr>
          <p:nvPr/>
        </p:nvSpPr>
        <p:spPr>
          <a:xfrm>
            <a:off x="723900" y="4953000"/>
            <a:ext cx="4572000" cy="533400"/>
          </a:xfrm>
          <a:prstGeom prst="roundRect">
            <a:avLst>
              <a:gd name="adj" fmla="val 22222"/>
            </a:avLst>
          </a:prstGeom>
          <a:solidFill>
            <a:srgbClr val="D9CDBD"/>
          </a:solidFill>
          <a:ln w="9525">
            <a:solidFill>
              <a:srgbClr val="D9CDBD"/>
            </a:solidFill>
            <a:prstDash val="solid"/>
          </a:ln>
        </p:spPr>
        <p:txBody>
          <a:bodyPr/>
          <a:lstStyle/>
          <a:p>
            <a:endParaRPr/>
          </a:p>
        </p:txBody>
      </p:sp>
      <p:sp>
        <p:nvSpPr>
          <p:cNvPr id="6" name="Rectangle 5">
            <a:extLst>
              <a:ext uri="{FF2B5EF4-FFF2-40B4-BE49-F238E27FC236}">
                <a16:creationId xmlns:a16="http://schemas.microsoft.com/office/drawing/2014/main" id="{7CD300CE-02FC-428D-B0EB-378E209E1124}"/>
              </a:ext>
            </a:extLst>
          </p:cNvPr>
          <p:cNvSpPr>
            <a:spLocks noGrp="1"/>
          </p:cNvSpPr>
          <p:nvPr/>
        </p:nvSpPr>
        <p:spPr>
          <a:xfrm>
            <a:off x="914400" y="5067300"/>
            <a:ext cx="4191000" cy="304800"/>
          </a:xfrm>
          <a:prstGeom prst="rect">
            <a:avLst/>
          </a:prstGeom>
          <a:noFill/>
          <a:ln w="0">
            <a:noFill/>
            <a:prstDash val="solid"/>
          </a:ln>
        </p:spPr>
        <p:txBody>
          <a:bodyPr>
            <a:noAutofit/>
          </a:bodyPr>
          <a:lstStyle/>
          <a:p>
            <a:pPr>
              <a:buNone/>
              <a:defRPr sz="1275" b="0">
                <a:solidFill>
                  <a:srgbClr val="0F0E0D"/>
                </a:solidFill>
                <a:latin typeface="Arial"/>
                <a:ea typeface="Arial"/>
                <a:cs typeface="Arial"/>
              </a:defRPr>
            </a:pPr>
            <a:r>
              <a:rPr sz="1275" b="0">
                <a:solidFill>
                  <a:srgbClr val="0F0E0D"/>
                </a:solidFill>
                <a:latin typeface="Arial"/>
                <a:ea typeface="Arial"/>
                <a:cs typeface="Arial"/>
              </a:rPr>
              <a:t>AGREE THE FIRST WORKFLOW</a:t>
            </a:r>
          </a:p>
        </p:txBody>
      </p:sp>
      <p:sp>
        <p:nvSpPr>
          <p:cNvPr id="7" name="Rectangle 6">
            <a:extLst>
              <a:ext uri="{FF2B5EF4-FFF2-40B4-BE49-F238E27FC236}">
                <a16:creationId xmlns:a16="http://schemas.microsoft.com/office/drawing/2014/main" id="{55C5A7E4-3F59-406E-9437-6A842BA74AEA}"/>
              </a:ext>
            </a:extLst>
          </p:cNvPr>
          <p:cNvSpPr>
            <a:spLocks noGrp="1"/>
          </p:cNvSpPr>
          <p:nvPr/>
        </p:nvSpPr>
        <p:spPr>
          <a:xfrm>
            <a:off x="723900" y="6076950"/>
            <a:ext cx="9525000" cy="238125"/>
          </a:xfrm>
          <a:prstGeom prst="rect">
            <a:avLst/>
          </a:prstGeom>
          <a:noFill/>
          <a:ln w="0">
            <a:noFill/>
            <a:prstDash val="solid"/>
          </a:ln>
        </p:spPr>
        <p:txBody>
          <a:bodyPr>
            <a:noAutofit/>
          </a:bodyPr>
          <a:lstStyle/>
          <a:p>
            <a:pPr>
              <a:buNone/>
              <a:defRPr sz="900" b="0">
                <a:solidFill>
                  <a:srgbClr val="D8CFC1"/>
                </a:solidFill>
                <a:latin typeface="Arial"/>
                <a:ea typeface="Arial"/>
                <a:cs typeface="Arial"/>
              </a:defRPr>
            </a:pPr>
            <a:r>
              <a:rPr sz="900" b="0">
                <a:solidFill>
                  <a:srgbClr val="D8CFC1"/>
                </a:solidFill>
                <a:latin typeface="Arial"/>
                <a:ea typeface="Arial"/>
                <a:cs typeface="Arial"/>
              </a:rPr>
              <a:t>PREPRODUCTION  /  SCOPE AND SUCCESS CRITERIA TO BE AGREED</a:t>
            </a:r>
          </a:p>
        </p:txBody>
      </p:sp>
      <p:sp>
        <p:nvSpPr>
          <p:cNvPr id="9" name="Rectangle 8">
            <a:extLst>
              <a:ext uri="{FF2B5EF4-FFF2-40B4-BE49-F238E27FC236}">
                <a16:creationId xmlns:a16="http://schemas.microsoft.com/office/drawing/2014/main" id="{7E911DDC-07C2-4483-97CB-59EE955E20C6}"/>
              </a:ext>
            </a:extLst>
          </p:cNvPr>
          <p:cNvSpPr>
            <a:spLocks noGrp="1"/>
          </p:cNvSpPr>
          <p:nvPr/>
        </p:nvSpPr>
        <p:spPr>
          <a:xfrm>
            <a:off x="8096250" y="1619250"/>
            <a:ext cx="3143250" cy="952500"/>
          </a:xfrm>
          <a:prstGeom prst="rect">
            <a:avLst/>
          </a:prstGeom>
          <a:noFill/>
          <a:ln w="0">
            <a:noFill/>
          </a:ln>
        </p:spPr>
        <p:txBody>
          <a:bodyPr>
            <a:noAutofit/>
          </a:bodyPr>
          <a:lstStyle/>
          <a:p>
            <a:pPr>
              <a:defRPr sz="975">
                <a:solidFill>
                  <a:srgbClr val="BDB7AE"/>
                </a:solidFill>
                <a:latin typeface="Arial"/>
                <a:ea typeface="Arial"/>
                <a:cs typeface="Arial"/>
              </a:defRPr>
            </a:pPr>
            <a:r>
              <a:rPr sz="975">
                <a:solidFill>
                  <a:srgbClr val="BDB7AE"/>
                </a:solidFill>
                <a:latin typeface="Arial"/>
                <a:ea typeface="Arial"/>
                <a:cs typeface="Arial"/>
              </a:rPr>
              <a:t>PILOT EVALUATION</a:t>
            </a:r>
          </a:p>
        </p:txBody>
      </p:sp>
      <p:sp>
        <p:nvSpPr>
          <p:cNvPr id="10" name="Rectangle 9">
            <a:extLst>
              <a:ext uri="{FF2B5EF4-FFF2-40B4-BE49-F238E27FC236}">
                <a16:creationId xmlns:a16="http://schemas.microsoft.com/office/drawing/2014/main" id="{D832C94B-A7E3-46ED-8D11-0B801AC19824}"/>
              </a:ext>
            </a:extLst>
          </p:cNvPr>
          <p:cNvSpPr>
            <a:spLocks noGrp="1"/>
          </p:cNvSpPr>
          <p:nvPr/>
        </p:nvSpPr>
        <p:spPr>
          <a:xfrm>
            <a:off x="8096250" y="2105025"/>
            <a:ext cx="3143250" cy="952500"/>
          </a:xfrm>
          <a:prstGeom prst="rect">
            <a:avLst/>
          </a:prstGeom>
          <a:noFill/>
          <a:ln w="0">
            <a:noFill/>
          </a:ln>
        </p:spPr>
        <p:txBody>
          <a:bodyPr>
            <a:noAutofit/>
          </a:bodyPr>
          <a:lstStyle/>
          <a:p>
            <a:pPr>
              <a:defRPr sz="1575">
                <a:solidFill>
                  <a:srgbClr val="FEFDFC"/>
                </a:solidFill>
                <a:latin typeface="Arial"/>
                <a:ea typeface="Arial"/>
                <a:cs typeface="Arial"/>
              </a:defRPr>
            </a:pPr>
            <a:r>
              <a:rPr sz="1575">
                <a:solidFill>
                  <a:srgbClr val="FEFDFC"/>
                </a:solidFill>
                <a:latin typeface="Arial"/>
                <a:ea typeface="Arial"/>
                <a:cs typeface="Arial"/>
              </a:rPr>
              <a:t>Process agreed</a:t>
            </a:r>
          </a:p>
          <a:p>
            <a:pPr>
              <a:defRPr sz="1575">
                <a:solidFill>
                  <a:srgbClr val="FEFDFC"/>
                </a:solidFill>
                <a:latin typeface="Arial"/>
                <a:ea typeface="Arial"/>
                <a:cs typeface="Arial"/>
              </a:defRPr>
            </a:pPr>
            <a:r>
              <a:rPr sz="1575">
                <a:solidFill>
                  <a:srgbClr val="FEFDFC"/>
                </a:solidFill>
                <a:latin typeface="Arial"/>
                <a:ea typeface="Arial"/>
                <a:cs typeface="Arial"/>
              </a:rPr>
              <a:t>Rules, ownership, exceptions</a:t>
            </a:r>
          </a:p>
        </p:txBody>
      </p:sp>
      <p:sp>
        <p:nvSpPr>
          <p:cNvPr id="11" name="Rectangle 10">
            <a:extLst>
              <a:ext uri="{FF2B5EF4-FFF2-40B4-BE49-F238E27FC236}">
                <a16:creationId xmlns:a16="http://schemas.microsoft.com/office/drawing/2014/main" id="{4D9C733D-C922-4DF9-9502-7040A9FFA7F5}"/>
              </a:ext>
            </a:extLst>
          </p:cNvPr>
          <p:cNvSpPr>
            <a:spLocks noGrp="1"/>
          </p:cNvSpPr>
          <p:nvPr/>
        </p:nvSpPr>
        <p:spPr>
          <a:xfrm>
            <a:off x="8096250" y="3200400"/>
            <a:ext cx="3143250" cy="952500"/>
          </a:xfrm>
          <a:prstGeom prst="rect">
            <a:avLst/>
          </a:prstGeom>
          <a:noFill/>
          <a:ln w="0">
            <a:noFill/>
          </a:ln>
        </p:spPr>
        <p:txBody>
          <a:bodyPr>
            <a:noAutofit/>
          </a:bodyPr>
          <a:lstStyle/>
          <a:p>
            <a:pPr>
              <a:defRPr sz="1575">
                <a:solidFill>
                  <a:srgbClr val="FEFDFC"/>
                </a:solidFill>
                <a:latin typeface="Arial"/>
                <a:ea typeface="Arial"/>
                <a:cs typeface="Arial"/>
              </a:defRPr>
            </a:pPr>
            <a:r>
              <a:rPr sz="1575">
                <a:solidFill>
                  <a:srgbClr val="FEFDFC"/>
                </a:solidFill>
                <a:latin typeface="Arial"/>
                <a:ea typeface="Arial"/>
                <a:cs typeface="Arial"/>
              </a:rPr>
              <a:t>Execution observed</a:t>
            </a:r>
          </a:p>
          <a:p>
            <a:pPr>
              <a:defRPr sz="1575">
                <a:solidFill>
                  <a:srgbClr val="FEFDFC"/>
                </a:solidFill>
                <a:latin typeface="Arial"/>
                <a:ea typeface="Arial"/>
                <a:cs typeface="Arial"/>
              </a:defRPr>
            </a:pPr>
            <a:r>
              <a:rPr sz="1575">
                <a:solidFill>
                  <a:srgbClr val="FEFDFC"/>
                </a:solidFill>
                <a:latin typeface="Arial"/>
                <a:ea typeface="Arial"/>
                <a:cs typeface="Arial"/>
              </a:rPr>
              <a:t>Activity and audit history</a:t>
            </a:r>
          </a:p>
        </p:txBody>
      </p:sp>
      <p:sp>
        <p:nvSpPr>
          <p:cNvPr id="12" name="Rectangle 11">
            <a:extLst>
              <a:ext uri="{FF2B5EF4-FFF2-40B4-BE49-F238E27FC236}">
                <a16:creationId xmlns:a16="http://schemas.microsoft.com/office/drawing/2014/main" id="{2F1B52E5-2BDC-4D3C-865A-7815BF4FC9FC}"/>
              </a:ext>
            </a:extLst>
          </p:cNvPr>
          <p:cNvSpPr>
            <a:spLocks noGrp="1"/>
          </p:cNvSpPr>
          <p:nvPr/>
        </p:nvSpPr>
        <p:spPr>
          <a:xfrm>
            <a:off x="8096250" y="4295775"/>
            <a:ext cx="3143250" cy="952500"/>
          </a:xfrm>
          <a:prstGeom prst="rect">
            <a:avLst/>
          </a:prstGeom>
          <a:noFill/>
          <a:ln w="0">
            <a:noFill/>
          </a:ln>
        </p:spPr>
        <p:txBody>
          <a:bodyPr>
            <a:noAutofit/>
          </a:bodyPr>
          <a:lstStyle/>
          <a:p>
            <a:pPr>
              <a:defRPr sz="1575">
                <a:solidFill>
                  <a:srgbClr val="FEFDFC"/>
                </a:solidFill>
                <a:latin typeface="Arial"/>
                <a:ea typeface="Arial"/>
                <a:cs typeface="Arial"/>
              </a:defRPr>
            </a:pPr>
            <a:r>
              <a:rPr sz="1575">
                <a:solidFill>
                  <a:srgbClr val="FEFDFC"/>
                </a:solidFill>
                <a:latin typeface="Arial"/>
                <a:ea typeface="Arial"/>
                <a:cs typeface="Arial"/>
              </a:rPr>
              <a:t>Results reviewed</a:t>
            </a:r>
          </a:p>
          <a:p>
            <a:pPr>
              <a:defRPr sz="1575">
                <a:solidFill>
                  <a:srgbClr val="FEFDFC"/>
                </a:solidFill>
                <a:latin typeface="Arial"/>
                <a:ea typeface="Arial"/>
                <a:cs typeface="Arial"/>
              </a:defRPr>
            </a:pPr>
            <a:r>
              <a:rPr sz="1575">
                <a:solidFill>
                  <a:srgbClr val="FEFDFC"/>
                </a:solidFill>
                <a:latin typeface="Arial"/>
                <a:ea typeface="Arial"/>
                <a:cs typeface="Arial"/>
              </a:rPr>
              <a:t>Baseline and pilot comparison</a:t>
            </a:r>
          </a:p>
        </p:txBody>
      </p:sp>
    </p:spTree>
    <p:extLst>
      <p:ext uri="{BB962C8B-B14F-4D97-AF65-F5344CB8AC3E}">
        <p14:creationId xmlns:p14="http://schemas.microsoft.com/office/powerpoint/2010/main" val="2257913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423</Words>
  <Application>Microsoft Office PowerPoint</Application>
  <DocSecurity>0</DocSecurity>
  <PresentationFormat>Widescreen</PresentationFormat>
  <Paragraphs>62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Bahnschrift</vt:lpstr>
      <vt:lpstr>Calibri</vt:lpstr>
      <vt:lpstr>Georgia</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vee .</cp:lastModifiedBy>
  <cp:revision>1</cp:revision>
  <dcterms:created xsi:type="dcterms:W3CDTF">2026-09-08T05:15:30Z</dcterms:created>
  <dcterms:modified xsi:type="dcterms:W3CDTF">2026-09-08T05:25:36Z</dcterms:modified>
</cp:coreProperties>
</file>