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f60811b8df4ba2" /><Relationship Type="http://schemas.openxmlformats.org/officeDocument/2006/relationships/extended-properties" Target="/docProps/app.xml" Id="R74ad997e20b84f53" /><Relationship Type="http://schemas.openxmlformats.org/officeDocument/2006/relationships/officeDocument" Target="/ppt/presentation.xml" Id="R78cd23bab5644b6f" /></Relationships>
</file>

<file path=ppt/presentation.xml><?xml version="1.0" encoding="utf-8"?>
<p:presentation xmlns:p="http://schemas.openxmlformats.org/presentationml/2006/main">
  <p:sldMasterIdLst>
    <p:sldMasterId xmlns:r="http://schemas.openxmlformats.org/officeDocument/2006/relationships" id="2147483648" r:id="Rf0b8f9aa883749f4"/>
  </p:sldMasterIdLst>
  <p:notesMasterIdLst>
    <p:notesMasterId xmlns:r="http://schemas.openxmlformats.org/officeDocument/2006/relationships" r:id="R0bbdf4ba95064c16"/>
  </p:notesMasterIdLst>
  <p:sldIdLst>
    <p:sldId xmlns:r="http://schemas.openxmlformats.org/officeDocument/2006/relationships" id="256" r:id="R490c623bf2234d4a"/>
    <p:sldId xmlns:r="http://schemas.openxmlformats.org/officeDocument/2006/relationships" id="257" r:id="R39ea8c4f82ff4c40"/>
    <p:sldId xmlns:r="http://schemas.openxmlformats.org/officeDocument/2006/relationships" id="258" r:id="R1654f369c8374d58"/>
    <p:sldId xmlns:r="http://schemas.openxmlformats.org/officeDocument/2006/relationships" id="259" r:id="Rf5f5a9feacec42ae"/>
    <p:sldId xmlns:r="http://schemas.openxmlformats.org/officeDocument/2006/relationships" id="260" r:id="R0fc11924aff74a95"/>
    <p:sldId xmlns:r="http://schemas.openxmlformats.org/officeDocument/2006/relationships" id="261" r:id="R11f6b934802a4b2e"/>
    <p:sldId xmlns:r="http://schemas.openxmlformats.org/officeDocument/2006/relationships" id="262" r:id="R5ca529e334994a77"/>
    <p:sldId xmlns:r="http://schemas.openxmlformats.org/officeDocument/2006/relationships" id="263" r:id="R38f6253caf1c4b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9147f33ead479c" /><Relationship Type="http://schemas.openxmlformats.org/officeDocument/2006/relationships/slideMaster" Target="/ppt/slideMasters/slideMaster1.xml" Id="Rf0b8f9aa883749f4" /><Relationship Type="http://schemas.openxmlformats.org/officeDocument/2006/relationships/notesMaster" Target="/ppt/notesMasters/notesMaster1.xml" Id="R0bbdf4ba95064c16" /><Relationship Type="http://schemas.openxmlformats.org/officeDocument/2006/relationships/presProps" Target="/ppt/presProps.xml" Id="R68974f47c9b340a7" /><Relationship Type="http://schemas.openxmlformats.org/officeDocument/2006/relationships/tableStyles" Target="/ppt/tableStyles.xml" Id="R304fdff4cff54e3d" /><Relationship Type="http://schemas.openxmlformats.org/officeDocument/2006/relationships/slide" Target="/ppt/slides/slide1.xml" Id="R490c623bf2234d4a" /><Relationship Type="http://schemas.openxmlformats.org/officeDocument/2006/relationships/slide" Target="/ppt/slides/slide2.xml" Id="R39ea8c4f82ff4c40" /><Relationship Type="http://schemas.openxmlformats.org/officeDocument/2006/relationships/slide" Target="/ppt/slides/slide3.xml" Id="R1654f369c8374d58" /><Relationship Type="http://schemas.openxmlformats.org/officeDocument/2006/relationships/slide" Target="/ppt/slides/slide4.xml" Id="Rf5f5a9feacec42ae" /><Relationship Type="http://schemas.openxmlformats.org/officeDocument/2006/relationships/slide" Target="/ppt/slides/slide5.xml" Id="R0fc11924aff74a95" /><Relationship Type="http://schemas.openxmlformats.org/officeDocument/2006/relationships/slide" Target="/ppt/slides/slide6.xml" Id="R11f6b934802a4b2e" /><Relationship Type="http://schemas.openxmlformats.org/officeDocument/2006/relationships/slide" Target="/ppt/slides/slide7.xml" Id="R5ca529e334994a77" /><Relationship Type="http://schemas.openxmlformats.org/officeDocument/2006/relationships/slide" Target="/ppt/slides/slide8.xml" Id="R38f6253caf1c4b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c6064dd4b04b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428d836d3f4a79" /><Relationship Type="http://schemas.openxmlformats.org/officeDocument/2006/relationships/notesMaster" Target="/ppt/notesMasters/notesMaster1.xml" Id="R9192d57725574d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b6d98fb1a34ded" /><Relationship Type="http://schemas.openxmlformats.org/officeDocument/2006/relationships/notesMaster" Target="/ppt/notesMasters/notesMaster1.xml" Id="R834824e1366f44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1f53b4724e45f9" /><Relationship Type="http://schemas.openxmlformats.org/officeDocument/2006/relationships/notesMaster" Target="/ppt/notesMasters/notesMaster1.xml" Id="Rcbdb0cc6047842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ec5abbfabe410e" /><Relationship Type="http://schemas.openxmlformats.org/officeDocument/2006/relationships/notesMaster" Target="/ppt/notesMasters/notesMaster1.xml" Id="Rb2d1419141664c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d64b623dab4cfe" /><Relationship Type="http://schemas.openxmlformats.org/officeDocument/2006/relationships/notesMaster" Target="/ppt/notesMasters/notesMaster1.xml" Id="Rba8e4387a44847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f1435815ad4f9d" /><Relationship Type="http://schemas.openxmlformats.org/officeDocument/2006/relationships/notesMaster" Target="/ppt/notesMasters/notesMaster1.xml" Id="Ra85440fe057b46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3da6a89b4f4c28" /><Relationship Type="http://schemas.openxmlformats.org/officeDocument/2006/relationships/notesMaster" Target="/ppt/notesMasters/notesMaster1.xml" Id="R5595d671f3e94b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50a0ac7a414cbc" /><Relationship Type="http://schemas.openxmlformats.org/officeDocument/2006/relationships/notesMaster" Target="/ppt/notesMasters/notesMaster1.xml" Id="Rbe4152d6e9db45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user product description; src/pages/HomePage.tsx. The opening artwork is AI-generated using the built-in image tool, an abstract process metaphor, not product evidence. Prompt: ivory paper and pale limestone architectural channels converging into one route, forest-green strip, museum still-life photography, no text or logos. Asset: .presentation-build/editorial-art.png.</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src/pages/HomePage.tsx problem list and workflow examples. Pipeline and friction points are illustrative, not a diagnosis of this client.</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architecture; src/pages/HomePage.tsx service model; src/pages/WorkflowsPage.tsx; src/components/dashboard/RunDetail.tsx. Native editable conceptual model. Client systems and provider connections are subject to scope; the diagram is not a deployment guarantee.</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engagement flow based on the user request and HomePage.tsx. Outputs and responsibilities are proposed. Native editable flowchart. The dark node is the client approval gate, not a claim that a launch has occurred.</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n8n/workflows/document-automation/README.md. Contract sequence: select versioned template; map approved fields; evaluate conditions (missing fields fail safely); route approval; generate via provider adapter; store output reference/format; report workflow steps/entity refs/status. Return-for-revision on rejected approval is a proposed configuration decision, not verified runtime behavior. No actual document or client record shown.</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Fields grounded in src/components/dashboard/RunDetail.tsx: status, start/finish, duration, retries, processed/failed records, event reference, execution steps and investigation note. All shown values are invented illustrative examples, not performance claims or live records. The simplified schematic is native editable content, not an exact interface reproduction. Not reached is an explanatory schematic label.</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pilot evidence matrix. No numerical target or business benefit is asserted. Metrics are suggestions to scope with the client, and may require measurement outside the portal. Native editable table.</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engagement brief based on user description and src/pages/HomePage.tsx service model. No signed scope, schedule, price or service level exists in the supplied facts. All such decisions remain to be agreed.</a:t>
            </a:r>
          </a:p>
          <a:p xmlns:a="http://schemas.openxmlformats.org/drawingml/2006/main">
            <a:r>
              <a:t>Product is in preproduction. Proposed service and pilot requirements need client agreement. No measured commercial result or production readiness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5d4dd0cfc349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6850cbb78f4032" /><Relationship Type="http://schemas.openxmlformats.org/officeDocument/2006/relationships/slideLayout" Target="/ppt/slideLayouts/slideLayout1.xml" Id="Ra2daba4c377a40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daba4c377a40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e7dd843482942b0" /><Relationship Type="http://schemas.openxmlformats.org/officeDocument/2006/relationships/image" Target="/ppt/media/image.png" Id="R54b8592084f44f44" /><Relationship Type="http://schemas.openxmlformats.org/officeDocument/2006/relationships/notesSlide" Target="/ppt/notesSlides/notesSlide1.xml" Id="Rebf21ea24d6846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addc5884124453" /><Relationship Type="http://schemas.openxmlformats.org/officeDocument/2006/relationships/notesSlide" Target="/ppt/notesSlides/notesSlide2.xml" Id="Rfed70bcf0b3c47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4009832edd4719" /><Relationship Type="http://schemas.openxmlformats.org/officeDocument/2006/relationships/notesSlide" Target="/ppt/notesSlides/notesSlide3.xml" Id="R613b204015db43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5fbda8f2c04a45" /><Relationship Type="http://schemas.openxmlformats.org/officeDocument/2006/relationships/notesSlide" Target="/ppt/notesSlides/notesSlide4.xml" Id="Rd739bf7b069443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64d1a467f24708" /><Relationship Type="http://schemas.openxmlformats.org/officeDocument/2006/relationships/notesSlide" Target="/ppt/notesSlides/notesSlide5.xml" Id="R5d1b7802138040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f66b43f80a4f6b" /><Relationship Type="http://schemas.openxmlformats.org/officeDocument/2006/relationships/notesSlide" Target="/ppt/notesSlides/notesSlide6.xml" Id="Rd834bc4cf2cd4a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dd5c81b200450e" /><Relationship Type="http://schemas.openxmlformats.org/officeDocument/2006/relationships/notesSlide" Target="/ppt/notesSlides/notesSlide7.xml" Id="R86774458d8fb4b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a3e5c027e04035" /><Relationship Type="http://schemas.openxmlformats.org/officeDocument/2006/relationships/notesSlide" Target="/ppt/notesSlides/notesSlide8.xml" Id="R4d3e2bf967c14108" /></Relationships>
</file>

<file path=ppt/slides/slide1.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4b8592084f44f44"/>
          <a:srcRect xmlns:a="http://schemas.openxmlformats.org/drawingml/2006/main" l="7407" t="0" r="7407" b="0"/>
          <a:stretch xmlns:a="http://schemas.openxmlformats.org/drawingml/2006/main">
            <a:fillRect l="0" t="0" r="0" b="0"/>
          </a:stretch>
        </p:blipFill>
        <p:spPr>
          <a:xfrm xmlns:a="http://schemas.openxmlformats.org/drawingml/2006/main">
            <a:off x="7810500" y="0"/>
            <a:ext cx="4381500" cy="6858000"/>
          </a:xfrm>
          <a:prstGeom xmlns:a="http://schemas.openxmlformats.org/drawingml/2006/main" prst="rect">
            <a:avLst/>
          </a:prstGeom>
        </p:spPr>
      </p:pic>
      <p:sp>
        <p:nvSpPr>
          <p:cNvPr id="2" name="PRIME STATE SYSTEMS">
            <a:extLst xmlns:a="http://schemas.openxmlformats.org/drawingml/2006/main">
              <a:ext uri="{FF2B5EF4-FFF2-40B4-BE49-F238E27FC236}">
                <a16:creationId xmlns:a16="http://schemas.microsoft.com/office/drawing/2014/main" id="{26791F78-FA44-4778-A50B-BF5D5BB49AF0}"/>
              </a:ext>
            </a:extLst>
          </p:cNvPr>
          <p:cNvSpPr>
            <a:spLocks xmlns:a="http://schemas.openxmlformats.org/drawingml/2006/main" noGrp="1"/>
          </p:cNvSpPr>
          <p:nvPr/>
        </p:nvSpPr>
        <p:spPr>
          <a:xfrm xmlns:a="http://schemas.openxmlformats.org/drawingml/2006/main">
            <a:off x="533400" y="2857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PRIME STATE SYSTEMS</a:t>
            </a:r>
          </a:p>
        </p:txBody>
      </p:sp>
      <p:sp>
        <p:nvSpPr>
          <p:cNvPr id="3" name="01 / PRODUCT BRIEF">
            <a:extLst xmlns:a="http://schemas.openxmlformats.org/drawingml/2006/main">
              <a:ext uri="{FF2B5EF4-FFF2-40B4-BE49-F238E27FC236}">
                <a16:creationId xmlns:a16="http://schemas.microsoft.com/office/drawing/2014/main" id="{048F5A47-3DF4-49D5-925C-BA2B091A3BF2}"/>
              </a:ext>
            </a:extLst>
          </p:cNvPr>
          <p:cNvSpPr>
            <a:spLocks xmlns:a="http://schemas.openxmlformats.org/drawingml/2006/main" noGrp="1"/>
          </p:cNvSpPr>
          <p:nvPr/>
        </p:nvSpPr>
        <p:spPr>
          <a:xfrm xmlns:a="http://schemas.openxmlformats.org/drawingml/2006/main">
            <a:off x="533400" y="72390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01 / PRODUCT BRIEF</a:t>
            </a:r>
          </a:p>
        </p:txBody>
      </p:sp>
      <p:sp>
        <p:nvSpPr>
          <p:cNvPr id="4" name="thesis">
            <a:extLst xmlns:a="http://schemas.openxmlformats.org/drawingml/2006/main">
              <a:ext uri="{FF2B5EF4-FFF2-40B4-BE49-F238E27FC236}">
                <a16:creationId xmlns:a16="http://schemas.microsoft.com/office/drawing/2014/main" id="{AFCF089D-D266-4964-902F-C329298A7F4D}"/>
              </a:ext>
            </a:extLst>
          </p:cNvPr>
          <p:cNvSpPr>
            <a:spLocks xmlns:a="http://schemas.openxmlformats.org/drawingml/2006/main" noGrp="1"/>
          </p:cNvSpPr>
          <p:nvPr/>
        </p:nvSpPr>
        <p:spPr>
          <a:xfrm xmlns:a="http://schemas.openxmlformats.org/drawingml/2006/main">
            <a:off x="533400" y="1285875"/>
            <a:ext cx="7096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0">
                <a:solidFill>
                  <a:srgbClr val="171916"/>
                </a:solidFill>
                <a:latin typeface="Georgia"/>
                <a:ea typeface="Georgia"/>
                <a:cs typeface="Georgia"/>
              </a:defRPr>
            </a:pPr>
            <a:r>
              <a:rPr sz="3825" b="0">
                <a:solidFill>
                  <a:srgbClr val="171916"/>
                </a:solidFill>
                <a:latin typeface="Georgia"/>
                <a:ea typeface="Georgia"/>
                <a:cs typeface="Georgia"/>
              </a:rPr>
              <a:t>A consistent way</a:t>
            </a:r>
          </a:p>
          <a:p xmlns:a="http://schemas.openxmlformats.org/drawingml/2006/main">
            <a:pPr>
              <a:defRPr sz="3825" b="0">
                <a:solidFill>
                  <a:srgbClr val="171916"/>
                </a:solidFill>
                <a:latin typeface="Georgia"/>
                <a:ea typeface="Georgia"/>
                <a:cs typeface="Georgia"/>
              </a:defRPr>
            </a:pPr>
            <a:r>
              <a:rPr sz="3825" b="0">
                <a:solidFill>
                  <a:srgbClr val="171916"/>
                </a:solidFill>
                <a:latin typeface="Georgia"/>
                <a:ea typeface="Georgia"/>
                <a:cs typeface="Georgia"/>
              </a:rPr>
              <a:t>to run the business</a:t>
            </a:r>
          </a:p>
        </p:txBody>
      </p:sp>
      <p:sp>
        <p:nvSpPr>
          <p:cNvPr id="5" name="thesis-detail">
            <a:extLst xmlns:a="http://schemas.openxmlformats.org/drawingml/2006/main">
              <a:ext uri="{FF2B5EF4-FFF2-40B4-BE49-F238E27FC236}">
                <a16:creationId xmlns:a16="http://schemas.microsoft.com/office/drawing/2014/main" id="{48173034-B5C7-4691-ACFD-FF8430A850BF}"/>
              </a:ext>
            </a:extLst>
          </p:cNvPr>
          <p:cNvSpPr>
            <a:spLocks xmlns:a="http://schemas.openxmlformats.org/drawingml/2006/main" noGrp="1"/>
          </p:cNvSpPr>
          <p:nvPr/>
        </p:nvSpPr>
        <p:spPr>
          <a:xfrm xmlns:a="http://schemas.openxmlformats.org/drawingml/2006/main">
            <a:off x="533400" y="2876550"/>
            <a:ext cx="6619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6B63"/>
                </a:solidFill>
                <a:latin typeface="Arial"/>
                <a:ea typeface="Arial"/>
                <a:cs typeface="Arial"/>
              </a:defRPr>
            </a:pPr>
            <a:r>
              <a:rPr sz="1800" b="0">
                <a:solidFill>
                  <a:srgbClr val="666B63"/>
                </a:solidFill>
                <a:latin typeface="Arial"/>
                <a:ea typeface="Arial"/>
                <a:cs typeface="Arial"/>
              </a:rPr>
              <a:t>A platform for managed workflows that standardize repeatable operations and put research-informed processes into practice.</a:t>
            </a:r>
          </a:p>
        </p:txBody>
      </p:sp>
      <p:sp>
        <p:nvSpPr>
          <p:cNvPr id="6" name="rule">
            <a:extLst xmlns:a="http://schemas.openxmlformats.org/drawingml/2006/main">
              <a:ext uri="{FF2B5EF4-FFF2-40B4-BE49-F238E27FC236}">
                <a16:creationId xmlns:a16="http://schemas.microsoft.com/office/drawing/2014/main" id="{9639B3C9-CB21-4E83-898D-93B0043D01EE}"/>
              </a:ext>
            </a:extLst>
          </p:cNvPr>
          <p:cNvSpPr>
            <a:spLocks xmlns:a="http://schemas.openxmlformats.org/drawingml/2006/main" noGrp="1"/>
          </p:cNvSpPr>
          <p:nvPr/>
        </p:nvSpPr>
        <p:spPr>
          <a:xfrm xmlns:a="http://schemas.openxmlformats.org/drawingml/2006/main">
            <a:off x="533400" y="4000500"/>
            <a:ext cx="67151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7" name="DESIGN">
            <a:extLst xmlns:a="http://schemas.openxmlformats.org/drawingml/2006/main">
              <a:ext uri="{FF2B5EF4-FFF2-40B4-BE49-F238E27FC236}">
                <a16:creationId xmlns:a16="http://schemas.microsoft.com/office/drawing/2014/main" id="{BDBE2531-A847-4C19-A82C-310DDC961815}"/>
              </a:ext>
            </a:extLst>
          </p:cNvPr>
          <p:cNvSpPr>
            <a:spLocks xmlns:a="http://schemas.openxmlformats.org/drawingml/2006/main" noGrp="1"/>
          </p:cNvSpPr>
          <p:nvPr/>
        </p:nvSpPr>
        <p:spPr>
          <a:xfrm xmlns:a="http://schemas.openxmlformats.org/drawingml/2006/main">
            <a:off x="533400" y="415290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DESIGN</a:t>
            </a:r>
          </a:p>
        </p:txBody>
      </p:sp>
      <p:sp>
        <p:nvSpPr>
          <p:cNvPr id="8" name="fact0">
            <a:extLst xmlns:a="http://schemas.openxmlformats.org/drawingml/2006/main">
              <a:ext uri="{FF2B5EF4-FFF2-40B4-BE49-F238E27FC236}">
                <a16:creationId xmlns:a16="http://schemas.microsoft.com/office/drawing/2014/main" id="{A50947C9-7FF8-4C8D-BA7A-1499CEC2505E}"/>
              </a:ext>
            </a:extLst>
          </p:cNvPr>
          <p:cNvSpPr>
            <a:spLocks xmlns:a="http://schemas.openxmlformats.org/drawingml/2006/main" noGrp="1"/>
          </p:cNvSpPr>
          <p:nvPr/>
        </p:nvSpPr>
        <p:spPr>
          <a:xfrm xmlns:a="http://schemas.openxmlformats.org/drawingml/2006/main">
            <a:off x="1990725" y="4114800"/>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Agree the process, rules and exceptions.</a:t>
            </a:r>
          </a:p>
        </p:txBody>
      </p:sp>
      <p:sp>
        <p:nvSpPr>
          <p:cNvPr id="9" name="rule">
            <a:extLst xmlns:a="http://schemas.openxmlformats.org/drawingml/2006/main">
              <a:ext uri="{FF2B5EF4-FFF2-40B4-BE49-F238E27FC236}">
                <a16:creationId xmlns:a16="http://schemas.microsoft.com/office/drawing/2014/main" id="{F0F37ABC-E0C1-43F3-8AAA-A4961DC1149D}"/>
              </a:ext>
            </a:extLst>
          </p:cNvPr>
          <p:cNvSpPr>
            <a:spLocks xmlns:a="http://schemas.openxmlformats.org/drawingml/2006/main" noGrp="1"/>
          </p:cNvSpPr>
          <p:nvPr/>
        </p:nvSpPr>
        <p:spPr>
          <a:xfrm xmlns:a="http://schemas.openxmlformats.org/drawingml/2006/main">
            <a:off x="533400" y="4629150"/>
            <a:ext cx="67151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0" name="AUTOMATE">
            <a:extLst xmlns:a="http://schemas.openxmlformats.org/drawingml/2006/main">
              <a:ext uri="{FF2B5EF4-FFF2-40B4-BE49-F238E27FC236}">
                <a16:creationId xmlns:a16="http://schemas.microsoft.com/office/drawing/2014/main" id="{5802FDD4-ED07-4CAF-9D72-B711670FBBFD}"/>
              </a:ext>
            </a:extLst>
          </p:cNvPr>
          <p:cNvSpPr>
            <a:spLocks xmlns:a="http://schemas.openxmlformats.org/drawingml/2006/main" noGrp="1"/>
          </p:cNvSpPr>
          <p:nvPr/>
        </p:nvSpPr>
        <p:spPr>
          <a:xfrm xmlns:a="http://schemas.openxmlformats.org/drawingml/2006/main">
            <a:off x="533400" y="478155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AUTOMATE</a:t>
            </a:r>
          </a:p>
        </p:txBody>
      </p:sp>
      <p:sp>
        <p:nvSpPr>
          <p:cNvPr id="11" name="fact1">
            <a:extLst xmlns:a="http://schemas.openxmlformats.org/drawingml/2006/main">
              <a:ext uri="{FF2B5EF4-FFF2-40B4-BE49-F238E27FC236}">
                <a16:creationId xmlns:a16="http://schemas.microsoft.com/office/drawing/2014/main" id="{2FB0028D-3A42-4725-88A0-1AC4B4F68FD8}"/>
              </a:ext>
            </a:extLst>
          </p:cNvPr>
          <p:cNvSpPr>
            <a:spLocks xmlns:a="http://schemas.openxmlformats.org/drawingml/2006/main" noGrp="1"/>
          </p:cNvSpPr>
          <p:nvPr/>
        </p:nvSpPr>
        <p:spPr>
          <a:xfrm xmlns:a="http://schemas.openxmlformats.org/drawingml/2006/main">
            <a:off x="1990725" y="4743450"/>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Connect the systems and execute the workflow.</a:t>
            </a:r>
          </a:p>
        </p:txBody>
      </p:sp>
      <p:sp>
        <p:nvSpPr>
          <p:cNvPr id="12" name="rule">
            <a:extLst xmlns:a="http://schemas.openxmlformats.org/drawingml/2006/main">
              <a:ext uri="{FF2B5EF4-FFF2-40B4-BE49-F238E27FC236}">
                <a16:creationId xmlns:a16="http://schemas.microsoft.com/office/drawing/2014/main" id="{932E28D8-64F4-4A10-8FF9-B2F2B047A7A9}"/>
              </a:ext>
            </a:extLst>
          </p:cNvPr>
          <p:cNvSpPr>
            <a:spLocks xmlns:a="http://schemas.openxmlformats.org/drawingml/2006/main" noGrp="1"/>
          </p:cNvSpPr>
          <p:nvPr/>
        </p:nvSpPr>
        <p:spPr>
          <a:xfrm xmlns:a="http://schemas.openxmlformats.org/drawingml/2006/main">
            <a:off x="533400" y="5257800"/>
            <a:ext cx="67151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3" name="REVIEW">
            <a:extLst xmlns:a="http://schemas.openxmlformats.org/drawingml/2006/main">
              <a:ext uri="{FF2B5EF4-FFF2-40B4-BE49-F238E27FC236}">
                <a16:creationId xmlns:a16="http://schemas.microsoft.com/office/drawing/2014/main" id="{2DF59F04-5A9C-41FC-9C8C-15C3ADE2A7FF}"/>
              </a:ext>
            </a:extLst>
          </p:cNvPr>
          <p:cNvSpPr>
            <a:spLocks xmlns:a="http://schemas.openxmlformats.org/drawingml/2006/main" noGrp="1"/>
          </p:cNvSpPr>
          <p:nvPr/>
        </p:nvSpPr>
        <p:spPr>
          <a:xfrm xmlns:a="http://schemas.openxmlformats.org/drawingml/2006/main">
            <a:off x="533400" y="5410200"/>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REVIEW</a:t>
            </a:r>
          </a:p>
        </p:txBody>
      </p:sp>
      <p:sp>
        <p:nvSpPr>
          <p:cNvPr id="14" name="fact2">
            <a:extLst xmlns:a="http://schemas.openxmlformats.org/drawingml/2006/main">
              <a:ext uri="{FF2B5EF4-FFF2-40B4-BE49-F238E27FC236}">
                <a16:creationId xmlns:a16="http://schemas.microsoft.com/office/drawing/2014/main" id="{95A9E2AE-886A-4681-8752-A98C8CD92AB8}"/>
              </a:ext>
            </a:extLst>
          </p:cNvPr>
          <p:cNvSpPr>
            <a:spLocks xmlns:a="http://schemas.openxmlformats.org/drawingml/2006/main" noGrp="1"/>
          </p:cNvSpPr>
          <p:nvPr/>
        </p:nvSpPr>
        <p:spPr>
          <a:xfrm xmlns:a="http://schemas.openxmlformats.org/drawingml/2006/main">
            <a:off x="1990725" y="5372100"/>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See what ran, what changed and what needs attention.</a:t>
            </a:r>
          </a:p>
        </p:txBody>
      </p:sp>
      <p:sp>
        <p:nvSpPr>
          <p:cNvPr id="15" name="PREPRODUCTION  /  CLIENT DISCUSSION">
            <a:extLst xmlns:a="http://schemas.openxmlformats.org/drawingml/2006/main">
              <a:ext uri="{FF2B5EF4-FFF2-40B4-BE49-F238E27FC236}">
                <a16:creationId xmlns:a16="http://schemas.microsoft.com/office/drawing/2014/main" id="{3343151D-A72A-47EF-8CFB-A81CF39CBD9B}"/>
              </a:ext>
            </a:extLst>
          </p:cNvPr>
          <p:cNvSpPr>
            <a:spLocks xmlns:a="http://schemas.openxmlformats.org/drawingml/2006/main" noGrp="1"/>
          </p:cNvSpPr>
          <p:nvPr/>
        </p:nvSpPr>
        <p:spPr>
          <a:xfrm xmlns:a="http://schemas.openxmlformats.org/drawingml/2006/main">
            <a:off x="533400" y="6486525"/>
            <a:ext cx="7096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CLIENT DISCUSSION</a:t>
            </a:r>
          </a:p>
        </p:txBody>
      </p:sp>
    </p:spTree>
    <p:extLst>
      <p:ext uri="{BB962C8B-B14F-4D97-AF65-F5344CB8AC3E}">
        <p14:creationId xmlns:p14="http://schemas.microsoft.com/office/powerpoint/2010/main" val="1901070533"/>
      </p:ext>
    </p:extLst>
  </p:cSld>
</p:sld>
</file>

<file path=ppt/slides/slide2.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33" name="PRIME STATE SYSTEMS">
            <a:extLst xmlns:a="http://schemas.openxmlformats.org/drawingml/2006/main">
              <a:ext uri="{FF2B5EF4-FFF2-40B4-BE49-F238E27FC236}">
                <a16:creationId xmlns:a16="http://schemas.microsoft.com/office/drawing/2014/main" id="{04756848-BEB5-4709-BBFA-8B78A7E1AB6A}"/>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2 / OPERATING PROBLEM">
            <a:extLst xmlns:a="http://schemas.openxmlformats.org/drawingml/2006/main">
              <a:ext uri="{FF2B5EF4-FFF2-40B4-BE49-F238E27FC236}">
                <a16:creationId xmlns:a16="http://schemas.microsoft.com/office/drawing/2014/main" id="{B6F6E76D-8CDD-4C12-8D98-29AB9235C7B9}"/>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02 / OPERATING PROBLEM</a:t>
            </a:r>
          </a:p>
        </p:txBody>
      </p:sp>
      <p:sp>
        <p:nvSpPr>
          <p:cNvPr id="3" name="headline">
            <a:extLst xmlns:a="http://schemas.openxmlformats.org/drawingml/2006/main">
              <a:ext uri="{FF2B5EF4-FFF2-40B4-BE49-F238E27FC236}">
                <a16:creationId xmlns:a16="http://schemas.microsoft.com/office/drawing/2014/main" id="{B8702C5A-D941-42BA-82D3-22ED03FB200E}"/>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Where repeatable work loses consistency</a:t>
            </a:r>
          </a:p>
        </p:txBody>
      </p:sp>
      <p:sp>
        <p:nvSpPr>
          <p:cNvPr id="4" name="subhead">
            <a:extLst xmlns:a="http://schemas.openxmlformats.org/drawingml/2006/main">
              <a:ext uri="{FF2B5EF4-FFF2-40B4-BE49-F238E27FC236}">
                <a16:creationId xmlns:a16="http://schemas.microsoft.com/office/drawing/2014/main" id="{5F7105BC-3FFB-43DF-9712-24F050A4DCBF}"/>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Illustrative business pipeline: the weak point is often the handoff between people, records and systems.</a:t>
            </a:r>
          </a:p>
        </p:txBody>
      </p:sp>
      <p:sp>
        <p:nvSpPr>
          <p:cNvPr id="5" name="rule">
            <a:extLst xmlns:a="http://schemas.openxmlformats.org/drawingml/2006/main">
              <a:ext uri="{FF2B5EF4-FFF2-40B4-BE49-F238E27FC236}">
                <a16:creationId xmlns:a16="http://schemas.microsoft.com/office/drawing/2014/main" id="{83424E63-6705-405E-B2B0-F2222604539A}"/>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5CE36849-0CAB-47E6-8DF5-AB623DD06623}"/>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pipe0">
            <a:extLst xmlns:a="http://schemas.openxmlformats.org/drawingml/2006/main">
              <a:ext uri="{FF2B5EF4-FFF2-40B4-BE49-F238E27FC236}">
                <a16:creationId xmlns:a16="http://schemas.microsoft.com/office/drawing/2014/main" id="{64D561B6-17E9-4E11-AA2C-3ABC7F690DEA}"/>
              </a:ext>
            </a:extLst>
          </p:cNvPr>
          <p:cNvSpPr>
            <a:spLocks xmlns:a="http://schemas.openxmlformats.org/drawingml/2006/main" noGrp="1"/>
          </p:cNvSpPr>
          <p:nvPr/>
        </p:nvSpPr>
        <p:spPr>
          <a:xfrm xmlns:a="http://schemas.openxmlformats.org/drawingml/2006/main">
            <a:off x="533400" y="24288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6"/>
                </a:solidFill>
                <a:latin typeface="Georgia"/>
                <a:ea typeface="Georgia"/>
                <a:cs typeface="Georgia"/>
              </a:defRPr>
            </a:pPr>
            <a:r>
              <a:rPr sz="1950" b="0">
                <a:solidFill>
                  <a:srgbClr val="171916"/>
                </a:solidFill>
                <a:latin typeface="Georgia"/>
                <a:ea typeface="Georgia"/>
                <a:cs typeface="Georgia"/>
              </a:rPr>
              <a:t>Enquiry received</a:t>
            </a:r>
          </a:p>
        </p:txBody>
      </p:sp>
      <p:sp>
        <p:nvSpPr>
          <p:cNvPr id="8" name="sequence">
            <a:extLst xmlns:a="http://schemas.openxmlformats.org/drawingml/2006/main">
              <a:ext uri="{FF2B5EF4-FFF2-40B4-BE49-F238E27FC236}">
                <a16:creationId xmlns:a16="http://schemas.microsoft.com/office/drawing/2014/main" id="{0A181620-39CB-4990-9A8A-BA450E10A202}"/>
              </a:ext>
            </a:extLst>
          </p:cNvPr>
          <p:cNvSpPr>
            <a:spLocks xmlns:a="http://schemas.openxmlformats.org/drawingml/2006/main" noGrp="1"/>
          </p:cNvSpPr>
          <p:nvPr/>
        </p:nvSpPr>
        <p:spPr>
          <a:xfrm xmlns:a="http://schemas.openxmlformats.org/drawingml/2006/main">
            <a:off x="2990850" y="2552700"/>
            <a:ext cx="295275" cy="14287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9" name="pipe1">
            <a:extLst xmlns:a="http://schemas.openxmlformats.org/drawingml/2006/main">
              <a:ext uri="{FF2B5EF4-FFF2-40B4-BE49-F238E27FC236}">
                <a16:creationId xmlns:a16="http://schemas.microsoft.com/office/drawing/2014/main" id="{64BC2687-C7C1-4291-833B-D8E199948298}"/>
              </a:ext>
            </a:extLst>
          </p:cNvPr>
          <p:cNvSpPr>
            <a:spLocks xmlns:a="http://schemas.openxmlformats.org/drawingml/2006/main" noGrp="1"/>
          </p:cNvSpPr>
          <p:nvPr/>
        </p:nvSpPr>
        <p:spPr>
          <a:xfrm xmlns:a="http://schemas.openxmlformats.org/drawingml/2006/main">
            <a:off x="3419475" y="24288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6"/>
                </a:solidFill>
                <a:latin typeface="Georgia"/>
                <a:ea typeface="Georgia"/>
                <a:cs typeface="Georgia"/>
              </a:defRPr>
            </a:pPr>
            <a:r>
              <a:rPr sz="1950" b="0">
                <a:solidFill>
                  <a:srgbClr val="171916"/>
                </a:solidFill>
                <a:latin typeface="Georgia"/>
                <a:ea typeface="Georgia"/>
                <a:cs typeface="Georgia"/>
              </a:rPr>
              <a:t>Work assigned</a:t>
            </a:r>
          </a:p>
        </p:txBody>
      </p:sp>
      <p:sp>
        <p:nvSpPr>
          <p:cNvPr id="10" name="sequence">
            <a:extLst xmlns:a="http://schemas.openxmlformats.org/drawingml/2006/main">
              <a:ext uri="{FF2B5EF4-FFF2-40B4-BE49-F238E27FC236}">
                <a16:creationId xmlns:a16="http://schemas.microsoft.com/office/drawing/2014/main" id="{B92EEB3D-E189-44A1-A20E-AB4039091B52}"/>
              </a:ext>
            </a:extLst>
          </p:cNvPr>
          <p:cNvSpPr>
            <a:spLocks xmlns:a="http://schemas.openxmlformats.org/drawingml/2006/main" noGrp="1"/>
          </p:cNvSpPr>
          <p:nvPr/>
        </p:nvSpPr>
        <p:spPr>
          <a:xfrm xmlns:a="http://schemas.openxmlformats.org/drawingml/2006/main">
            <a:off x="5876925" y="2552700"/>
            <a:ext cx="295275" cy="14287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11" name="pipe2">
            <a:extLst xmlns:a="http://schemas.openxmlformats.org/drawingml/2006/main">
              <a:ext uri="{FF2B5EF4-FFF2-40B4-BE49-F238E27FC236}">
                <a16:creationId xmlns:a16="http://schemas.microsoft.com/office/drawing/2014/main" id="{8236D4A3-3B6A-4BC9-B577-9F73FBCBF34E}"/>
              </a:ext>
            </a:extLst>
          </p:cNvPr>
          <p:cNvSpPr>
            <a:spLocks xmlns:a="http://schemas.openxmlformats.org/drawingml/2006/main" noGrp="1"/>
          </p:cNvSpPr>
          <p:nvPr/>
        </p:nvSpPr>
        <p:spPr>
          <a:xfrm xmlns:a="http://schemas.openxmlformats.org/drawingml/2006/main">
            <a:off x="6305550" y="24288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6"/>
                </a:solidFill>
                <a:latin typeface="Georgia"/>
                <a:ea typeface="Georgia"/>
                <a:cs typeface="Georgia"/>
              </a:defRPr>
            </a:pPr>
            <a:r>
              <a:rPr sz="1950" b="0">
                <a:solidFill>
                  <a:srgbClr val="171916"/>
                </a:solidFill>
                <a:latin typeface="Georgia"/>
                <a:ea typeface="Georgia"/>
                <a:cs typeface="Georgia"/>
              </a:rPr>
              <a:t>Service delivered</a:t>
            </a:r>
          </a:p>
        </p:txBody>
      </p:sp>
      <p:sp>
        <p:nvSpPr>
          <p:cNvPr id="12" name="sequence">
            <a:extLst xmlns:a="http://schemas.openxmlformats.org/drawingml/2006/main">
              <a:ext uri="{FF2B5EF4-FFF2-40B4-BE49-F238E27FC236}">
                <a16:creationId xmlns:a16="http://schemas.microsoft.com/office/drawing/2014/main" id="{86FED652-4906-4D44-BEF8-66A9EAFFAA31}"/>
              </a:ext>
            </a:extLst>
          </p:cNvPr>
          <p:cNvSpPr>
            <a:spLocks xmlns:a="http://schemas.openxmlformats.org/drawingml/2006/main" noGrp="1"/>
          </p:cNvSpPr>
          <p:nvPr/>
        </p:nvSpPr>
        <p:spPr>
          <a:xfrm xmlns:a="http://schemas.openxmlformats.org/drawingml/2006/main">
            <a:off x="8763000" y="2552700"/>
            <a:ext cx="295275" cy="14287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13" name="pipe3">
            <a:extLst xmlns:a="http://schemas.openxmlformats.org/drawingml/2006/main">
              <a:ext uri="{FF2B5EF4-FFF2-40B4-BE49-F238E27FC236}">
                <a16:creationId xmlns:a16="http://schemas.microsoft.com/office/drawing/2014/main" id="{A836C0D2-5CB3-4959-87F3-450A9950C2DB}"/>
              </a:ext>
            </a:extLst>
          </p:cNvPr>
          <p:cNvSpPr>
            <a:spLocks xmlns:a="http://schemas.openxmlformats.org/drawingml/2006/main" noGrp="1"/>
          </p:cNvSpPr>
          <p:nvPr/>
        </p:nvSpPr>
        <p:spPr>
          <a:xfrm xmlns:a="http://schemas.openxmlformats.org/drawingml/2006/main">
            <a:off x="9191625" y="2428875"/>
            <a:ext cx="242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1916"/>
                </a:solidFill>
                <a:latin typeface="Georgia"/>
                <a:ea typeface="Georgia"/>
                <a:cs typeface="Georgia"/>
              </a:defRPr>
            </a:pPr>
            <a:r>
              <a:rPr sz="1950" b="0">
                <a:solidFill>
                  <a:srgbClr val="171916"/>
                </a:solidFill>
                <a:latin typeface="Georgia"/>
                <a:ea typeface="Georgia"/>
                <a:cs typeface="Georgia"/>
              </a:rPr>
              <a:t>Outcome recorded</a:t>
            </a:r>
          </a:p>
        </p:txBody>
      </p:sp>
      <p:sp>
        <p:nvSpPr>
          <p:cNvPr id="14" name="rule">
            <a:extLst xmlns:a="http://schemas.openxmlformats.org/drawingml/2006/main">
              <a:ext uri="{FF2B5EF4-FFF2-40B4-BE49-F238E27FC236}">
                <a16:creationId xmlns:a16="http://schemas.microsoft.com/office/drawing/2014/main" id="{497003BC-2D18-4058-BA21-DE300A134FE9}"/>
              </a:ext>
            </a:extLst>
          </p:cNvPr>
          <p:cNvSpPr>
            <a:spLocks xmlns:a="http://schemas.openxmlformats.org/drawingml/2006/main" noGrp="1"/>
          </p:cNvSpPr>
          <p:nvPr/>
        </p:nvSpPr>
        <p:spPr>
          <a:xfrm xmlns:a="http://schemas.openxmlformats.org/drawingml/2006/main">
            <a:off x="533400" y="3095625"/>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5" name="n0">
            <a:extLst xmlns:a="http://schemas.openxmlformats.org/drawingml/2006/main">
              <a:ext uri="{FF2B5EF4-FFF2-40B4-BE49-F238E27FC236}">
                <a16:creationId xmlns:a16="http://schemas.microsoft.com/office/drawing/2014/main" id="{CC448CA5-B345-41B4-AEAC-9166C343F659}"/>
              </a:ext>
            </a:extLst>
          </p:cNvPr>
          <p:cNvSpPr>
            <a:spLocks xmlns:a="http://schemas.openxmlformats.org/drawingml/2006/main" noGrp="1"/>
          </p:cNvSpPr>
          <p:nvPr/>
        </p:nvSpPr>
        <p:spPr>
          <a:xfrm xmlns:a="http://schemas.openxmlformats.org/drawingml/2006/main">
            <a:off x="533400" y="3314700"/>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42594A"/>
                </a:solidFill>
                <a:latin typeface="Georgia"/>
                <a:ea typeface="Georgia"/>
                <a:cs typeface="Georgia"/>
              </a:defRPr>
            </a:pPr>
            <a:r>
              <a:rPr sz="3150" b="0">
                <a:solidFill>
                  <a:srgbClr val="42594A"/>
                </a:solidFill>
                <a:latin typeface="Georgia"/>
                <a:ea typeface="Georgia"/>
                <a:cs typeface="Georgia"/>
              </a:rPr>
              <a:t>01</a:t>
            </a:r>
          </a:p>
        </p:txBody>
      </p:sp>
      <p:sp>
        <p:nvSpPr>
          <p:cNvPr id="16" name="friction0">
            <a:extLst xmlns:a="http://schemas.openxmlformats.org/drawingml/2006/main">
              <a:ext uri="{FF2B5EF4-FFF2-40B4-BE49-F238E27FC236}">
                <a16:creationId xmlns:a16="http://schemas.microsoft.com/office/drawing/2014/main" id="{5B95E3D7-377A-4ED0-A4D3-AA8F60D89B60}"/>
              </a:ext>
            </a:extLst>
          </p:cNvPr>
          <p:cNvSpPr>
            <a:spLocks xmlns:a="http://schemas.openxmlformats.org/drawingml/2006/main" noGrp="1"/>
          </p:cNvSpPr>
          <p:nvPr/>
        </p:nvSpPr>
        <p:spPr>
          <a:xfrm xmlns:a="http://schemas.openxmlformats.org/drawingml/2006/main">
            <a:off x="1447800" y="3371850"/>
            <a:ext cx="2647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Inconsistent handoffs</a:t>
            </a:r>
          </a:p>
        </p:txBody>
      </p:sp>
      <p:sp>
        <p:nvSpPr>
          <p:cNvPr id="17" name="cause0">
            <a:extLst xmlns:a="http://schemas.openxmlformats.org/drawingml/2006/main">
              <a:ext uri="{FF2B5EF4-FFF2-40B4-BE49-F238E27FC236}">
                <a16:creationId xmlns:a16="http://schemas.microsoft.com/office/drawing/2014/main" id="{7524D6F7-8B6C-40EA-93F1-630DC0A90C1A}"/>
              </a:ext>
            </a:extLst>
          </p:cNvPr>
          <p:cNvSpPr>
            <a:spLocks xmlns:a="http://schemas.openxmlformats.org/drawingml/2006/main" noGrp="1"/>
          </p:cNvSpPr>
          <p:nvPr/>
        </p:nvSpPr>
        <p:spPr>
          <a:xfrm xmlns:a="http://schemas.openxmlformats.org/drawingml/2006/main">
            <a:off x="533400" y="4086225"/>
            <a:ext cx="3362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Ownership, timing and approval rules depend on memory.</a:t>
            </a:r>
          </a:p>
        </p:txBody>
      </p:sp>
      <p:sp>
        <p:nvSpPr>
          <p:cNvPr id="18" name="rule">
            <a:extLst xmlns:a="http://schemas.openxmlformats.org/drawingml/2006/main">
              <a:ext uri="{FF2B5EF4-FFF2-40B4-BE49-F238E27FC236}">
                <a16:creationId xmlns:a16="http://schemas.microsoft.com/office/drawing/2014/main" id="{E90B9D8B-5944-4130-A4AE-D3CF8CF88602}"/>
              </a:ext>
            </a:extLst>
          </p:cNvPr>
          <p:cNvSpPr>
            <a:spLocks xmlns:a="http://schemas.openxmlformats.org/drawingml/2006/main" noGrp="1"/>
          </p:cNvSpPr>
          <p:nvPr/>
        </p:nvSpPr>
        <p:spPr>
          <a:xfrm xmlns:a="http://schemas.openxmlformats.org/drawingml/2006/main">
            <a:off x="533400" y="5038725"/>
            <a:ext cx="33623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9" name="OPERATIONAL RESPONSE">
            <a:extLst xmlns:a="http://schemas.openxmlformats.org/drawingml/2006/main">
              <a:ext uri="{FF2B5EF4-FFF2-40B4-BE49-F238E27FC236}">
                <a16:creationId xmlns:a16="http://schemas.microsoft.com/office/drawing/2014/main" id="{EB5F1662-2168-4224-9325-1DAE7FA844ED}"/>
              </a:ext>
            </a:extLst>
          </p:cNvPr>
          <p:cNvSpPr>
            <a:spLocks xmlns:a="http://schemas.openxmlformats.org/drawingml/2006/main" noGrp="1"/>
          </p:cNvSpPr>
          <p:nvPr/>
        </p:nvSpPr>
        <p:spPr>
          <a:xfrm xmlns:a="http://schemas.openxmlformats.org/drawingml/2006/main">
            <a:off x="533400" y="519112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OPERATIONAL RESPONSE</a:t>
            </a:r>
          </a:p>
        </p:txBody>
      </p:sp>
      <p:sp>
        <p:nvSpPr>
          <p:cNvPr id="20" name="response0">
            <a:extLst xmlns:a="http://schemas.openxmlformats.org/drawingml/2006/main">
              <a:ext uri="{FF2B5EF4-FFF2-40B4-BE49-F238E27FC236}">
                <a16:creationId xmlns:a16="http://schemas.microsoft.com/office/drawing/2014/main" id="{C0B836ED-B5A6-4C98-9FD2-2867D299060F}"/>
              </a:ext>
            </a:extLst>
          </p:cNvPr>
          <p:cNvSpPr>
            <a:spLocks xmlns:a="http://schemas.openxmlformats.org/drawingml/2006/main" noGrp="1"/>
          </p:cNvSpPr>
          <p:nvPr/>
        </p:nvSpPr>
        <p:spPr>
          <a:xfrm xmlns:a="http://schemas.openxmlformats.org/drawingml/2006/main">
            <a:off x="533400" y="5505450"/>
            <a:ext cx="3362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Define the owner, due action and approval path.</a:t>
            </a:r>
          </a:p>
        </p:txBody>
      </p:sp>
      <p:sp>
        <p:nvSpPr>
          <p:cNvPr id="21" name="n1">
            <a:extLst xmlns:a="http://schemas.openxmlformats.org/drawingml/2006/main">
              <a:ext uri="{FF2B5EF4-FFF2-40B4-BE49-F238E27FC236}">
                <a16:creationId xmlns:a16="http://schemas.microsoft.com/office/drawing/2014/main" id="{F7823ADB-8226-47EB-B017-87972DAB01D5}"/>
              </a:ext>
            </a:extLst>
          </p:cNvPr>
          <p:cNvSpPr>
            <a:spLocks xmlns:a="http://schemas.openxmlformats.org/drawingml/2006/main" noGrp="1"/>
          </p:cNvSpPr>
          <p:nvPr/>
        </p:nvSpPr>
        <p:spPr>
          <a:xfrm xmlns:a="http://schemas.openxmlformats.org/drawingml/2006/main">
            <a:off x="4333875" y="3314700"/>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42594A"/>
                </a:solidFill>
                <a:latin typeface="Georgia"/>
                <a:ea typeface="Georgia"/>
                <a:cs typeface="Georgia"/>
              </a:defRPr>
            </a:pPr>
            <a:r>
              <a:rPr sz="3150" b="0">
                <a:solidFill>
                  <a:srgbClr val="42594A"/>
                </a:solidFill>
                <a:latin typeface="Georgia"/>
                <a:ea typeface="Georgia"/>
                <a:cs typeface="Georgia"/>
              </a:rPr>
              <a:t>02</a:t>
            </a:r>
          </a:p>
        </p:txBody>
      </p:sp>
      <p:sp>
        <p:nvSpPr>
          <p:cNvPr id="22" name="friction1">
            <a:extLst xmlns:a="http://schemas.openxmlformats.org/drawingml/2006/main">
              <a:ext uri="{FF2B5EF4-FFF2-40B4-BE49-F238E27FC236}">
                <a16:creationId xmlns:a16="http://schemas.microsoft.com/office/drawing/2014/main" id="{981F52F0-F8D4-4427-8E62-56591D36AA37}"/>
              </a:ext>
            </a:extLst>
          </p:cNvPr>
          <p:cNvSpPr>
            <a:spLocks xmlns:a="http://schemas.openxmlformats.org/drawingml/2006/main" noGrp="1"/>
          </p:cNvSpPr>
          <p:nvPr/>
        </p:nvSpPr>
        <p:spPr>
          <a:xfrm xmlns:a="http://schemas.openxmlformats.org/drawingml/2006/main">
            <a:off x="5248275" y="3371850"/>
            <a:ext cx="2647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Disconnected records</a:t>
            </a:r>
          </a:p>
        </p:txBody>
      </p:sp>
      <p:sp>
        <p:nvSpPr>
          <p:cNvPr id="23" name="cause1">
            <a:extLst xmlns:a="http://schemas.openxmlformats.org/drawingml/2006/main">
              <a:ext uri="{FF2B5EF4-FFF2-40B4-BE49-F238E27FC236}">
                <a16:creationId xmlns:a16="http://schemas.microsoft.com/office/drawing/2014/main" id="{EB078D7D-91F1-4282-9959-0B7548049AD1}"/>
              </a:ext>
            </a:extLst>
          </p:cNvPr>
          <p:cNvSpPr>
            <a:spLocks xmlns:a="http://schemas.openxmlformats.org/drawingml/2006/main" noGrp="1"/>
          </p:cNvSpPr>
          <p:nvPr/>
        </p:nvSpPr>
        <p:spPr>
          <a:xfrm xmlns:a="http://schemas.openxmlformats.org/drawingml/2006/main">
            <a:off x="4333875" y="4086225"/>
            <a:ext cx="3362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The same information is copied across tools and loses context.</a:t>
            </a:r>
          </a:p>
        </p:txBody>
      </p:sp>
      <p:sp>
        <p:nvSpPr>
          <p:cNvPr id="24" name="rule">
            <a:extLst xmlns:a="http://schemas.openxmlformats.org/drawingml/2006/main">
              <a:ext uri="{FF2B5EF4-FFF2-40B4-BE49-F238E27FC236}">
                <a16:creationId xmlns:a16="http://schemas.microsoft.com/office/drawing/2014/main" id="{DA0FB79B-7F40-48E9-95C1-15568716E332}"/>
              </a:ext>
            </a:extLst>
          </p:cNvPr>
          <p:cNvSpPr>
            <a:spLocks xmlns:a="http://schemas.openxmlformats.org/drawingml/2006/main" noGrp="1"/>
          </p:cNvSpPr>
          <p:nvPr/>
        </p:nvSpPr>
        <p:spPr>
          <a:xfrm xmlns:a="http://schemas.openxmlformats.org/drawingml/2006/main">
            <a:off x="4333875" y="5038725"/>
            <a:ext cx="33623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25" name="OPERATIONAL RESPONSE">
            <a:extLst xmlns:a="http://schemas.openxmlformats.org/drawingml/2006/main">
              <a:ext uri="{FF2B5EF4-FFF2-40B4-BE49-F238E27FC236}">
                <a16:creationId xmlns:a16="http://schemas.microsoft.com/office/drawing/2014/main" id="{19DAFED6-9F78-4168-A948-A1462EC62D1F}"/>
              </a:ext>
            </a:extLst>
          </p:cNvPr>
          <p:cNvSpPr>
            <a:spLocks xmlns:a="http://schemas.openxmlformats.org/drawingml/2006/main" noGrp="1"/>
          </p:cNvSpPr>
          <p:nvPr/>
        </p:nvSpPr>
        <p:spPr>
          <a:xfrm xmlns:a="http://schemas.openxmlformats.org/drawingml/2006/main">
            <a:off x="4333875" y="519112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OPERATIONAL RESPONSE</a:t>
            </a:r>
          </a:p>
        </p:txBody>
      </p:sp>
      <p:sp>
        <p:nvSpPr>
          <p:cNvPr id="26" name="response1">
            <a:extLst xmlns:a="http://schemas.openxmlformats.org/drawingml/2006/main">
              <a:ext uri="{FF2B5EF4-FFF2-40B4-BE49-F238E27FC236}">
                <a16:creationId xmlns:a16="http://schemas.microsoft.com/office/drawing/2014/main" id="{F36DB39F-8556-40CA-BDA7-C79CE02F7DDF}"/>
              </a:ext>
            </a:extLst>
          </p:cNvPr>
          <p:cNvSpPr>
            <a:spLocks xmlns:a="http://schemas.openxmlformats.org/drawingml/2006/main" noGrp="1"/>
          </p:cNvSpPr>
          <p:nvPr/>
        </p:nvSpPr>
        <p:spPr>
          <a:xfrm xmlns:a="http://schemas.openxmlformats.org/drawingml/2006/main">
            <a:off x="4333875" y="5505450"/>
            <a:ext cx="3362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Map fields, identify duplicates and preserve references.</a:t>
            </a:r>
          </a:p>
        </p:txBody>
      </p:sp>
      <p:sp>
        <p:nvSpPr>
          <p:cNvPr id="27" name="n2">
            <a:extLst xmlns:a="http://schemas.openxmlformats.org/drawingml/2006/main">
              <a:ext uri="{FF2B5EF4-FFF2-40B4-BE49-F238E27FC236}">
                <a16:creationId xmlns:a16="http://schemas.microsoft.com/office/drawing/2014/main" id="{50059CBD-E021-478C-9F4E-8036E1FD8308}"/>
              </a:ext>
            </a:extLst>
          </p:cNvPr>
          <p:cNvSpPr>
            <a:spLocks xmlns:a="http://schemas.openxmlformats.org/drawingml/2006/main" noGrp="1"/>
          </p:cNvSpPr>
          <p:nvPr/>
        </p:nvSpPr>
        <p:spPr>
          <a:xfrm xmlns:a="http://schemas.openxmlformats.org/drawingml/2006/main">
            <a:off x="8134350" y="3314700"/>
            <a:ext cx="876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42594A"/>
                </a:solidFill>
                <a:latin typeface="Georgia"/>
                <a:ea typeface="Georgia"/>
                <a:cs typeface="Georgia"/>
              </a:defRPr>
            </a:pPr>
            <a:r>
              <a:rPr sz="3150" b="0">
                <a:solidFill>
                  <a:srgbClr val="42594A"/>
                </a:solidFill>
                <a:latin typeface="Georgia"/>
                <a:ea typeface="Georgia"/>
                <a:cs typeface="Georgia"/>
              </a:rPr>
              <a:t>03</a:t>
            </a:r>
          </a:p>
        </p:txBody>
      </p:sp>
      <p:sp>
        <p:nvSpPr>
          <p:cNvPr id="28" name="friction2">
            <a:extLst xmlns:a="http://schemas.openxmlformats.org/drawingml/2006/main">
              <a:ext uri="{FF2B5EF4-FFF2-40B4-BE49-F238E27FC236}">
                <a16:creationId xmlns:a16="http://schemas.microsoft.com/office/drawing/2014/main" id="{C41BD977-66AB-42F2-948E-630017B75C9B}"/>
              </a:ext>
            </a:extLst>
          </p:cNvPr>
          <p:cNvSpPr>
            <a:spLocks xmlns:a="http://schemas.openxmlformats.org/drawingml/2006/main" noGrp="1"/>
          </p:cNvSpPr>
          <p:nvPr/>
        </p:nvSpPr>
        <p:spPr>
          <a:xfrm xmlns:a="http://schemas.openxmlformats.org/drawingml/2006/main">
            <a:off x="9048750" y="3371850"/>
            <a:ext cx="2647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Unowned exceptions</a:t>
            </a:r>
          </a:p>
        </p:txBody>
      </p:sp>
      <p:sp>
        <p:nvSpPr>
          <p:cNvPr id="29" name="cause2">
            <a:extLst xmlns:a="http://schemas.openxmlformats.org/drawingml/2006/main">
              <a:ext uri="{FF2B5EF4-FFF2-40B4-BE49-F238E27FC236}">
                <a16:creationId xmlns:a16="http://schemas.microsoft.com/office/drawing/2014/main" id="{F70DE0AB-1DD3-4E34-BEB1-A4102A2FAFF0}"/>
              </a:ext>
            </a:extLst>
          </p:cNvPr>
          <p:cNvSpPr>
            <a:spLocks xmlns:a="http://schemas.openxmlformats.org/drawingml/2006/main" noGrp="1"/>
          </p:cNvSpPr>
          <p:nvPr/>
        </p:nvSpPr>
        <p:spPr>
          <a:xfrm xmlns:a="http://schemas.openxmlformats.org/drawingml/2006/main">
            <a:off x="8134350" y="4086225"/>
            <a:ext cx="3362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A failed step is visible too late or reaches nobody responsible.</a:t>
            </a:r>
          </a:p>
        </p:txBody>
      </p:sp>
      <p:sp>
        <p:nvSpPr>
          <p:cNvPr id="30" name="rule">
            <a:extLst xmlns:a="http://schemas.openxmlformats.org/drawingml/2006/main">
              <a:ext uri="{FF2B5EF4-FFF2-40B4-BE49-F238E27FC236}">
                <a16:creationId xmlns:a16="http://schemas.microsoft.com/office/drawing/2014/main" id="{4249CF65-B0CC-4C9D-A27E-5600AED42294}"/>
              </a:ext>
            </a:extLst>
          </p:cNvPr>
          <p:cNvSpPr>
            <a:spLocks xmlns:a="http://schemas.openxmlformats.org/drawingml/2006/main" noGrp="1"/>
          </p:cNvSpPr>
          <p:nvPr/>
        </p:nvSpPr>
        <p:spPr>
          <a:xfrm xmlns:a="http://schemas.openxmlformats.org/drawingml/2006/main">
            <a:off x="8134350" y="5038725"/>
            <a:ext cx="336232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31" name="OPERATIONAL RESPONSE">
            <a:extLst xmlns:a="http://schemas.openxmlformats.org/drawingml/2006/main">
              <a:ext uri="{FF2B5EF4-FFF2-40B4-BE49-F238E27FC236}">
                <a16:creationId xmlns:a16="http://schemas.microsoft.com/office/drawing/2014/main" id="{1CD54550-F143-43F2-AE64-E649DB29CB5B}"/>
              </a:ext>
            </a:extLst>
          </p:cNvPr>
          <p:cNvSpPr>
            <a:spLocks xmlns:a="http://schemas.openxmlformats.org/drawingml/2006/main" noGrp="1"/>
          </p:cNvSpPr>
          <p:nvPr/>
        </p:nvSpPr>
        <p:spPr>
          <a:xfrm xmlns:a="http://schemas.openxmlformats.org/drawingml/2006/main">
            <a:off x="8134350" y="519112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OPERATIONAL RESPONSE</a:t>
            </a:r>
          </a:p>
        </p:txBody>
      </p:sp>
      <p:sp>
        <p:nvSpPr>
          <p:cNvPr id="32" name="response2">
            <a:extLst xmlns:a="http://schemas.openxmlformats.org/drawingml/2006/main">
              <a:ext uri="{FF2B5EF4-FFF2-40B4-BE49-F238E27FC236}">
                <a16:creationId xmlns:a16="http://schemas.microsoft.com/office/drawing/2014/main" id="{86FA9A7B-6BF6-4B1E-9217-D0633844826A}"/>
              </a:ext>
            </a:extLst>
          </p:cNvPr>
          <p:cNvSpPr>
            <a:spLocks xmlns:a="http://schemas.openxmlformats.org/drawingml/2006/main" noGrp="1"/>
          </p:cNvSpPr>
          <p:nvPr/>
        </p:nvSpPr>
        <p:spPr>
          <a:xfrm xmlns:a="http://schemas.openxmlformats.org/drawingml/2006/main">
            <a:off x="8134350" y="5505450"/>
            <a:ext cx="3362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Record failures and assign a review path.</a:t>
            </a:r>
          </a:p>
        </p:txBody>
      </p:sp>
    </p:spTree>
    <p:extLst>
      <p:ext uri="{BB962C8B-B14F-4D97-AF65-F5344CB8AC3E}">
        <p14:creationId xmlns:p14="http://schemas.microsoft.com/office/powerpoint/2010/main" val="1604518818"/>
      </p:ext>
    </p:extLst>
  </p:cSld>
</p:sld>
</file>

<file path=ppt/slides/slide3.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26" name="PRIME STATE SYSTEMS">
            <a:extLst xmlns:a="http://schemas.openxmlformats.org/drawingml/2006/main">
              <a:ext uri="{FF2B5EF4-FFF2-40B4-BE49-F238E27FC236}">
                <a16:creationId xmlns:a16="http://schemas.microsoft.com/office/drawing/2014/main" id="{4D131EA0-F310-491D-92B5-A7EB103876BC}"/>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3 / PRODUCT MODEL">
            <a:extLst xmlns:a="http://schemas.openxmlformats.org/drawingml/2006/main">
              <a:ext uri="{FF2B5EF4-FFF2-40B4-BE49-F238E27FC236}">
                <a16:creationId xmlns:a16="http://schemas.microsoft.com/office/drawing/2014/main" id="{C61E3111-9EFB-46AF-A140-E65B78860E4F}"/>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03 / PRODUCT MODEL</a:t>
            </a:r>
          </a:p>
        </p:txBody>
      </p:sp>
      <p:sp>
        <p:nvSpPr>
          <p:cNvPr id="3" name="headline">
            <a:extLst xmlns:a="http://schemas.openxmlformats.org/drawingml/2006/main">
              <a:ext uri="{FF2B5EF4-FFF2-40B4-BE49-F238E27FC236}">
                <a16:creationId xmlns:a16="http://schemas.microsoft.com/office/drawing/2014/main" id="{233F2A4D-0264-4A2C-996A-639D8D77BC27}"/>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One layer for execution and oversight</a:t>
            </a:r>
          </a:p>
        </p:txBody>
      </p:sp>
      <p:sp>
        <p:nvSpPr>
          <p:cNvPr id="4" name="subhead">
            <a:extLst xmlns:a="http://schemas.openxmlformats.org/drawingml/2006/main">
              <a:ext uri="{FF2B5EF4-FFF2-40B4-BE49-F238E27FC236}">
                <a16:creationId xmlns:a16="http://schemas.microsoft.com/office/drawing/2014/main" id="{7CB075B0-8889-4066-BFF1-D1E613F0B18A}"/>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Client systems supply the inputs. Configured workflows perform the work. The portal makes execution inspectable.</a:t>
            </a:r>
          </a:p>
        </p:txBody>
      </p:sp>
      <p:sp>
        <p:nvSpPr>
          <p:cNvPr id="5" name="rule">
            <a:extLst xmlns:a="http://schemas.openxmlformats.org/drawingml/2006/main">
              <a:ext uri="{FF2B5EF4-FFF2-40B4-BE49-F238E27FC236}">
                <a16:creationId xmlns:a16="http://schemas.microsoft.com/office/drawing/2014/main" id="{398388C1-ACC7-46D1-9970-33AC5D390B49}"/>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25851E99-4B03-496B-AF81-03439FF02BDC}"/>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OPERATING VIEW">
            <a:extLst xmlns:a="http://schemas.openxmlformats.org/drawingml/2006/main">
              <a:ext uri="{FF2B5EF4-FFF2-40B4-BE49-F238E27FC236}">
                <a16:creationId xmlns:a16="http://schemas.microsoft.com/office/drawing/2014/main" id="{3EBFDB17-DB2E-4729-9A51-48B792A29D6A}"/>
              </a:ext>
            </a:extLst>
          </p:cNvPr>
          <p:cNvSpPr>
            <a:spLocks xmlns:a="http://schemas.openxmlformats.org/drawingml/2006/main" noGrp="1"/>
          </p:cNvSpPr>
          <p:nvPr/>
        </p:nvSpPr>
        <p:spPr>
          <a:xfrm xmlns:a="http://schemas.openxmlformats.org/drawingml/2006/main">
            <a:off x="533400" y="2457450"/>
            <a:ext cx="7277100" cy="971550"/>
          </a:xfrm>
          <a:prstGeom xmlns:a="http://schemas.openxmlformats.org/drawingml/2006/main" prst="rect">
            <a:avLst/>
          </a:prstGeom>
          <a:solidFill xmlns:a="http://schemas.openxmlformats.org/drawingml/2006/main">
            <a:srgbClr val="18231D"/>
          </a:solidFill>
          <a:ln xmlns:a="http://schemas.openxmlformats.org/drawingml/2006/main" w="0">
            <a:noFill/>
          </a:ln>
        </p:spPr>
      </p:sp>
      <p:sp>
        <p:nvSpPr>
          <p:cNvPr id="8" name="OPERATING VIEW">
            <a:extLst xmlns:a="http://schemas.openxmlformats.org/drawingml/2006/main">
              <a:ext uri="{FF2B5EF4-FFF2-40B4-BE49-F238E27FC236}">
                <a16:creationId xmlns:a16="http://schemas.microsoft.com/office/drawing/2014/main" id="{ED5CDF96-C02A-409B-B026-9C521630BA2E}"/>
              </a:ext>
            </a:extLst>
          </p:cNvPr>
          <p:cNvSpPr>
            <a:spLocks xmlns:a="http://schemas.openxmlformats.org/drawingml/2006/main" noGrp="1"/>
          </p:cNvSpPr>
          <p:nvPr/>
        </p:nvSpPr>
        <p:spPr>
          <a:xfrm xmlns:a="http://schemas.openxmlformats.org/drawingml/2006/main">
            <a:off x="752475" y="26098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OPERATING VIEW</a:t>
            </a:r>
          </a:p>
        </p:txBody>
      </p:sp>
      <p:sp>
        <p:nvSpPr>
          <p:cNvPr id="9" name="layer-OPERATING VIEW">
            <a:extLst xmlns:a="http://schemas.openxmlformats.org/drawingml/2006/main">
              <a:ext uri="{FF2B5EF4-FFF2-40B4-BE49-F238E27FC236}">
                <a16:creationId xmlns:a16="http://schemas.microsoft.com/office/drawing/2014/main" id="{D634BA29-A7E6-4D60-969D-ADCC85BE8B3A}"/>
              </a:ext>
            </a:extLst>
          </p:cNvPr>
          <p:cNvSpPr>
            <a:spLocks xmlns:a="http://schemas.openxmlformats.org/drawingml/2006/main" noGrp="1"/>
          </p:cNvSpPr>
          <p:nvPr/>
        </p:nvSpPr>
        <p:spPr>
          <a:xfrm xmlns:a="http://schemas.openxmlformats.org/drawingml/2006/main">
            <a:off x="752475" y="2914650"/>
            <a:ext cx="673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8F7F2"/>
                </a:solidFill>
                <a:latin typeface="Arial"/>
                <a:ea typeface="Arial"/>
                <a:cs typeface="Arial"/>
              </a:defRPr>
            </a:pPr>
            <a:r>
              <a:rPr sz="1575" b="0">
                <a:solidFill>
                  <a:srgbClr val="F8F7F2"/>
                </a:solidFill>
                <a:latin typeface="Arial"/>
                <a:ea typeface="Arial"/>
                <a:cs typeface="Arial"/>
              </a:rPr>
              <a:t>Workflow history · status · records · steps · investigation notes</a:t>
            </a:r>
          </a:p>
        </p:txBody>
      </p:sp>
      <p:sp>
        <p:nvSpPr>
          <p:cNvPr id="10" name="CONFIGURED WORKFLOWS">
            <a:extLst xmlns:a="http://schemas.openxmlformats.org/drawingml/2006/main">
              <a:ext uri="{FF2B5EF4-FFF2-40B4-BE49-F238E27FC236}">
                <a16:creationId xmlns:a16="http://schemas.microsoft.com/office/drawing/2014/main" id="{C7D15088-283B-4247-9C6B-D1E51BE8C95E}"/>
              </a:ext>
            </a:extLst>
          </p:cNvPr>
          <p:cNvSpPr>
            <a:spLocks xmlns:a="http://schemas.openxmlformats.org/drawingml/2006/main" noGrp="1"/>
          </p:cNvSpPr>
          <p:nvPr/>
        </p:nvSpPr>
        <p:spPr>
          <a:xfrm xmlns:a="http://schemas.openxmlformats.org/drawingml/2006/main">
            <a:off x="533400" y="3790950"/>
            <a:ext cx="7277100" cy="971550"/>
          </a:xfrm>
          <a:prstGeom xmlns:a="http://schemas.openxmlformats.org/drawingml/2006/main" prst="rect">
            <a:avLst/>
          </a:prstGeom>
          <a:solidFill xmlns:a="http://schemas.openxmlformats.org/drawingml/2006/main">
            <a:srgbClr val="EEF1E9"/>
          </a:solidFill>
          <a:ln xmlns:a="http://schemas.openxmlformats.org/drawingml/2006/main" w="0">
            <a:noFill/>
          </a:ln>
        </p:spPr>
      </p:sp>
      <p:sp>
        <p:nvSpPr>
          <p:cNvPr id="11" name="CONFIGURED WORKFLOWS">
            <a:extLst xmlns:a="http://schemas.openxmlformats.org/drawingml/2006/main">
              <a:ext uri="{FF2B5EF4-FFF2-40B4-BE49-F238E27FC236}">
                <a16:creationId xmlns:a16="http://schemas.microsoft.com/office/drawing/2014/main" id="{DA129303-231B-4A75-A957-6D1897B8AC0F}"/>
              </a:ext>
            </a:extLst>
          </p:cNvPr>
          <p:cNvSpPr>
            <a:spLocks xmlns:a="http://schemas.openxmlformats.org/drawingml/2006/main" noGrp="1"/>
          </p:cNvSpPr>
          <p:nvPr/>
        </p:nvSpPr>
        <p:spPr>
          <a:xfrm xmlns:a="http://schemas.openxmlformats.org/drawingml/2006/main">
            <a:off x="752475" y="39433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CONFIGURED WORKFLOWS</a:t>
            </a:r>
          </a:p>
        </p:txBody>
      </p:sp>
      <p:sp>
        <p:nvSpPr>
          <p:cNvPr id="12" name="layer-CONFIGURED WORKFLOWS">
            <a:extLst xmlns:a="http://schemas.openxmlformats.org/drawingml/2006/main">
              <a:ext uri="{FF2B5EF4-FFF2-40B4-BE49-F238E27FC236}">
                <a16:creationId xmlns:a16="http://schemas.microsoft.com/office/drawing/2014/main" id="{22B8883B-EFEC-4689-9C9B-F595428741BE}"/>
              </a:ext>
            </a:extLst>
          </p:cNvPr>
          <p:cNvSpPr>
            <a:spLocks xmlns:a="http://schemas.openxmlformats.org/drawingml/2006/main" noGrp="1"/>
          </p:cNvSpPr>
          <p:nvPr/>
        </p:nvSpPr>
        <p:spPr>
          <a:xfrm xmlns:a="http://schemas.openxmlformats.org/drawingml/2006/main">
            <a:off x="752475" y="4248150"/>
            <a:ext cx="673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Rules · routing · approvals · failure paths · reported outcomes</a:t>
            </a:r>
          </a:p>
        </p:txBody>
      </p:sp>
      <p:sp>
        <p:nvSpPr>
          <p:cNvPr id="13" name="CLIENT SYSTEMS">
            <a:extLst xmlns:a="http://schemas.openxmlformats.org/drawingml/2006/main">
              <a:ext uri="{FF2B5EF4-FFF2-40B4-BE49-F238E27FC236}">
                <a16:creationId xmlns:a16="http://schemas.microsoft.com/office/drawing/2014/main" id="{16AEA740-BF9C-4432-A4EE-C8F335290FA6}"/>
              </a:ext>
            </a:extLst>
          </p:cNvPr>
          <p:cNvSpPr>
            <a:spLocks xmlns:a="http://schemas.openxmlformats.org/drawingml/2006/main" noGrp="1"/>
          </p:cNvSpPr>
          <p:nvPr/>
        </p:nvSpPr>
        <p:spPr>
          <a:xfrm xmlns:a="http://schemas.openxmlformats.org/drawingml/2006/main">
            <a:off x="533400" y="5124450"/>
            <a:ext cx="7277100" cy="971550"/>
          </a:xfrm>
          <a:prstGeom xmlns:a="http://schemas.openxmlformats.org/drawingml/2006/main" prst="rect">
            <a:avLst/>
          </a:prstGeom>
          <a:solidFill xmlns:a="http://schemas.openxmlformats.org/drawingml/2006/main">
            <a:srgbClr val="F1EEE8"/>
          </a:solidFill>
          <a:ln xmlns:a="http://schemas.openxmlformats.org/drawingml/2006/main" w="0">
            <a:noFill/>
          </a:ln>
        </p:spPr>
      </p:sp>
      <p:sp>
        <p:nvSpPr>
          <p:cNvPr id="14" name="CLIENT SYSTEMS">
            <a:extLst xmlns:a="http://schemas.openxmlformats.org/drawingml/2006/main">
              <a:ext uri="{FF2B5EF4-FFF2-40B4-BE49-F238E27FC236}">
                <a16:creationId xmlns:a16="http://schemas.microsoft.com/office/drawing/2014/main" id="{CF2D18F7-6657-4F44-842E-9BAC573A15DA}"/>
              </a:ext>
            </a:extLst>
          </p:cNvPr>
          <p:cNvSpPr>
            <a:spLocks xmlns:a="http://schemas.openxmlformats.org/drawingml/2006/main" noGrp="1"/>
          </p:cNvSpPr>
          <p:nvPr/>
        </p:nvSpPr>
        <p:spPr>
          <a:xfrm xmlns:a="http://schemas.openxmlformats.org/drawingml/2006/main">
            <a:off x="752475" y="5276850"/>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CLIENT SYSTEMS</a:t>
            </a:r>
          </a:p>
        </p:txBody>
      </p:sp>
      <p:sp>
        <p:nvSpPr>
          <p:cNvPr id="15" name="layer-CLIENT SYSTEMS">
            <a:extLst xmlns:a="http://schemas.openxmlformats.org/drawingml/2006/main">
              <a:ext uri="{FF2B5EF4-FFF2-40B4-BE49-F238E27FC236}">
                <a16:creationId xmlns:a16="http://schemas.microsoft.com/office/drawing/2014/main" id="{B2899F58-4F83-436A-9CB3-75F0F281C1EB}"/>
              </a:ext>
            </a:extLst>
          </p:cNvPr>
          <p:cNvSpPr>
            <a:spLocks xmlns:a="http://schemas.openxmlformats.org/drawingml/2006/main" noGrp="1"/>
          </p:cNvSpPr>
          <p:nvPr/>
        </p:nvSpPr>
        <p:spPr>
          <a:xfrm xmlns:a="http://schemas.openxmlformats.org/drawingml/2006/main">
            <a:off x="752475" y="5581650"/>
            <a:ext cx="67341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Existing CRM, forms, spreadsheets and document providers</a:t>
            </a:r>
          </a:p>
        </p:txBody>
      </p:sp>
      <p:sp>
        <p:nvSpPr>
          <p:cNvPr id="16" name="sequence">
            <a:extLst xmlns:a="http://schemas.openxmlformats.org/drawingml/2006/main">
              <a:ext uri="{FF2B5EF4-FFF2-40B4-BE49-F238E27FC236}">
                <a16:creationId xmlns:a16="http://schemas.microsoft.com/office/drawing/2014/main" id="{0597A901-00D7-4191-88DC-57827AD8E6B5}"/>
              </a:ext>
            </a:extLst>
          </p:cNvPr>
          <p:cNvSpPr>
            <a:spLocks xmlns:a="http://schemas.openxmlformats.org/drawingml/2006/main" noGrp="1"/>
          </p:cNvSpPr>
          <p:nvPr/>
        </p:nvSpPr>
        <p:spPr>
          <a:xfrm xmlns:a="http://schemas.openxmlformats.org/drawingml/2006/main">
            <a:off x="4048125" y="3514725"/>
            <a:ext cx="200025" cy="209550"/>
          </a:xfrm>
          <a:prstGeom xmlns:a="http://schemas.openxmlformats.org/drawingml/2006/main" prst="upArrow">
            <a:avLst/>
          </a:prstGeom>
          <a:solidFill xmlns:a="http://schemas.openxmlformats.org/drawingml/2006/main">
            <a:srgbClr val="42594A"/>
          </a:solidFill>
          <a:ln xmlns:a="http://schemas.openxmlformats.org/drawingml/2006/main" w="0">
            <a:noFill/>
          </a:ln>
        </p:spPr>
      </p:sp>
      <p:sp>
        <p:nvSpPr>
          <p:cNvPr id="17" name="sequence">
            <a:extLst xmlns:a="http://schemas.openxmlformats.org/drawingml/2006/main">
              <a:ext uri="{FF2B5EF4-FFF2-40B4-BE49-F238E27FC236}">
                <a16:creationId xmlns:a16="http://schemas.microsoft.com/office/drawing/2014/main" id="{CC098879-0F87-44E0-96E3-3380389D5FDE}"/>
              </a:ext>
            </a:extLst>
          </p:cNvPr>
          <p:cNvSpPr>
            <a:spLocks xmlns:a="http://schemas.openxmlformats.org/drawingml/2006/main" noGrp="1"/>
          </p:cNvSpPr>
          <p:nvPr/>
        </p:nvSpPr>
        <p:spPr>
          <a:xfrm xmlns:a="http://schemas.openxmlformats.org/drawingml/2006/main">
            <a:off x="4048125" y="4848225"/>
            <a:ext cx="200025" cy="209550"/>
          </a:xfrm>
          <a:prstGeom xmlns:a="http://schemas.openxmlformats.org/drawingml/2006/main" prst="upArrow">
            <a:avLst/>
          </a:prstGeom>
          <a:solidFill xmlns:a="http://schemas.openxmlformats.org/drawingml/2006/main">
            <a:srgbClr val="42594A"/>
          </a:solidFill>
          <a:ln xmlns:a="http://schemas.openxmlformats.org/drawingml/2006/main" w="0">
            <a:noFill/>
          </a:ln>
        </p:spPr>
      </p:sp>
      <p:sp>
        <p:nvSpPr>
          <p:cNvPr id="18" name="THE MANAGED SERVICE">
            <a:extLst xmlns:a="http://schemas.openxmlformats.org/drawingml/2006/main">
              <a:ext uri="{FF2B5EF4-FFF2-40B4-BE49-F238E27FC236}">
                <a16:creationId xmlns:a16="http://schemas.microsoft.com/office/drawing/2014/main" id="{052AA400-C5AA-4D9E-AA37-2FD0E74D06B1}"/>
              </a:ext>
            </a:extLst>
          </p:cNvPr>
          <p:cNvSpPr>
            <a:spLocks xmlns:a="http://schemas.openxmlformats.org/drawingml/2006/main" noGrp="1"/>
          </p:cNvSpPr>
          <p:nvPr/>
        </p:nvSpPr>
        <p:spPr>
          <a:xfrm xmlns:a="http://schemas.openxmlformats.org/drawingml/2006/main">
            <a:off x="8258175" y="2447925"/>
            <a:ext cx="3381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THE MANAGED SERVICE</a:t>
            </a:r>
          </a:p>
        </p:txBody>
      </p:sp>
      <p:sp>
        <p:nvSpPr>
          <p:cNvPr id="19" name="service-head">
            <a:extLst xmlns:a="http://schemas.openxmlformats.org/drawingml/2006/main">
              <a:ext uri="{FF2B5EF4-FFF2-40B4-BE49-F238E27FC236}">
                <a16:creationId xmlns:a16="http://schemas.microsoft.com/office/drawing/2014/main" id="{DAC7F0FD-3909-4CDA-B389-171B2FD3F964}"/>
              </a:ext>
            </a:extLst>
          </p:cNvPr>
          <p:cNvSpPr>
            <a:spLocks xmlns:a="http://schemas.openxmlformats.org/drawingml/2006/main" noGrp="1"/>
          </p:cNvSpPr>
          <p:nvPr/>
        </p:nvSpPr>
        <p:spPr>
          <a:xfrm xmlns:a="http://schemas.openxmlformats.org/drawingml/2006/main">
            <a:off x="8258175" y="2809875"/>
            <a:ext cx="323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1916"/>
                </a:solidFill>
                <a:latin typeface="Georgia"/>
                <a:ea typeface="Georgia"/>
                <a:cs typeface="Georgia"/>
              </a:defRPr>
            </a:pPr>
            <a:r>
              <a:rPr sz="2175" b="0">
                <a:solidFill>
                  <a:srgbClr val="171916"/>
                </a:solidFill>
                <a:latin typeface="Georgia"/>
                <a:ea typeface="Georgia"/>
                <a:cs typeface="Georgia"/>
              </a:rPr>
              <a:t>The platform has</a:t>
            </a:r>
          </a:p>
          <a:p xmlns:a="http://schemas.openxmlformats.org/drawingml/2006/main">
            <a:pPr>
              <a:defRPr sz="2175" b="0">
                <a:solidFill>
                  <a:srgbClr val="171916"/>
                </a:solidFill>
                <a:latin typeface="Georgia"/>
                <a:ea typeface="Georgia"/>
                <a:cs typeface="Georgia"/>
              </a:defRPr>
            </a:pPr>
            <a:r>
              <a:rPr sz="2175" b="0">
                <a:solidFill>
                  <a:srgbClr val="171916"/>
                </a:solidFill>
                <a:latin typeface="Georgia"/>
                <a:ea typeface="Georgia"/>
                <a:cs typeface="Georgia"/>
              </a:rPr>
              <a:t>an operating owner</a:t>
            </a:r>
          </a:p>
        </p:txBody>
      </p:sp>
      <p:sp>
        <p:nvSpPr>
          <p:cNvPr id="20" name="service-0">
            <a:extLst xmlns:a="http://schemas.openxmlformats.org/drawingml/2006/main">
              <a:ext uri="{FF2B5EF4-FFF2-40B4-BE49-F238E27FC236}">
                <a16:creationId xmlns:a16="http://schemas.microsoft.com/office/drawing/2014/main" id="{C422EA3A-CF39-4621-8872-B437FE073278}"/>
              </a:ext>
            </a:extLst>
          </p:cNvPr>
          <p:cNvSpPr>
            <a:spLocks xmlns:a="http://schemas.openxmlformats.org/drawingml/2006/main" noGrp="1"/>
          </p:cNvSpPr>
          <p:nvPr/>
        </p:nvSpPr>
        <p:spPr>
          <a:xfrm xmlns:a="http://schemas.openxmlformats.org/drawingml/2006/main">
            <a:off x="8258175" y="3790950"/>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42594A"/>
                </a:solidFill>
                <a:latin typeface="Arial"/>
                <a:ea typeface="Arial"/>
                <a:cs typeface="Arial"/>
              </a:defRPr>
            </a:pPr>
            <a:r>
              <a:rPr sz="1350" b="1">
                <a:solidFill>
                  <a:srgbClr val="42594A"/>
                </a:solidFill>
                <a:latin typeface="Arial"/>
                <a:ea typeface="Arial"/>
                <a:cs typeface="Arial"/>
              </a:rPr>
              <a:t>Before the pilot</a:t>
            </a:r>
          </a:p>
        </p:txBody>
      </p:sp>
      <p:sp>
        <p:nvSpPr>
          <p:cNvPr id="21" name="serviced-0">
            <a:extLst xmlns:a="http://schemas.openxmlformats.org/drawingml/2006/main">
              <a:ext uri="{FF2B5EF4-FFF2-40B4-BE49-F238E27FC236}">
                <a16:creationId xmlns:a16="http://schemas.microsoft.com/office/drawing/2014/main" id="{57B7627D-4DD2-45E2-B7D0-83739BE075FC}"/>
              </a:ext>
            </a:extLst>
          </p:cNvPr>
          <p:cNvSpPr>
            <a:spLocks xmlns:a="http://schemas.openxmlformats.org/drawingml/2006/main" noGrp="1"/>
          </p:cNvSpPr>
          <p:nvPr/>
        </p:nvSpPr>
        <p:spPr>
          <a:xfrm xmlns:a="http://schemas.openxmlformats.org/drawingml/2006/main">
            <a:off x="8258175" y="4067175"/>
            <a:ext cx="319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B63"/>
                </a:solidFill>
                <a:latin typeface="Arial"/>
                <a:ea typeface="Arial"/>
                <a:cs typeface="Arial"/>
              </a:defRPr>
            </a:pPr>
            <a:r>
              <a:rPr sz="1425" b="0">
                <a:solidFill>
                  <a:srgbClr val="666B63"/>
                </a:solidFill>
                <a:latin typeface="Arial"/>
                <a:ea typeface="Arial"/>
                <a:cs typeface="Arial"/>
              </a:rPr>
              <a:t>Map the process; configure and test integrations.</a:t>
            </a:r>
          </a:p>
        </p:txBody>
      </p:sp>
      <p:sp>
        <p:nvSpPr>
          <p:cNvPr id="22" name="service-1">
            <a:extLst xmlns:a="http://schemas.openxmlformats.org/drawingml/2006/main">
              <a:ext uri="{FF2B5EF4-FFF2-40B4-BE49-F238E27FC236}">
                <a16:creationId xmlns:a16="http://schemas.microsoft.com/office/drawing/2014/main" id="{7621144A-3B1C-4024-A06F-9CA0B13D8B07}"/>
              </a:ext>
            </a:extLst>
          </p:cNvPr>
          <p:cNvSpPr>
            <a:spLocks xmlns:a="http://schemas.openxmlformats.org/drawingml/2006/main" noGrp="1"/>
          </p:cNvSpPr>
          <p:nvPr/>
        </p:nvSpPr>
        <p:spPr>
          <a:xfrm xmlns:a="http://schemas.openxmlformats.org/drawingml/2006/main">
            <a:off x="8258175" y="4581525"/>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42594A"/>
                </a:solidFill>
                <a:latin typeface="Arial"/>
                <a:ea typeface="Arial"/>
                <a:cs typeface="Arial"/>
              </a:defRPr>
            </a:pPr>
            <a:r>
              <a:rPr sz="1350" b="1">
                <a:solidFill>
                  <a:srgbClr val="42594A"/>
                </a:solidFill>
                <a:latin typeface="Arial"/>
                <a:ea typeface="Arial"/>
                <a:cs typeface="Arial"/>
              </a:rPr>
              <a:t>During operation</a:t>
            </a:r>
          </a:p>
        </p:txBody>
      </p:sp>
      <p:sp>
        <p:nvSpPr>
          <p:cNvPr id="23" name="serviced-1">
            <a:extLst xmlns:a="http://schemas.openxmlformats.org/drawingml/2006/main">
              <a:ext uri="{FF2B5EF4-FFF2-40B4-BE49-F238E27FC236}">
                <a16:creationId xmlns:a16="http://schemas.microsoft.com/office/drawing/2014/main" id="{E3338E3F-DAC6-47E6-94BB-E3D8AF88351E}"/>
              </a:ext>
            </a:extLst>
          </p:cNvPr>
          <p:cNvSpPr>
            <a:spLocks xmlns:a="http://schemas.openxmlformats.org/drawingml/2006/main" noGrp="1"/>
          </p:cNvSpPr>
          <p:nvPr/>
        </p:nvSpPr>
        <p:spPr>
          <a:xfrm xmlns:a="http://schemas.openxmlformats.org/drawingml/2006/main">
            <a:off x="8258175" y="4857750"/>
            <a:ext cx="319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B63"/>
                </a:solidFill>
                <a:latin typeface="Arial"/>
                <a:ea typeface="Arial"/>
                <a:cs typeface="Arial"/>
              </a:defRPr>
            </a:pPr>
            <a:r>
              <a:rPr sz="1425" b="0">
                <a:solidFill>
                  <a:srgbClr val="666B63"/>
                </a:solidFill>
                <a:latin typeface="Arial"/>
                <a:ea typeface="Arial"/>
                <a:cs typeface="Arial"/>
              </a:rPr>
              <a:t>Monitor execution and investigate exceptions.</a:t>
            </a:r>
          </a:p>
        </p:txBody>
      </p:sp>
      <p:sp>
        <p:nvSpPr>
          <p:cNvPr id="24" name="service-2">
            <a:extLst xmlns:a="http://schemas.openxmlformats.org/drawingml/2006/main">
              <a:ext uri="{FF2B5EF4-FFF2-40B4-BE49-F238E27FC236}">
                <a16:creationId xmlns:a16="http://schemas.microsoft.com/office/drawing/2014/main" id="{B3D21E52-C7DD-4646-91B7-117DB2EE87E7}"/>
              </a:ext>
            </a:extLst>
          </p:cNvPr>
          <p:cNvSpPr>
            <a:spLocks xmlns:a="http://schemas.openxmlformats.org/drawingml/2006/main" noGrp="1"/>
          </p:cNvSpPr>
          <p:nvPr/>
        </p:nvSpPr>
        <p:spPr>
          <a:xfrm xmlns:a="http://schemas.openxmlformats.org/drawingml/2006/main">
            <a:off x="8258175" y="5372100"/>
            <a:ext cx="3190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42594A"/>
                </a:solidFill>
                <a:latin typeface="Arial"/>
                <a:ea typeface="Arial"/>
                <a:cs typeface="Arial"/>
              </a:defRPr>
            </a:pPr>
            <a:r>
              <a:rPr sz="1350" b="1">
                <a:solidFill>
                  <a:srgbClr val="42594A"/>
                </a:solidFill>
                <a:latin typeface="Arial"/>
                <a:ea typeface="Arial"/>
                <a:cs typeface="Arial"/>
              </a:rPr>
              <a:t>At review</a:t>
            </a:r>
          </a:p>
        </p:txBody>
      </p:sp>
      <p:sp>
        <p:nvSpPr>
          <p:cNvPr id="25" name="serviced-2">
            <a:extLst xmlns:a="http://schemas.openxmlformats.org/drawingml/2006/main">
              <a:ext uri="{FF2B5EF4-FFF2-40B4-BE49-F238E27FC236}">
                <a16:creationId xmlns:a16="http://schemas.microsoft.com/office/drawing/2014/main" id="{FB95DD6E-6ED1-4E71-B511-9F3545D6B7E9}"/>
              </a:ext>
            </a:extLst>
          </p:cNvPr>
          <p:cNvSpPr>
            <a:spLocks xmlns:a="http://schemas.openxmlformats.org/drawingml/2006/main" noGrp="1"/>
          </p:cNvSpPr>
          <p:nvPr/>
        </p:nvSpPr>
        <p:spPr>
          <a:xfrm xmlns:a="http://schemas.openxmlformats.org/drawingml/2006/main">
            <a:off x="8258175" y="5648325"/>
            <a:ext cx="319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6B63"/>
                </a:solidFill>
                <a:latin typeface="Arial"/>
                <a:ea typeface="Arial"/>
                <a:cs typeface="Arial"/>
              </a:defRPr>
            </a:pPr>
            <a:r>
              <a:rPr sz="1425" b="0">
                <a:solidFill>
                  <a:srgbClr val="666B63"/>
                </a:solidFill>
                <a:latin typeface="Arial"/>
                <a:ea typeface="Arial"/>
                <a:cs typeface="Arial"/>
              </a:rPr>
              <a:t>Assess outcomes and agree refinements.</a:t>
            </a:r>
          </a:p>
        </p:txBody>
      </p:sp>
    </p:spTree>
    <p:extLst>
      <p:ext uri="{BB962C8B-B14F-4D97-AF65-F5344CB8AC3E}">
        <p14:creationId xmlns:p14="http://schemas.microsoft.com/office/powerpoint/2010/main" val="225791326"/>
      </p:ext>
    </p:extLst>
  </p:cSld>
</p:sld>
</file>

<file path=ppt/slides/slide4.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42" name="PRIME STATE SYSTEMS">
            <a:extLst xmlns:a="http://schemas.openxmlformats.org/drawingml/2006/main">
              <a:ext uri="{FF2B5EF4-FFF2-40B4-BE49-F238E27FC236}">
                <a16:creationId xmlns:a16="http://schemas.microsoft.com/office/drawing/2014/main" id="{B06529CE-C67E-480F-B73E-7A8F5FCBE47F}"/>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4 / CLIENT JOURNEY">
            <a:extLst xmlns:a="http://schemas.openxmlformats.org/drawingml/2006/main">
              <a:ext uri="{FF2B5EF4-FFF2-40B4-BE49-F238E27FC236}">
                <a16:creationId xmlns:a16="http://schemas.microsoft.com/office/drawing/2014/main" id="{C773471A-083A-41C7-ABED-6FD878F20321}"/>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04 / CLIENT JOURNEY</a:t>
            </a:r>
          </a:p>
        </p:txBody>
      </p:sp>
      <p:sp>
        <p:nvSpPr>
          <p:cNvPr id="3" name="headline">
            <a:extLst xmlns:a="http://schemas.openxmlformats.org/drawingml/2006/main">
              <a:ext uri="{FF2B5EF4-FFF2-40B4-BE49-F238E27FC236}">
                <a16:creationId xmlns:a16="http://schemas.microsoft.com/office/drawing/2014/main" id="{1A0FFADB-DBF1-464F-973E-1F4C78A7BF1E}"/>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A defined process for every new client</a:t>
            </a:r>
          </a:p>
        </p:txBody>
      </p:sp>
      <p:sp>
        <p:nvSpPr>
          <p:cNvPr id="4" name="subhead">
            <a:extLst xmlns:a="http://schemas.openxmlformats.org/drawingml/2006/main">
              <a:ext uri="{FF2B5EF4-FFF2-40B4-BE49-F238E27FC236}">
                <a16:creationId xmlns:a16="http://schemas.microsoft.com/office/drawing/2014/main" id="{396CCD6C-D074-4F08-A288-14E11BA28819}"/>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The proposed engagement establishes scope, access and accountability before the client approves a pilot launch.</a:t>
            </a:r>
          </a:p>
        </p:txBody>
      </p:sp>
      <p:sp>
        <p:nvSpPr>
          <p:cNvPr id="5" name="rule">
            <a:extLst xmlns:a="http://schemas.openxmlformats.org/drawingml/2006/main">
              <a:ext uri="{FF2B5EF4-FFF2-40B4-BE49-F238E27FC236}">
                <a16:creationId xmlns:a16="http://schemas.microsoft.com/office/drawing/2014/main" id="{F760C86A-79FE-4A75-8B20-718FE75CC63A}"/>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04108AF3-48ED-45AF-AAB4-414AEA00B709}"/>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stage0">
            <a:extLst xmlns:a="http://schemas.openxmlformats.org/drawingml/2006/main">
              <a:ext uri="{FF2B5EF4-FFF2-40B4-BE49-F238E27FC236}">
                <a16:creationId xmlns:a16="http://schemas.microsoft.com/office/drawing/2014/main" id="{34B0F5C7-B194-41A2-8B49-53E33183ABFC}"/>
              </a:ext>
            </a:extLst>
          </p:cNvPr>
          <p:cNvSpPr>
            <a:spLocks xmlns:a="http://schemas.openxmlformats.org/drawingml/2006/main" noGrp="1"/>
          </p:cNvSpPr>
          <p:nvPr/>
        </p:nvSpPr>
        <p:spPr>
          <a:xfrm xmlns:a="http://schemas.openxmlformats.org/drawingml/2006/main">
            <a:off x="533400" y="2343150"/>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8" name="stitle0">
            <a:extLst xmlns:a="http://schemas.openxmlformats.org/drawingml/2006/main">
              <a:ext uri="{FF2B5EF4-FFF2-40B4-BE49-F238E27FC236}">
                <a16:creationId xmlns:a16="http://schemas.microsoft.com/office/drawing/2014/main" id="{5E146ADA-A8CB-43D4-B166-816821DBD855}"/>
              </a:ext>
            </a:extLst>
          </p:cNvPr>
          <p:cNvSpPr>
            <a:spLocks xmlns:a="http://schemas.openxmlformats.org/drawingml/2006/main" noGrp="1"/>
          </p:cNvSpPr>
          <p:nvPr/>
        </p:nvSpPr>
        <p:spPr>
          <a:xfrm xmlns:a="http://schemas.openxmlformats.org/drawingml/2006/main">
            <a:off x="685800" y="24479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01  Conversation</a:t>
            </a:r>
          </a:p>
        </p:txBody>
      </p:sp>
      <p:sp>
        <p:nvSpPr>
          <p:cNvPr id="9" name="action0">
            <a:extLst xmlns:a="http://schemas.openxmlformats.org/drawingml/2006/main">
              <a:ext uri="{FF2B5EF4-FFF2-40B4-BE49-F238E27FC236}">
                <a16:creationId xmlns:a16="http://schemas.microsoft.com/office/drawing/2014/main" id="{736749E7-BB67-4EA4-8362-1F6B12758AEE}"/>
              </a:ext>
            </a:extLst>
          </p:cNvPr>
          <p:cNvSpPr>
            <a:spLocks xmlns:a="http://schemas.openxmlformats.org/drawingml/2006/main" noGrp="1"/>
          </p:cNvSpPr>
          <p:nvPr/>
        </p:nvSpPr>
        <p:spPr>
          <a:xfrm xmlns:a="http://schemas.openxmlformats.org/drawingml/2006/main">
            <a:off x="685800" y="28956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Identify the operational priority.</a:t>
            </a:r>
          </a:p>
        </p:txBody>
      </p:sp>
      <p:sp>
        <p:nvSpPr>
          <p:cNvPr id="10" name="out0">
            <a:extLst xmlns:a="http://schemas.openxmlformats.org/drawingml/2006/main">
              <a:ext uri="{FF2B5EF4-FFF2-40B4-BE49-F238E27FC236}">
                <a16:creationId xmlns:a16="http://schemas.microsoft.com/office/drawing/2014/main" id="{FF2CB366-30BF-49F8-95FF-40E44C2419F8}"/>
              </a:ext>
            </a:extLst>
          </p:cNvPr>
          <p:cNvSpPr>
            <a:spLocks xmlns:a="http://schemas.openxmlformats.org/drawingml/2006/main" noGrp="1"/>
          </p:cNvSpPr>
          <p:nvPr/>
        </p:nvSpPr>
        <p:spPr>
          <a:xfrm xmlns:a="http://schemas.openxmlformats.org/drawingml/2006/main">
            <a:off x="685800" y="34671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Priority + named owner</a:t>
            </a:r>
          </a:p>
        </p:txBody>
      </p:sp>
      <p:sp>
        <p:nvSpPr>
          <p:cNvPr id="11" name="owner0">
            <a:extLst xmlns:a="http://schemas.openxmlformats.org/drawingml/2006/main">
              <a:ext uri="{FF2B5EF4-FFF2-40B4-BE49-F238E27FC236}">
                <a16:creationId xmlns:a16="http://schemas.microsoft.com/office/drawing/2014/main" id="{AAEE4DD6-1347-4439-9C46-B23A12D0C009}"/>
              </a:ext>
            </a:extLst>
          </p:cNvPr>
          <p:cNvSpPr>
            <a:spLocks xmlns:a="http://schemas.openxmlformats.org/drawingml/2006/main" noGrp="1"/>
          </p:cNvSpPr>
          <p:nvPr/>
        </p:nvSpPr>
        <p:spPr>
          <a:xfrm xmlns:a="http://schemas.openxmlformats.org/drawingml/2006/main">
            <a:off x="685800" y="38862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Client + Prime State</a:t>
            </a:r>
          </a:p>
        </p:txBody>
      </p:sp>
      <p:sp>
        <p:nvSpPr>
          <p:cNvPr id="12" name="stage1">
            <a:extLst xmlns:a="http://schemas.openxmlformats.org/drawingml/2006/main">
              <a:ext uri="{FF2B5EF4-FFF2-40B4-BE49-F238E27FC236}">
                <a16:creationId xmlns:a16="http://schemas.microsoft.com/office/drawing/2014/main" id="{F1DE17D8-E101-4029-8591-04CB31410110}"/>
              </a:ext>
            </a:extLst>
          </p:cNvPr>
          <p:cNvSpPr>
            <a:spLocks xmlns:a="http://schemas.openxmlformats.org/drawingml/2006/main" noGrp="1"/>
          </p:cNvSpPr>
          <p:nvPr/>
        </p:nvSpPr>
        <p:spPr>
          <a:xfrm xmlns:a="http://schemas.openxmlformats.org/drawingml/2006/main">
            <a:off x="4343400" y="2343150"/>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13" name="stitle1">
            <a:extLst xmlns:a="http://schemas.openxmlformats.org/drawingml/2006/main">
              <a:ext uri="{FF2B5EF4-FFF2-40B4-BE49-F238E27FC236}">
                <a16:creationId xmlns:a16="http://schemas.microsoft.com/office/drawing/2014/main" id="{B9E552BD-C9E5-47D6-8227-36A866CB9C36}"/>
              </a:ext>
            </a:extLst>
          </p:cNvPr>
          <p:cNvSpPr>
            <a:spLocks xmlns:a="http://schemas.openxmlformats.org/drawingml/2006/main" noGrp="1"/>
          </p:cNvSpPr>
          <p:nvPr/>
        </p:nvSpPr>
        <p:spPr>
          <a:xfrm xmlns:a="http://schemas.openxmlformats.org/drawingml/2006/main">
            <a:off x="4495800" y="24479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02  Process &amp; scope</a:t>
            </a:r>
          </a:p>
        </p:txBody>
      </p:sp>
      <p:sp>
        <p:nvSpPr>
          <p:cNvPr id="14" name="action1">
            <a:extLst xmlns:a="http://schemas.openxmlformats.org/drawingml/2006/main">
              <a:ext uri="{FF2B5EF4-FFF2-40B4-BE49-F238E27FC236}">
                <a16:creationId xmlns:a16="http://schemas.microsoft.com/office/drawing/2014/main" id="{8C01F38F-F5EC-44A7-89FB-D8FFD39E06F2}"/>
              </a:ext>
            </a:extLst>
          </p:cNvPr>
          <p:cNvSpPr>
            <a:spLocks xmlns:a="http://schemas.openxmlformats.org/drawingml/2006/main" noGrp="1"/>
          </p:cNvSpPr>
          <p:nvPr/>
        </p:nvSpPr>
        <p:spPr>
          <a:xfrm xmlns:a="http://schemas.openxmlformats.org/drawingml/2006/main">
            <a:off x="4495800" y="28956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Map rules, handoffs and measures.</a:t>
            </a:r>
          </a:p>
        </p:txBody>
      </p:sp>
      <p:sp>
        <p:nvSpPr>
          <p:cNvPr id="15" name="out1">
            <a:extLst xmlns:a="http://schemas.openxmlformats.org/drawingml/2006/main">
              <a:ext uri="{FF2B5EF4-FFF2-40B4-BE49-F238E27FC236}">
                <a16:creationId xmlns:a16="http://schemas.microsoft.com/office/drawing/2014/main" id="{E4F94AE6-F359-4C80-ADD5-4EAC9BB83627}"/>
              </a:ext>
            </a:extLst>
          </p:cNvPr>
          <p:cNvSpPr>
            <a:spLocks xmlns:a="http://schemas.openxmlformats.org/drawingml/2006/main" noGrp="1"/>
          </p:cNvSpPr>
          <p:nvPr/>
        </p:nvSpPr>
        <p:spPr>
          <a:xfrm xmlns:a="http://schemas.openxmlformats.org/drawingml/2006/main">
            <a:off x="4495800" y="34671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Scope + acceptance criteria</a:t>
            </a:r>
          </a:p>
        </p:txBody>
      </p:sp>
      <p:sp>
        <p:nvSpPr>
          <p:cNvPr id="16" name="owner1">
            <a:extLst xmlns:a="http://schemas.openxmlformats.org/drawingml/2006/main">
              <a:ext uri="{FF2B5EF4-FFF2-40B4-BE49-F238E27FC236}">
                <a16:creationId xmlns:a16="http://schemas.microsoft.com/office/drawing/2014/main" id="{5410C6C8-075B-4BC2-9AD0-57CB794FBEED}"/>
              </a:ext>
            </a:extLst>
          </p:cNvPr>
          <p:cNvSpPr>
            <a:spLocks xmlns:a="http://schemas.openxmlformats.org/drawingml/2006/main" noGrp="1"/>
          </p:cNvSpPr>
          <p:nvPr/>
        </p:nvSpPr>
        <p:spPr>
          <a:xfrm xmlns:a="http://schemas.openxmlformats.org/drawingml/2006/main">
            <a:off x="4495800" y="38862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Joint agreement</a:t>
            </a:r>
          </a:p>
        </p:txBody>
      </p:sp>
      <p:sp>
        <p:nvSpPr>
          <p:cNvPr id="17" name="stage2">
            <a:extLst xmlns:a="http://schemas.openxmlformats.org/drawingml/2006/main">
              <a:ext uri="{FF2B5EF4-FFF2-40B4-BE49-F238E27FC236}">
                <a16:creationId xmlns:a16="http://schemas.microsoft.com/office/drawing/2014/main" id="{EB2BE141-1522-4BDA-964E-1D90164695B9}"/>
              </a:ext>
            </a:extLst>
          </p:cNvPr>
          <p:cNvSpPr>
            <a:spLocks xmlns:a="http://schemas.openxmlformats.org/drawingml/2006/main" noGrp="1"/>
          </p:cNvSpPr>
          <p:nvPr/>
        </p:nvSpPr>
        <p:spPr>
          <a:xfrm xmlns:a="http://schemas.openxmlformats.org/drawingml/2006/main">
            <a:off x="8153400" y="2343150"/>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18" name="stitle2">
            <a:extLst xmlns:a="http://schemas.openxmlformats.org/drawingml/2006/main">
              <a:ext uri="{FF2B5EF4-FFF2-40B4-BE49-F238E27FC236}">
                <a16:creationId xmlns:a16="http://schemas.microsoft.com/office/drawing/2014/main" id="{5CC1A45E-F397-4011-815F-6E11D88B9893}"/>
              </a:ext>
            </a:extLst>
          </p:cNvPr>
          <p:cNvSpPr>
            <a:spLocks xmlns:a="http://schemas.openxmlformats.org/drawingml/2006/main" noGrp="1"/>
          </p:cNvSpPr>
          <p:nvPr/>
        </p:nvSpPr>
        <p:spPr>
          <a:xfrm xmlns:a="http://schemas.openxmlformats.org/drawingml/2006/main">
            <a:off x="8305800" y="2447925"/>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03  Onboarding</a:t>
            </a:r>
          </a:p>
        </p:txBody>
      </p:sp>
      <p:sp>
        <p:nvSpPr>
          <p:cNvPr id="19" name="action2">
            <a:extLst xmlns:a="http://schemas.openxmlformats.org/drawingml/2006/main">
              <a:ext uri="{FF2B5EF4-FFF2-40B4-BE49-F238E27FC236}">
                <a16:creationId xmlns:a16="http://schemas.microsoft.com/office/drawing/2014/main" id="{99BDFACB-84E9-4DC5-A856-B510DBC7A1F2}"/>
              </a:ext>
            </a:extLst>
          </p:cNvPr>
          <p:cNvSpPr>
            <a:spLocks xmlns:a="http://schemas.openxmlformats.org/drawingml/2006/main" noGrp="1"/>
          </p:cNvSpPr>
          <p:nvPr/>
        </p:nvSpPr>
        <p:spPr>
          <a:xfrm xmlns:a="http://schemas.openxmlformats.org/drawingml/2006/main">
            <a:off x="8305800" y="2895600"/>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Confirm access, data and contacts.</a:t>
            </a:r>
          </a:p>
        </p:txBody>
      </p:sp>
      <p:sp>
        <p:nvSpPr>
          <p:cNvPr id="20" name="out2">
            <a:extLst xmlns:a="http://schemas.openxmlformats.org/drawingml/2006/main">
              <a:ext uri="{FF2B5EF4-FFF2-40B4-BE49-F238E27FC236}">
                <a16:creationId xmlns:a16="http://schemas.microsoft.com/office/drawing/2014/main" id="{0474048B-5C3E-4655-B3C3-2AFD6FFE16FA}"/>
              </a:ext>
            </a:extLst>
          </p:cNvPr>
          <p:cNvSpPr>
            <a:spLocks xmlns:a="http://schemas.openxmlformats.org/drawingml/2006/main" noGrp="1"/>
          </p:cNvSpPr>
          <p:nvPr/>
        </p:nvSpPr>
        <p:spPr>
          <a:xfrm xmlns:a="http://schemas.openxmlformats.org/drawingml/2006/main">
            <a:off x="8305800" y="3467100"/>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Access + data checklist</a:t>
            </a:r>
          </a:p>
        </p:txBody>
      </p:sp>
      <p:sp>
        <p:nvSpPr>
          <p:cNvPr id="21" name="owner2">
            <a:extLst xmlns:a="http://schemas.openxmlformats.org/drawingml/2006/main">
              <a:ext uri="{FF2B5EF4-FFF2-40B4-BE49-F238E27FC236}">
                <a16:creationId xmlns:a16="http://schemas.microsoft.com/office/drawing/2014/main" id="{937A8A6B-40DF-4428-BA32-C9771BAEC593}"/>
              </a:ext>
            </a:extLst>
          </p:cNvPr>
          <p:cNvSpPr>
            <a:spLocks xmlns:a="http://schemas.openxmlformats.org/drawingml/2006/main" noGrp="1"/>
          </p:cNvSpPr>
          <p:nvPr/>
        </p:nvSpPr>
        <p:spPr>
          <a:xfrm xmlns:a="http://schemas.openxmlformats.org/drawingml/2006/main">
            <a:off x="8305800" y="3886200"/>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Client; Prime State supports</a:t>
            </a:r>
          </a:p>
        </p:txBody>
      </p:sp>
      <p:sp>
        <p:nvSpPr>
          <p:cNvPr id="22" name="stage3">
            <a:extLst xmlns:a="http://schemas.openxmlformats.org/drawingml/2006/main">
              <a:ext uri="{FF2B5EF4-FFF2-40B4-BE49-F238E27FC236}">
                <a16:creationId xmlns:a16="http://schemas.microsoft.com/office/drawing/2014/main" id="{ED91A8F9-C64C-44F7-B3FF-185ED2041E92}"/>
              </a:ext>
            </a:extLst>
          </p:cNvPr>
          <p:cNvSpPr>
            <a:spLocks xmlns:a="http://schemas.openxmlformats.org/drawingml/2006/main" noGrp="1"/>
          </p:cNvSpPr>
          <p:nvPr/>
        </p:nvSpPr>
        <p:spPr>
          <a:xfrm xmlns:a="http://schemas.openxmlformats.org/drawingml/2006/main">
            <a:off x="8153400" y="4391025"/>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23" name="stitle3">
            <a:extLst xmlns:a="http://schemas.openxmlformats.org/drawingml/2006/main">
              <a:ext uri="{FF2B5EF4-FFF2-40B4-BE49-F238E27FC236}">
                <a16:creationId xmlns:a16="http://schemas.microsoft.com/office/drawing/2014/main" id="{DD347CCB-60CC-4E24-9E47-FC58FA3BFB17}"/>
              </a:ext>
            </a:extLst>
          </p:cNvPr>
          <p:cNvSpPr>
            <a:spLocks xmlns:a="http://schemas.openxmlformats.org/drawingml/2006/main" noGrp="1"/>
          </p:cNvSpPr>
          <p:nvPr/>
        </p:nvSpPr>
        <p:spPr>
          <a:xfrm xmlns:a="http://schemas.openxmlformats.org/drawingml/2006/main">
            <a:off x="8305800" y="44958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04  Automation setup</a:t>
            </a:r>
          </a:p>
        </p:txBody>
      </p:sp>
      <p:sp>
        <p:nvSpPr>
          <p:cNvPr id="24" name="action3">
            <a:extLst xmlns:a="http://schemas.openxmlformats.org/drawingml/2006/main">
              <a:ext uri="{FF2B5EF4-FFF2-40B4-BE49-F238E27FC236}">
                <a16:creationId xmlns:a16="http://schemas.microsoft.com/office/drawing/2014/main" id="{B9AC70F0-3AE1-4437-BC4D-1EF81C13D656}"/>
              </a:ext>
            </a:extLst>
          </p:cNvPr>
          <p:cNvSpPr>
            <a:spLocks xmlns:a="http://schemas.openxmlformats.org/drawingml/2006/main" noGrp="1"/>
          </p:cNvSpPr>
          <p:nvPr/>
        </p:nvSpPr>
        <p:spPr>
          <a:xfrm xmlns:a="http://schemas.openxmlformats.org/drawingml/2006/main">
            <a:off x="8305800" y="4943475"/>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Configure rules and integrations.</a:t>
            </a:r>
          </a:p>
        </p:txBody>
      </p:sp>
      <p:sp>
        <p:nvSpPr>
          <p:cNvPr id="25" name="out3">
            <a:extLst xmlns:a="http://schemas.openxmlformats.org/drawingml/2006/main">
              <a:ext uri="{FF2B5EF4-FFF2-40B4-BE49-F238E27FC236}">
                <a16:creationId xmlns:a16="http://schemas.microsoft.com/office/drawing/2014/main" id="{58136787-D617-461B-8F39-FF523294F0A3}"/>
              </a:ext>
            </a:extLst>
          </p:cNvPr>
          <p:cNvSpPr>
            <a:spLocks xmlns:a="http://schemas.openxmlformats.org/drawingml/2006/main" noGrp="1"/>
          </p:cNvSpPr>
          <p:nvPr/>
        </p:nvSpPr>
        <p:spPr>
          <a:xfrm xmlns:a="http://schemas.openxmlformats.org/drawingml/2006/main">
            <a:off x="8305800" y="55149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Workflow ready for testing</a:t>
            </a:r>
          </a:p>
        </p:txBody>
      </p:sp>
      <p:sp>
        <p:nvSpPr>
          <p:cNvPr id="26" name="owner3">
            <a:extLst xmlns:a="http://schemas.openxmlformats.org/drawingml/2006/main">
              <a:ext uri="{FF2B5EF4-FFF2-40B4-BE49-F238E27FC236}">
                <a16:creationId xmlns:a16="http://schemas.microsoft.com/office/drawing/2014/main" id="{209AD133-BAB0-4147-9379-04FE7CEEACD0}"/>
              </a:ext>
            </a:extLst>
          </p:cNvPr>
          <p:cNvSpPr>
            <a:spLocks xmlns:a="http://schemas.openxmlformats.org/drawingml/2006/main" noGrp="1"/>
          </p:cNvSpPr>
          <p:nvPr/>
        </p:nvSpPr>
        <p:spPr>
          <a:xfrm xmlns:a="http://schemas.openxmlformats.org/drawingml/2006/main">
            <a:off x="8305800" y="5934075"/>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Prime State</a:t>
            </a:r>
          </a:p>
        </p:txBody>
      </p:sp>
      <p:sp>
        <p:nvSpPr>
          <p:cNvPr id="27" name="stage4">
            <a:extLst xmlns:a="http://schemas.openxmlformats.org/drawingml/2006/main">
              <a:ext uri="{FF2B5EF4-FFF2-40B4-BE49-F238E27FC236}">
                <a16:creationId xmlns:a16="http://schemas.microsoft.com/office/drawing/2014/main" id="{C6052AD7-5698-483D-ABF6-0B3A396A8548}"/>
              </a:ext>
            </a:extLst>
          </p:cNvPr>
          <p:cNvSpPr>
            <a:spLocks xmlns:a="http://schemas.openxmlformats.org/drawingml/2006/main" noGrp="1"/>
          </p:cNvSpPr>
          <p:nvPr/>
        </p:nvSpPr>
        <p:spPr>
          <a:xfrm xmlns:a="http://schemas.openxmlformats.org/drawingml/2006/main">
            <a:off x="4343400" y="4391025"/>
            <a:ext cx="3505200" cy="1857375"/>
          </a:xfrm>
          <a:prstGeom xmlns:a="http://schemas.openxmlformats.org/drawingml/2006/main" prst="rect">
            <a:avLst/>
          </a:prstGeom>
          <a:solidFill xmlns:a="http://schemas.openxmlformats.org/drawingml/2006/main">
            <a:srgbClr val="18231D"/>
          </a:solidFill>
          <a:ln xmlns:a="http://schemas.openxmlformats.org/drawingml/2006/main" w="9525">
            <a:solidFill>
              <a:srgbClr val="18231D"/>
            </a:solidFill>
          </a:ln>
        </p:spPr>
      </p:sp>
      <p:sp>
        <p:nvSpPr>
          <p:cNvPr id="28" name="stitle4">
            <a:extLst xmlns:a="http://schemas.openxmlformats.org/drawingml/2006/main">
              <a:ext uri="{FF2B5EF4-FFF2-40B4-BE49-F238E27FC236}">
                <a16:creationId xmlns:a16="http://schemas.microsoft.com/office/drawing/2014/main" id="{B230E3F3-104D-4E6E-9C99-0D09A507193A}"/>
              </a:ext>
            </a:extLst>
          </p:cNvPr>
          <p:cNvSpPr>
            <a:spLocks xmlns:a="http://schemas.openxmlformats.org/drawingml/2006/main" noGrp="1"/>
          </p:cNvSpPr>
          <p:nvPr/>
        </p:nvSpPr>
        <p:spPr>
          <a:xfrm xmlns:a="http://schemas.openxmlformats.org/drawingml/2006/main">
            <a:off x="4495800" y="44958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8F7F2"/>
                </a:solidFill>
                <a:latin typeface="Georgia"/>
                <a:ea typeface="Georgia"/>
                <a:cs typeface="Georgia"/>
              </a:defRPr>
            </a:pPr>
            <a:r>
              <a:rPr sz="1875" b="0">
                <a:solidFill>
                  <a:srgbClr val="F8F7F2"/>
                </a:solidFill>
                <a:latin typeface="Georgia"/>
                <a:ea typeface="Georgia"/>
                <a:cs typeface="Georgia"/>
              </a:rPr>
              <a:t>05  Test &amp; approve</a:t>
            </a:r>
          </a:p>
        </p:txBody>
      </p:sp>
      <p:sp>
        <p:nvSpPr>
          <p:cNvPr id="29" name="action4">
            <a:extLst xmlns:a="http://schemas.openxmlformats.org/drawingml/2006/main">
              <a:ext uri="{FF2B5EF4-FFF2-40B4-BE49-F238E27FC236}">
                <a16:creationId xmlns:a16="http://schemas.microsoft.com/office/drawing/2014/main" id="{E892BB09-E4FE-4C7B-B57C-741B961B4A97}"/>
              </a:ext>
            </a:extLst>
          </p:cNvPr>
          <p:cNvSpPr>
            <a:spLocks xmlns:a="http://schemas.openxmlformats.org/drawingml/2006/main" noGrp="1"/>
          </p:cNvSpPr>
          <p:nvPr/>
        </p:nvSpPr>
        <p:spPr>
          <a:xfrm xmlns:a="http://schemas.openxmlformats.org/drawingml/2006/main">
            <a:off x="4495800" y="4943475"/>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C4CDC2"/>
                </a:solidFill>
                <a:latin typeface="Arial"/>
                <a:ea typeface="Arial"/>
                <a:cs typeface="Arial"/>
              </a:defRPr>
            </a:pPr>
            <a:r>
              <a:rPr sz="1500" b="0">
                <a:solidFill>
                  <a:srgbClr val="C4CDC2"/>
                </a:solidFill>
                <a:latin typeface="Arial"/>
                <a:ea typeface="Arial"/>
                <a:cs typeface="Arial"/>
              </a:rPr>
              <a:t>Test cases; client approves launch.</a:t>
            </a:r>
          </a:p>
        </p:txBody>
      </p:sp>
      <p:sp>
        <p:nvSpPr>
          <p:cNvPr id="30" name="out4">
            <a:extLst xmlns:a="http://schemas.openxmlformats.org/drawingml/2006/main">
              <a:ext uri="{FF2B5EF4-FFF2-40B4-BE49-F238E27FC236}">
                <a16:creationId xmlns:a16="http://schemas.microsoft.com/office/drawing/2014/main" id="{03FEAC9C-32A7-4CDB-A2F3-7C1DE1E516C9}"/>
              </a:ext>
            </a:extLst>
          </p:cNvPr>
          <p:cNvSpPr>
            <a:spLocks xmlns:a="http://schemas.openxmlformats.org/drawingml/2006/main" noGrp="1"/>
          </p:cNvSpPr>
          <p:nvPr/>
        </p:nvSpPr>
        <p:spPr>
          <a:xfrm xmlns:a="http://schemas.openxmlformats.org/drawingml/2006/main">
            <a:off x="4495800" y="55149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F8F7F2"/>
                </a:solidFill>
                <a:latin typeface="Arial"/>
                <a:ea typeface="Arial"/>
                <a:cs typeface="Arial"/>
              </a:defRPr>
            </a:pPr>
            <a:r>
              <a:rPr sz="1200" b="0">
                <a:solidFill>
                  <a:srgbClr val="F8F7F2"/>
                </a:solidFill>
                <a:latin typeface="Arial"/>
                <a:ea typeface="Arial"/>
                <a:cs typeface="Arial"/>
              </a:rPr>
              <a:t>OUTPUT  Client launch approval</a:t>
            </a:r>
          </a:p>
        </p:txBody>
      </p:sp>
      <p:sp>
        <p:nvSpPr>
          <p:cNvPr id="31" name="owner4">
            <a:extLst xmlns:a="http://schemas.openxmlformats.org/drawingml/2006/main">
              <a:ext uri="{FF2B5EF4-FFF2-40B4-BE49-F238E27FC236}">
                <a16:creationId xmlns:a16="http://schemas.microsoft.com/office/drawing/2014/main" id="{DD8B94B0-7026-42C4-B98F-2DF26AA8D7AF}"/>
              </a:ext>
            </a:extLst>
          </p:cNvPr>
          <p:cNvSpPr>
            <a:spLocks xmlns:a="http://schemas.openxmlformats.org/drawingml/2006/main" noGrp="1"/>
          </p:cNvSpPr>
          <p:nvPr/>
        </p:nvSpPr>
        <p:spPr>
          <a:xfrm xmlns:a="http://schemas.openxmlformats.org/drawingml/2006/main">
            <a:off x="4495800" y="5934075"/>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C4CDC2"/>
                </a:solidFill>
                <a:latin typeface="Arial"/>
                <a:ea typeface="Arial"/>
                <a:cs typeface="Arial"/>
              </a:defRPr>
            </a:pPr>
            <a:r>
              <a:rPr sz="1050" b="0">
                <a:solidFill>
                  <a:srgbClr val="C4CDC2"/>
                </a:solidFill>
                <a:latin typeface="Arial"/>
                <a:ea typeface="Arial"/>
                <a:cs typeface="Arial"/>
              </a:rPr>
              <a:t>Prime State tests; client approves</a:t>
            </a:r>
          </a:p>
        </p:txBody>
      </p:sp>
      <p:sp>
        <p:nvSpPr>
          <p:cNvPr id="32" name="stage5">
            <a:extLst xmlns:a="http://schemas.openxmlformats.org/drawingml/2006/main">
              <a:ext uri="{FF2B5EF4-FFF2-40B4-BE49-F238E27FC236}">
                <a16:creationId xmlns:a16="http://schemas.microsoft.com/office/drawing/2014/main" id="{D7A4DA6D-9639-4DB4-AD1A-C67888511F95}"/>
              </a:ext>
            </a:extLst>
          </p:cNvPr>
          <p:cNvSpPr>
            <a:spLocks xmlns:a="http://schemas.openxmlformats.org/drawingml/2006/main" noGrp="1"/>
          </p:cNvSpPr>
          <p:nvPr/>
        </p:nvSpPr>
        <p:spPr>
          <a:xfrm xmlns:a="http://schemas.openxmlformats.org/drawingml/2006/main">
            <a:off x="533400" y="4391025"/>
            <a:ext cx="3505200" cy="1857375"/>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33" name="stitle5">
            <a:extLst xmlns:a="http://schemas.openxmlformats.org/drawingml/2006/main">
              <a:ext uri="{FF2B5EF4-FFF2-40B4-BE49-F238E27FC236}">
                <a16:creationId xmlns:a16="http://schemas.microsoft.com/office/drawing/2014/main" id="{FC599F5D-E6CC-420D-B175-C4D23AE36453}"/>
              </a:ext>
            </a:extLst>
          </p:cNvPr>
          <p:cNvSpPr>
            <a:spLocks xmlns:a="http://schemas.openxmlformats.org/drawingml/2006/main" noGrp="1"/>
          </p:cNvSpPr>
          <p:nvPr/>
        </p:nvSpPr>
        <p:spPr>
          <a:xfrm xmlns:a="http://schemas.openxmlformats.org/drawingml/2006/main">
            <a:off x="685800" y="449580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1916"/>
                </a:solidFill>
                <a:latin typeface="Georgia"/>
                <a:ea typeface="Georgia"/>
                <a:cs typeface="Georgia"/>
              </a:defRPr>
            </a:pPr>
            <a:r>
              <a:rPr sz="1875" b="0">
                <a:solidFill>
                  <a:srgbClr val="171916"/>
                </a:solidFill>
                <a:latin typeface="Georgia"/>
                <a:ea typeface="Georgia"/>
                <a:cs typeface="Georgia"/>
              </a:rPr>
              <a:t>06  Operate &amp; improve</a:t>
            </a:r>
          </a:p>
        </p:txBody>
      </p:sp>
      <p:sp>
        <p:nvSpPr>
          <p:cNvPr id="34" name="action5">
            <a:extLst xmlns:a="http://schemas.openxmlformats.org/drawingml/2006/main">
              <a:ext uri="{FF2B5EF4-FFF2-40B4-BE49-F238E27FC236}">
                <a16:creationId xmlns:a16="http://schemas.microsoft.com/office/drawing/2014/main" id="{FF9586A6-2650-4EFD-BCB0-B36D10A425E6}"/>
              </a:ext>
            </a:extLst>
          </p:cNvPr>
          <p:cNvSpPr>
            <a:spLocks xmlns:a="http://schemas.openxmlformats.org/drawingml/2006/main" noGrp="1"/>
          </p:cNvSpPr>
          <p:nvPr/>
        </p:nvSpPr>
        <p:spPr>
          <a:xfrm xmlns:a="http://schemas.openxmlformats.org/drawingml/2006/main">
            <a:off x="685800" y="4943475"/>
            <a:ext cx="319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6B63"/>
                </a:solidFill>
                <a:latin typeface="Arial"/>
                <a:ea typeface="Arial"/>
                <a:cs typeface="Arial"/>
              </a:defRPr>
            </a:pPr>
            <a:r>
              <a:rPr sz="1500" b="0">
                <a:solidFill>
                  <a:srgbClr val="666B63"/>
                </a:solidFill>
                <a:latin typeface="Arial"/>
                <a:ea typeface="Arial"/>
                <a:cs typeface="Arial"/>
              </a:rPr>
              <a:t>Monitor runs and review issues.</a:t>
            </a:r>
          </a:p>
        </p:txBody>
      </p:sp>
      <p:sp>
        <p:nvSpPr>
          <p:cNvPr id="35" name="out5">
            <a:extLst xmlns:a="http://schemas.openxmlformats.org/drawingml/2006/main">
              <a:ext uri="{FF2B5EF4-FFF2-40B4-BE49-F238E27FC236}">
                <a16:creationId xmlns:a16="http://schemas.microsoft.com/office/drawing/2014/main" id="{035BFAFB-4412-4715-A071-356315454A81}"/>
              </a:ext>
            </a:extLst>
          </p:cNvPr>
          <p:cNvSpPr>
            <a:spLocks xmlns:a="http://schemas.openxmlformats.org/drawingml/2006/main" noGrp="1"/>
          </p:cNvSpPr>
          <p:nvPr/>
        </p:nvSpPr>
        <p:spPr>
          <a:xfrm xmlns:a="http://schemas.openxmlformats.org/drawingml/2006/main">
            <a:off x="685800" y="551497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2594A"/>
                </a:solidFill>
                <a:latin typeface="Arial"/>
                <a:ea typeface="Arial"/>
                <a:cs typeface="Arial"/>
              </a:defRPr>
            </a:pPr>
            <a:r>
              <a:rPr sz="1200" b="0">
                <a:solidFill>
                  <a:srgbClr val="42594A"/>
                </a:solidFill>
                <a:latin typeface="Arial"/>
                <a:ea typeface="Arial"/>
                <a:cs typeface="Arial"/>
              </a:rPr>
              <a:t>OUTPUT  Review cadence + refinements</a:t>
            </a:r>
          </a:p>
        </p:txBody>
      </p:sp>
      <p:sp>
        <p:nvSpPr>
          <p:cNvPr id="36" name="owner5">
            <a:extLst xmlns:a="http://schemas.openxmlformats.org/drawingml/2006/main">
              <a:ext uri="{FF2B5EF4-FFF2-40B4-BE49-F238E27FC236}">
                <a16:creationId xmlns:a16="http://schemas.microsoft.com/office/drawing/2014/main" id="{5C20A5FD-57B3-410A-B64E-707C1D19F8AC}"/>
              </a:ext>
            </a:extLst>
          </p:cNvPr>
          <p:cNvSpPr>
            <a:spLocks xmlns:a="http://schemas.openxmlformats.org/drawingml/2006/main" noGrp="1"/>
          </p:cNvSpPr>
          <p:nvPr/>
        </p:nvSpPr>
        <p:spPr>
          <a:xfrm xmlns:a="http://schemas.openxmlformats.org/drawingml/2006/main">
            <a:off x="685800" y="5934075"/>
            <a:ext cx="319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66B63"/>
                </a:solidFill>
                <a:latin typeface="Arial"/>
                <a:ea typeface="Arial"/>
                <a:cs typeface="Arial"/>
              </a:defRPr>
            </a:pPr>
            <a:r>
              <a:rPr sz="1050" b="0">
                <a:solidFill>
                  <a:srgbClr val="666B63"/>
                </a:solidFill>
                <a:latin typeface="Arial"/>
                <a:ea typeface="Arial"/>
                <a:cs typeface="Arial"/>
              </a:rPr>
              <a:t>Prime State; joint review</a:t>
            </a:r>
          </a:p>
        </p:txBody>
      </p:sp>
      <p:sp>
        <p:nvSpPr>
          <p:cNvPr id="37" name="sequence">
            <a:extLst xmlns:a="http://schemas.openxmlformats.org/drawingml/2006/main">
              <a:ext uri="{FF2B5EF4-FFF2-40B4-BE49-F238E27FC236}">
                <a16:creationId xmlns:a16="http://schemas.microsoft.com/office/drawing/2014/main" id="{AEB37275-D076-4379-A07E-90F58ADCF896}"/>
              </a:ext>
            </a:extLst>
          </p:cNvPr>
          <p:cNvSpPr>
            <a:spLocks xmlns:a="http://schemas.openxmlformats.org/drawingml/2006/main" noGrp="1"/>
          </p:cNvSpPr>
          <p:nvPr/>
        </p:nvSpPr>
        <p:spPr>
          <a:xfrm xmlns:a="http://schemas.openxmlformats.org/drawingml/2006/main">
            <a:off x="4067175" y="3143250"/>
            <a:ext cx="238125" cy="171450"/>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38" name="sequence">
            <a:extLst xmlns:a="http://schemas.openxmlformats.org/drawingml/2006/main">
              <a:ext uri="{FF2B5EF4-FFF2-40B4-BE49-F238E27FC236}">
                <a16:creationId xmlns:a16="http://schemas.microsoft.com/office/drawing/2014/main" id="{C6E04046-C4B0-4B56-9390-0CB5A983F081}"/>
              </a:ext>
            </a:extLst>
          </p:cNvPr>
          <p:cNvSpPr>
            <a:spLocks xmlns:a="http://schemas.openxmlformats.org/drawingml/2006/main" noGrp="1"/>
          </p:cNvSpPr>
          <p:nvPr/>
        </p:nvSpPr>
        <p:spPr>
          <a:xfrm xmlns:a="http://schemas.openxmlformats.org/drawingml/2006/main">
            <a:off x="4067175" y="5191125"/>
            <a:ext cx="238125" cy="171450"/>
          </a:xfrm>
          <a:prstGeom xmlns:a="http://schemas.openxmlformats.org/drawingml/2006/main" prst="leftArrow">
            <a:avLst/>
          </a:prstGeom>
          <a:solidFill xmlns:a="http://schemas.openxmlformats.org/drawingml/2006/main">
            <a:srgbClr val="42594A"/>
          </a:solidFill>
          <a:ln xmlns:a="http://schemas.openxmlformats.org/drawingml/2006/main" w="0">
            <a:noFill/>
          </a:ln>
        </p:spPr>
      </p:sp>
      <p:sp>
        <p:nvSpPr>
          <p:cNvPr id="39" name="sequence">
            <a:extLst xmlns:a="http://schemas.openxmlformats.org/drawingml/2006/main">
              <a:ext uri="{FF2B5EF4-FFF2-40B4-BE49-F238E27FC236}">
                <a16:creationId xmlns:a16="http://schemas.microsoft.com/office/drawing/2014/main" id="{6C34B598-0AA2-413D-827F-1AA870511F67}"/>
              </a:ext>
            </a:extLst>
          </p:cNvPr>
          <p:cNvSpPr>
            <a:spLocks xmlns:a="http://schemas.openxmlformats.org/drawingml/2006/main" noGrp="1"/>
          </p:cNvSpPr>
          <p:nvPr/>
        </p:nvSpPr>
        <p:spPr>
          <a:xfrm xmlns:a="http://schemas.openxmlformats.org/drawingml/2006/main">
            <a:off x="7877175" y="3143250"/>
            <a:ext cx="238125" cy="171450"/>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40" name="sequence">
            <a:extLst xmlns:a="http://schemas.openxmlformats.org/drawingml/2006/main">
              <a:ext uri="{FF2B5EF4-FFF2-40B4-BE49-F238E27FC236}">
                <a16:creationId xmlns:a16="http://schemas.microsoft.com/office/drawing/2014/main" id="{7E30F3E2-3065-4A33-A735-624DD57247CB}"/>
              </a:ext>
            </a:extLst>
          </p:cNvPr>
          <p:cNvSpPr>
            <a:spLocks xmlns:a="http://schemas.openxmlformats.org/drawingml/2006/main" noGrp="1"/>
          </p:cNvSpPr>
          <p:nvPr/>
        </p:nvSpPr>
        <p:spPr>
          <a:xfrm xmlns:a="http://schemas.openxmlformats.org/drawingml/2006/main">
            <a:off x="7877175" y="5191125"/>
            <a:ext cx="238125" cy="171450"/>
          </a:xfrm>
          <a:prstGeom xmlns:a="http://schemas.openxmlformats.org/drawingml/2006/main" prst="leftArrow">
            <a:avLst/>
          </a:prstGeom>
          <a:solidFill xmlns:a="http://schemas.openxmlformats.org/drawingml/2006/main">
            <a:srgbClr val="42594A"/>
          </a:solidFill>
          <a:ln xmlns:a="http://schemas.openxmlformats.org/drawingml/2006/main" w="0">
            <a:noFill/>
          </a:ln>
        </p:spPr>
      </p:sp>
      <p:sp>
        <p:nvSpPr>
          <p:cNvPr id="41" name="sequence">
            <a:extLst xmlns:a="http://schemas.openxmlformats.org/drawingml/2006/main">
              <a:ext uri="{FF2B5EF4-FFF2-40B4-BE49-F238E27FC236}">
                <a16:creationId xmlns:a16="http://schemas.microsoft.com/office/drawing/2014/main" id="{77767E7A-0275-445E-8EF9-8F79194D74AB}"/>
              </a:ext>
            </a:extLst>
          </p:cNvPr>
          <p:cNvSpPr>
            <a:spLocks xmlns:a="http://schemas.openxmlformats.org/drawingml/2006/main" noGrp="1"/>
          </p:cNvSpPr>
          <p:nvPr/>
        </p:nvSpPr>
        <p:spPr>
          <a:xfrm xmlns:a="http://schemas.openxmlformats.org/drawingml/2006/main">
            <a:off x="9810750" y="4229100"/>
            <a:ext cx="180975" cy="133350"/>
          </a:xfrm>
          <a:prstGeom xmlns:a="http://schemas.openxmlformats.org/drawingml/2006/main" prst="downArrow">
            <a:avLst/>
          </a:prstGeom>
          <a:solidFill xmlns:a="http://schemas.openxmlformats.org/drawingml/2006/main">
            <a:srgbClr val="42594A"/>
          </a:solidFill>
          <a:ln xmlns:a="http://schemas.openxmlformats.org/drawingml/2006/main" w="0">
            <a:noFill/>
          </a:ln>
        </p:spPr>
      </p:sp>
    </p:spTree>
    <p:extLst>
      <p:ext uri="{BB962C8B-B14F-4D97-AF65-F5344CB8AC3E}">
        <p14:creationId xmlns:p14="http://schemas.microsoft.com/office/powerpoint/2010/main" val="225809177"/>
      </p:ext>
    </p:extLst>
  </p:cSld>
</p:sld>
</file>

<file path=ppt/slides/slide5.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51" name="PRIME STATE SYSTEMS">
            <a:extLst xmlns:a="http://schemas.openxmlformats.org/drawingml/2006/main">
              <a:ext uri="{FF2B5EF4-FFF2-40B4-BE49-F238E27FC236}">
                <a16:creationId xmlns:a16="http://schemas.microsoft.com/office/drawing/2014/main" id="{9A9D3679-FDBB-4FFB-87C0-735CCD05215A}"/>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5 / WORKFLOW EXAMPLE">
            <a:extLst xmlns:a="http://schemas.openxmlformats.org/drawingml/2006/main">
              <a:ext uri="{FF2B5EF4-FFF2-40B4-BE49-F238E27FC236}">
                <a16:creationId xmlns:a16="http://schemas.microsoft.com/office/drawing/2014/main" id="{464E2884-2DC5-4202-BB8B-B264027A2EFF}"/>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05 / WORKFLOW EXAMPLE</a:t>
            </a:r>
          </a:p>
        </p:txBody>
      </p:sp>
      <p:sp>
        <p:nvSpPr>
          <p:cNvPr id="3" name="headline">
            <a:extLst xmlns:a="http://schemas.openxmlformats.org/drawingml/2006/main">
              <a:ext uri="{FF2B5EF4-FFF2-40B4-BE49-F238E27FC236}">
                <a16:creationId xmlns:a16="http://schemas.microsoft.com/office/drawing/2014/main" id="{7585B27C-3290-46E8-B06C-87923C94E189}"/>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Document automation, including the exceptions</a:t>
            </a:r>
          </a:p>
        </p:txBody>
      </p:sp>
      <p:sp>
        <p:nvSpPr>
          <p:cNvPr id="4" name="subhead">
            <a:extLst xmlns:a="http://schemas.openxmlformats.org/drawingml/2006/main">
              <a:ext uri="{FF2B5EF4-FFF2-40B4-BE49-F238E27FC236}">
                <a16:creationId xmlns:a16="http://schemas.microsoft.com/office/drawing/2014/main" id="{4F6F9B9D-46C1-4510-AF53-FF663D338275}"/>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Define the template, source fields and approval conditions before generation begins.</a:t>
            </a:r>
          </a:p>
        </p:txBody>
      </p:sp>
      <p:sp>
        <p:nvSpPr>
          <p:cNvPr id="5" name="rule">
            <a:extLst xmlns:a="http://schemas.openxmlformats.org/drawingml/2006/main">
              <a:ext uri="{FF2B5EF4-FFF2-40B4-BE49-F238E27FC236}">
                <a16:creationId xmlns:a16="http://schemas.microsoft.com/office/drawing/2014/main" id="{E2BF93C3-3902-4F05-8F47-B58BCB321BFE}"/>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88E3B24A-4DFA-41E4-B7F5-76D22022B2B0}"/>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document-step0">
            <a:extLst xmlns:a="http://schemas.openxmlformats.org/drawingml/2006/main">
              <a:ext uri="{FF2B5EF4-FFF2-40B4-BE49-F238E27FC236}">
                <a16:creationId xmlns:a16="http://schemas.microsoft.com/office/drawing/2014/main" id="{016A061D-BBAD-4ECC-B61D-0ED2FC6DEB52}"/>
              </a:ext>
            </a:extLst>
          </p:cNvPr>
          <p:cNvSpPr>
            <a:spLocks xmlns:a="http://schemas.openxmlformats.org/drawingml/2006/main" noGrp="1"/>
          </p:cNvSpPr>
          <p:nvPr/>
        </p:nvSpPr>
        <p:spPr>
          <a:xfrm xmlns:a="http://schemas.openxmlformats.org/drawingml/2006/main">
            <a:off x="533400" y="2457450"/>
            <a:ext cx="1647825" cy="146685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8" name="01">
            <a:extLst xmlns:a="http://schemas.openxmlformats.org/drawingml/2006/main">
              <a:ext uri="{FF2B5EF4-FFF2-40B4-BE49-F238E27FC236}">
                <a16:creationId xmlns:a16="http://schemas.microsoft.com/office/drawing/2014/main" id="{53E86005-E01A-424D-AD3D-EF760F782AE9}"/>
              </a:ext>
            </a:extLst>
          </p:cNvPr>
          <p:cNvSpPr>
            <a:spLocks xmlns:a="http://schemas.openxmlformats.org/drawingml/2006/main" noGrp="1"/>
          </p:cNvSpPr>
          <p:nvPr/>
        </p:nvSpPr>
        <p:spPr>
          <a:xfrm xmlns:a="http://schemas.openxmlformats.org/drawingml/2006/main">
            <a:off x="647700"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01</a:t>
            </a:r>
          </a:p>
        </p:txBody>
      </p:sp>
      <p:sp>
        <p:nvSpPr>
          <p:cNvPr id="9" name="doc-head0">
            <a:extLst xmlns:a="http://schemas.openxmlformats.org/drawingml/2006/main">
              <a:ext uri="{FF2B5EF4-FFF2-40B4-BE49-F238E27FC236}">
                <a16:creationId xmlns:a16="http://schemas.microsoft.com/office/drawing/2014/main" id="{5F90881A-275A-4ADE-9D61-6766EA6A2CD8}"/>
              </a:ext>
            </a:extLst>
          </p:cNvPr>
          <p:cNvSpPr>
            <a:spLocks xmlns:a="http://schemas.openxmlformats.org/drawingml/2006/main" noGrp="1"/>
          </p:cNvSpPr>
          <p:nvPr/>
        </p:nvSpPr>
        <p:spPr>
          <a:xfrm xmlns:a="http://schemas.openxmlformats.org/drawingml/2006/main">
            <a:off x="647700" y="28289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Georgia"/>
                <a:ea typeface="Georgia"/>
                <a:cs typeface="Georgia"/>
              </a:defRPr>
            </a:pPr>
            <a:r>
              <a:rPr sz="1575" b="0">
                <a:solidFill>
                  <a:srgbClr val="171916"/>
                </a:solidFill>
                <a:latin typeface="Georgia"/>
                <a:ea typeface="Georgia"/>
                <a:cs typeface="Georgia"/>
              </a:rPr>
              <a:t>Template</a:t>
            </a:r>
          </a:p>
        </p:txBody>
      </p:sp>
      <p:sp>
        <p:nvSpPr>
          <p:cNvPr id="10" name="doc-detail0">
            <a:extLst xmlns:a="http://schemas.openxmlformats.org/drawingml/2006/main">
              <a:ext uri="{FF2B5EF4-FFF2-40B4-BE49-F238E27FC236}">
                <a16:creationId xmlns:a16="http://schemas.microsoft.com/office/drawing/2014/main" id="{68DF0EA9-1C02-4941-A896-5D297EE2411D}"/>
              </a:ext>
            </a:extLst>
          </p:cNvPr>
          <p:cNvSpPr>
            <a:spLocks xmlns:a="http://schemas.openxmlformats.org/drawingml/2006/main" noGrp="1"/>
          </p:cNvSpPr>
          <p:nvPr/>
        </p:nvSpPr>
        <p:spPr>
          <a:xfrm xmlns:a="http://schemas.openxmlformats.org/drawingml/2006/main">
            <a:off x="647700" y="3295650"/>
            <a:ext cx="144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Version and</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document type.</a:t>
            </a:r>
          </a:p>
        </p:txBody>
      </p:sp>
      <p:sp>
        <p:nvSpPr>
          <p:cNvPr id="11" name="sequence">
            <a:extLst xmlns:a="http://schemas.openxmlformats.org/drawingml/2006/main">
              <a:ext uri="{FF2B5EF4-FFF2-40B4-BE49-F238E27FC236}">
                <a16:creationId xmlns:a16="http://schemas.microsoft.com/office/drawing/2014/main" id="{3E16D42F-785F-4AE2-BFCB-AAE0E220AB41}"/>
              </a:ext>
            </a:extLst>
          </p:cNvPr>
          <p:cNvSpPr>
            <a:spLocks xmlns:a="http://schemas.openxmlformats.org/drawingml/2006/main" noGrp="1"/>
          </p:cNvSpPr>
          <p:nvPr/>
        </p:nvSpPr>
        <p:spPr>
          <a:xfrm xmlns:a="http://schemas.openxmlformats.org/drawingml/2006/main">
            <a:off x="2219325"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12" name="document-step1">
            <a:extLst xmlns:a="http://schemas.openxmlformats.org/drawingml/2006/main">
              <a:ext uri="{FF2B5EF4-FFF2-40B4-BE49-F238E27FC236}">
                <a16:creationId xmlns:a16="http://schemas.microsoft.com/office/drawing/2014/main" id="{55649542-0EA9-4E7D-9562-9C2C87E61A66}"/>
              </a:ext>
            </a:extLst>
          </p:cNvPr>
          <p:cNvSpPr>
            <a:spLocks xmlns:a="http://schemas.openxmlformats.org/drawingml/2006/main" noGrp="1"/>
          </p:cNvSpPr>
          <p:nvPr/>
        </p:nvSpPr>
        <p:spPr>
          <a:xfrm xmlns:a="http://schemas.openxmlformats.org/drawingml/2006/main">
            <a:off x="2428875" y="2457450"/>
            <a:ext cx="1647825" cy="146685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13" name="02">
            <a:extLst xmlns:a="http://schemas.openxmlformats.org/drawingml/2006/main">
              <a:ext uri="{FF2B5EF4-FFF2-40B4-BE49-F238E27FC236}">
                <a16:creationId xmlns:a16="http://schemas.microsoft.com/office/drawing/2014/main" id="{617ABE26-AF01-4D3B-AD87-0EDA5402AFA6}"/>
              </a:ext>
            </a:extLst>
          </p:cNvPr>
          <p:cNvSpPr>
            <a:spLocks xmlns:a="http://schemas.openxmlformats.org/drawingml/2006/main" noGrp="1"/>
          </p:cNvSpPr>
          <p:nvPr/>
        </p:nvSpPr>
        <p:spPr>
          <a:xfrm xmlns:a="http://schemas.openxmlformats.org/drawingml/2006/main">
            <a:off x="2543175"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02</a:t>
            </a:r>
          </a:p>
        </p:txBody>
      </p:sp>
      <p:sp>
        <p:nvSpPr>
          <p:cNvPr id="14" name="doc-head1">
            <a:extLst xmlns:a="http://schemas.openxmlformats.org/drawingml/2006/main">
              <a:ext uri="{FF2B5EF4-FFF2-40B4-BE49-F238E27FC236}">
                <a16:creationId xmlns:a16="http://schemas.microsoft.com/office/drawing/2014/main" id="{59DF2511-B325-49C0-8821-34213B2ABA28}"/>
              </a:ext>
            </a:extLst>
          </p:cNvPr>
          <p:cNvSpPr>
            <a:spLocks xmlns:a="http://schemas.openxmlformats.org/drawingml/2006/main" noGrp="1"/>
          </p:cNvSpPr>
          <p:nvPr/>
        </p:nvSpPr>
        <p:spPr>
          <a:xfrm xmlns:a="http://schemas.openxmlformats.org/drawingml/2006/main">
            <a:off x="2543175" y="28289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Georgia"/>
                <a:ea typeface="Georgia"/>
                <a:cs typeface="Georgia"/>
              </a:defRPr>
            </a:pPr>
            <a:r>
              <a:rPr sz="1575" b="0">
                <a:solidFill>
                  <a:srgbClr val="171916"/>
                </a:solidFill>
                <a:latin typeface="Georgia"/>
                <a:ea typeface="Georgia"/>
                <a:cs typeface="Georgia"/>
              </a:rPr>
              <a:t>Source</a:t>
            </a:r>
          </a:p>
        </p:txBody>
      </p:sp>
      <p:sp>
        <p:nvSpPr>
          <p:cNvPr id="15" name="doc-detail1">
            <a:extLst xmlns:a="http://schemas.openxmlformats.org/drawingml/2006/main">
              <a:ext uri="{FF2B5EF4-FFF2-40B4-BE49-F238E27FC236}">
                <a16:creationId xmlns:a16="http://schemas.microsoft.com/office/drawing/2014/main" id="{00672EF7-EC94-47C8-A08B-45490B9B6F01}"/>
              </a:ext>
            </a:extLst>
          </p:cNvPr>
          <p:cNvSpPr>
            <a:spLocks xmlns:a="http://schemas.openxmlformats.org/drawingml/2006/main" noGrp="1"/>
          </p:cNvSpPr>
          <p:nvPr/>
        </p:nvSpPr>
        <p:spPr>
          <a:xfrm xmlns:a="http://schemas.openxmlformats.org/drawingml/2006/main">
            <a:off x="2543175" y="3295650"/>
            <a:ext cx="144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Approved fields</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and records.</a:t>
            </a:r>
          </a:p>
        </p:txBody>
      </p:sp>
      <p:sp>
        <p:nvSpPr>
          <p:cNvPr id="16" name="sequence">
            <a:extLst xmlns:a="http://schemas.openxmlformats.org/drawingml/2006/main">
              <a:ext uri="{FF2B5EF4-FFF2-40B4-BE49-F238E27FC236}">
                <a16:creationId xmlns:a16="http://schemas.microsoft.com/office/drawing/2014/main" id="{D5090523-C96E-4A16-A0CA-FFF86F340C82}"/>
              </a:ext>
            </a:extLst>
          </p:cNvPr>
          <p:cNvSpPr>
            <a:spLocks xmlns:a="http://schemas.openxmlformats.org/drawingml/2006/main" noGrp="1"/>
          </p:cNvSpPr>
          <p:nvPr/>
        </p:nvSpPr>
        <p:spPr>
          <a:xfrm xmlns:a="http://schemas.openxmlformats.org/drawingml/2006/main">
            <a:off x="4114800"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17" name="document-step2">
            <a:extLst xmlns:a="http://schemas.openxmlformats.org/drawingml/2006/main">
              <a:ext uri="{FF2B5EF4-FFF2-40B4-BE49-F238E27FC236}">
                <a16:creationId xmlns:a16="http://schemas.microsoft.com/office/drawing/2014/main" id="{8049096B-A230-4E4D-AAAD-953906AFBAAB}"/>
              </a:ext>
            </a:extLst>
          </p:cNvPr>
          <p:cNvSpPr>
            <a:spLocks xmlns:a="http://schemas.openxmlformats.org/drawingml/2006/main" noGrp="1"/>
          </p:cNvSpPr>
          <p:nvPr/>
        </p:nvSpPr>
        <p:spPr>
          <a:xfrm xmlns:a="http://schemas.openxmlformats.org/drawingml/2006/main">
            <a:off x="4324350" y="2457450"/>
            <a:ext cx="1647825" cy="146685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18" name="03">
            <a:extLst xmlns:a="http://schemas.openxmlformats.org/drawingml/2006/main">
              <a:ext uri="{FF2B5EF4-FFF2-40B4-BE49-F238E27FC236}">
                <a16:creationId xmlns:a16="http://schemas.microsoft.com/office/drawing/2014/main" id="{BAD7F8A1-8B7F-436C-B977-67D07E6574DF}"/>
              </a:ext>
            </a:extLst>
          </p:cNvPr>
          <p:cNvSpPr>
            <a:spLocks xmlns:a="http://schemas.openxmlformats.org/drawingml/2006/main" noGrp="1"/>
          </p:cNvSpPr>
          <p:nvPr/>
        </p:nvSpPr>
        <p:spPr>
          <a:xfrm xmlns:a="http://schemas.openxmlformats.org/drawingml/2006/main">
            <a:off x="4438650"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03</a:t>
            </a:r>
          </a:p>
        </p:txBody>
      </p:sp>
      <p:sp>
        <p:nvSpPr>
          <p:cNvPr id="19" name="doc-head2">
            <a:extLst xmlns:a="http://schemas.openxmlformats.org/drawingml/2006/main">
              <a:ext uri="{FF2B5EF4-FFF2-40B4-BE49-F238E27FC236}">
                <a16:creationId xmlns:a16="http://schemas.microsoft.com/office/drawing/2014/main" id="{0C70BF7D-FFD0-4E86-A15E-36D3D0E5A77C}"/>
              </a:ext>
            </a:extLst>
          </p:cNvPr>
          <p:cNvSpPr>
            <a:spLocks xmlns:a="http://schemas.openxmlformats.org/drawingml/2006/main" noGrp="1"/>
          </p:cNvSpPr>
          <p:nvPr/>
        </p:nvSpPr>
        <p:spPr>
          <a:xfrm xmlns:a="http://schemas.openxmlformats.org/drawingml/2006/main">
            <a:off x="4438650" y="28289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Georgia"/>
                <a:ea typeface="Georgia"/>
                <a:cs typeface="Georgia"/>
              </a:defRPr>
            </a:pPr>
            <a:r>
              <a:rPr sz="1575" b="0">
                <a:solidFill>
                  <a:srgbClr val="171916"/>
                </a:solidFill>
                <a:latin typeface="Georgia"/>
                <a:ea typeface="Georgia"/>
                <a:cs typeface="Georgia"/>
              </a:rPr>
              <a:t>Validate</a:t>
            </a:r>
          </a:p>
        </p:txBody>
      </p:sp>
      <p:sp>
        <p:nvSpPr>
          <p:cNvPr id="20" name="doc-detail2">
            <a:extLst xmlns:a="http://schemas.openxmlformats.org/drawingml/2006/main">
              <a:ext uri="{FF2B5EF4-FFF2-40B4-BE49-F238E27FC236}">
                <a16:creationId xmlns:a16="http://schemas.microsoft.com/office/drawing/2014/main" id="{01FD8829-E1FD-49C1-834A-017971C817FC}"/>
              </a:ext>
            </a:extLst>
          </p:cNvPr>
          <p:cNvSpPr>
            <a:spLocks xmlns:a="http://schemas.openxmlformats.org/drawingml/2006/main" noGrp="1"/>
          </p:cNvSpPr>
          <p:nvPr/>
        </p:nvSpPr>
        <p:spPr>
          <a:xfrm xmlns:a="http://schemas.openxmlformats.org/drawingml/2006/main">
            <a:off x="4438650" y="3295650"/>
            <a:ext cx="144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Conditions and</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required fields.</a:t>
            </a:r>
          </a:p>
        </p:txBody>
      </p:sp>
      <p:sp>
        <p:nvSpPr>
          <p:cNvPr id="21" name="sequence">
            <a:extLst xmlns:a="http://schemas.openxmlformats.org/drawingml/2006/main">
              <a:ext uri="{FF2B5EF4-FFF2-40B4-BE49-F238E27FC236}">
                <a16:creationId xmlns:a16="http://schemas.microsoft.com/office/drawing/2014/main" id="{0CA9F9E9-F529-42E8-9423-77E61511BB84}"/>
              </a:ext>
            </a:extLst>
          </p:cNvPr>
          <p:cNvSpPr>
            <a:spLocks xmlns:a="http://schemas.openxmlformats.org/drawingml/2006/main" noGrp="1"/>
          </p:cNvSpPr>
          <p:nvPr/>
        </p:nvSpPr>
        <p:spPr>
          <a:xfrm xmlns:a="http://schemas.openxmlformats.org/drawingml/2006/main">
            <a:off x="6010275"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22" name="document-step3">
            <a:extLst xmlns:a="http://schemas.openxmlformats.org/drawingml/2006/main">
              <a:ext uri="{FF2B5EF4-FFF2-40B4-BE49-F238E27FC236}">
                <a16:creationId xmlns:a16="http://schemas.microsoft.com/office/drawing/2014/main" id="{EF566A5D-DD9E-4376-B700-8E8A1523FA3C}"/>
              </a:ext>
            </a:extLst>
          </p:cNvPr>
          <p:cNvSpPr>
            <a:spLocks xmlns:a="http://schemas.openxmlformats.org/drawingml/2006/main" noGrp="1"/>
          </p:cNvSpPr>
          <p:nvPr/>
        </p:nvSpPr>
        <p:spPr>
          <a:xfrm xmlns:a="http://schemas.openxmlformats.org/drawingml/2006/main">
            <a:off x="6219825" y="2457450"/>
            <a:ext cx="1647825" cy="146685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23" name="04">
            <a:extLst xmlns:a="http://schemas.openxmlformats.org/drawingml/2006/main">
              <a:ext uri="{FF2B5EF4-FFF2-40B4-BE49-F238E27FC236}">
                <a16:creationId xmlns:a16="http://schemas.microsoft.com/office/drawing/2014/main" id="{F1565980-3934-4CF8-B2FE-90FFFBE128F1}"/>
              </a:ext>
            </a:extLst>
          </p:cNvPr>
          <p:cNvSpPr>
            <a:spLocks xmlns:a="http://schemas.openxmlformats.org/drawingml/2006/main" noGrp="1"/>
          </p:cNvSpPr>
          <p:nvPr/>
        </p:nvSpPr>
        <p:spPr>
          <a:xfrm xmlns:a="http://schemas.openxmlformats.org/drawingml/2006/main">
            <a:off x="6334125"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04</a:t>
            </a:r>
          </a:p>
        </p:txBody>
      </p:sp>
      <p:sp>
        <p:nvSpPr>
          <p:cNvPr id="24" name="doc-head3">
            <a:extLst xmlns:a="http://schemas.openxmlformats.org/drawingml/2006/main">
              <a:ext uri="{FF2B5EF4-FFF2-40B4-BE49-F238E27FC236}">
                <a16:creationId xmlns:a16="http://schemas.microsoft.com/office/drawing/2014/main" id="{D4E01C53-1FE9-48EA-ACBB-15F57D34C388}"/>
              </a:ext>
            </a:extLst>
          </p:cNvPr>
          <p:cNvSpPr>
            <a:spLocks xmlns:a="http://schemas.openxmlformats.org/drawingml/2006/main" noGrp="1"/>
          </p:cNvSpPr>
          <p:nvPr/>
        </p:nvSpPr>
        <p:spPr>
          <a:xfrm xmlns:a="http://schemas.openxmlformats.org/drawingml/2006/main">
            <a:off x="6334125" y="28289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Georgia"/>
                <a:ea typeface="Georgia"/>
                <a:cs typeface="Georgia"/>
              </a:defRPr>
            </a:pPr>
            <a:r>
              <a:rPr sz="1575" b="0">
                <a:solidFill>
                  <a:srgbClr val="171916"/>
                </a:solidFill>
                <a:latin typeface="Georgia"/>
                <a:ea typeface="Georgia"/>
                <a:cs typeface="Georgia"/>
              </a:rPr>
              <a:t>Approve</a:t>
            </a:r>
          </a:p>
        </p:txBody>
      </p:sp>
      <p:sp>
        <p:nvSpPr>
          <p:cNvPr id="25" name="doc-detail3">
            <a:extLst xmlns:a="http://schemas.openxmlformats.org/drawingml/2006/main">
              <a:ext uri="{FF2B5EF4-FFF2-40B4-BE49-F238E27FC236}">
                <a16:creationId xmlns:a16="http://schemas.microsoft.com/office/drawing/2014/main" id="{E7A096AE-1350-454A-A42E-F418D3AAB485}"/>
              </a:ext>
            </a:extLst>
          </p:cNvPr>
          <p:cNvSpPr>
            <a:spLocks xmlns:a="http://schemas.openxmlformats.org/drawingml/2006/main" noGrp="1"/>
          </p:cNvSpPr>
          <p:nvPr/>
        </p:nvSpPr>
        <p:spPr>
          <a:xfrm xmlns:a="http://schemas.openxmlformats.org/drawingml/2006/main">
            <a:off x="6334125" y="3295650"/>
            <a:ext cx="144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Agreed approval</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mode.</a:t>
            </a:r>
          </a:p>
        </p:txBody>
      </p:sp>
      <p:sp>
        <p:nvSpPr>
          <p:cNvPr id="26" name="sequence">
            <a:extLst xmlns:a="http://schemas.openxmlformats.org/drawingml/2006/main">
              <a:ext uri="{FF2B5EF4-FFF2-40B4-BE49-F238E27FC236}">
                <a16:creationId xmlns:a16="http://schemas.microsoft.com/office/drawing/2014/main" id="{1286F5E2-F9B7-424D-85A4-FC544E69BB3C}"/>
              </a:ext>
            </a:extLst>
          </p:cNvPr>
          <p:cNvSpPr>
            <a:spLocks xmlns:a="http://schemas.openxmlformats.org/drawingml/2006/main" noGrp="1"/>
          </p:cNvSpPr>
          <p:nvPr/>
        </p:nvSpPr>
        <p:spPr>
          <a:xfrm xmlns:a="http://schemas.openxmlformats.org/drawingml/2006/main">
            <a:off x="7905750"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27" name="document-step4">
            <a:extLst xmlns:a="http://schemas.openxmlformats.org/drawingml/2006/main">
              <a:ext uri="{FF2B5EF4-FFF2-40B4-BE49-F238E27FC236}">
                <a16:creationId xmlns:a16="http://schemas.microsoft.com/office/drawing/2014/main" id="{4F699967-CE58-4186-8234-4846A5AC2E58}"/>
              </a:ext>
            </a:extLst>
          </p:cNvPr>
          <p:cNvSpPr>
            <a:spLocks xmlns:a="http://schemas.openxmlformats.org/drawingml/2006/main" noGrp="1"/>
          </p:cNvSpPr>
          <p:nvPr/>
        </p:nvSpPr>
        <p:spPr>
          <a:xfrm xmlns:a="http://schemas.openxmlformats.org/drawingml/2006/main">
            <a:off x="8115300" y="2457450"/>
            <a:ext cx="1647825" cy="146685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28" name="05">
            <a:extLst xmlns:a="http://schemas.openxmlformats.org/drawingml/2006/main">
              <a:ext uri="{FF2B5EF4-FFF2-40B4-BE49-F238E27FC236}">
                <a16:creationId xmlns:a16="http://schemas.microsoft.com/office/drawing/2014/main" id="{034A8868-00A1-4129-9BBE-E1BF2C6D8403}"/>
              </a:ext>
            </a:extLst>
          </p:cNvPr>
          <p:cNvSpPr>
            <a:spLocks xmlns:a="http://schemas.openxmlformats.org/drawingml/2006/main" noGrp="1"/>
          </p:cNvSpPr>
          <p:nvPr/>
        </p:nvSpPr>
        <p:spPr>
          <a:xfrm xmlns:a="http://schemas.openxmlformats.org/drawingml/2006/main">
            <a:off x="8229600"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05</a:t>
            </a:r>
          </a:p>
        </p:txBody>
      </p:sp>
      <p:sp>
        <p:nvSpPr>
          <p:cNvPr id="29" name="doc-head4">
            <a:extLst xmlns:a="http://schemas.openxmlformats.org/drawingml/2006/main">
              <a:ext uri="{FF2B5EF4-FFF2-40B4-BE49-F238E27FC236}">
                <a16:creationId xmlns:a16="http://schemas.microsoft.com/office/drawing/2014/main" id="{9BDD1324-75DA-4174-94F4-5491DEA13F0B}"/>
              </a:ext>
            </a:extLst>
          </p:cNvPr>
          <p:cNvSpPr>
            <a:spLocks xmlns:a="http://schemas.openxmlformats.org/drawingml/2006/main" noGrp="1"/>
          </p:cNvSpPr>
          <p:nvPr/>
        </p:nvSpPr>
        <p:spPr>
          <a:xfrm xmlns:a="http://schemas.openxmlformats.org/drawingml/2006/main">
            <a:off x="8229600" y="28289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Georgia"/>
                <a:ea typeface="Georgia"/>
                <a:cs typeface="Georgia"/>
              </a:defRPr>
            </a:pPr>
            <a:r>
              <a:rPr sz="1575" b="0">
                <a:solidFill>
                  <a:srgbClr val="171916"/>
                </a:solidFill>
                <a:latin typeface="Georgia"/>
                <a:ea typeface="Georgia"/>
                <a:cs typeface="Georgia"/>
              </a:rPr>
              <a:t>Generate</a:t>
            </a:r>
          </a:p>
        </p:txBody>
      </p:sp>
      <p:sp>
        <p:nvSpPr>
          <p:cNvPr id="30" name="doc-detail4">
            <a:extLst xmlns:a="http://schemas.openxmlformats.org/drawingml/2006/main">
              <a:ext uri="{FF2B5EF4-FFF2-40B4-BE49-F238E27FC236}">
                <a16:creationId xmlns:a16="http://schemas.microsoft.com/office/drawing/2014/main" id="{AA11F68F-303C-495C-8781-1032691AE163}"/>
              </a:ext>
            </a:extLst>
          </p:cNvPr>
          <p:cNvSpPr>
            <a:spLocks xmlns:a="http://schemas.openxmlformats.org/drawingml/2006/main" noGrp="1"/>
          </p:cNvSpPr>
          <p:nvPr/>
        </p:nvSpPr>
        <p:spPr>
          <a:xfrm xmlns:a="http://schemas.openxmlformats.org/drawingml/2006/main">
            <a:off x="8229600" y="3295650"/>
            <a:ext cx="144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Configured</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provider adapter.</a:t>
            </a:r>
          </a:p>
        </p:txBody>
      </p:sp>
      <p:sp>
        <p:nvSpPr>
          <p:cNvPr id="31" name="sequence">
            <a:extLst xmlns:a="http://schemas.openxmlformats.org/drawingml/2006/main">
              <a:ext uri="{FF2B5EF4-FFF2-40B4-BE49-F238E27FC236}">
                <a16:creationId xmlns:a16="http://schemas.microsoft.com/office/drawing/2014/main" id="{31F2DFC6-F200-49B8-B234-48A52C7C3B19}"/>
              </a:ext>
            </a:extLst>
          </p:cNvPr>
          <p:cNvSpPr>
            <a:spLocks xmlns:a="http://schemas.openxmlformats.org/drawingml/2006/main" noGrp="1"/>
          </p:cNvSpPr>
          <p:nvPr/>
        </p:nvSpPr>
        <p:spPr>
          <a:xfrm xmlns:a="http://schemas.openxmlformats.org/drawingml/2006/main">
            <a:off x="9801225" y="3000375"/>
            <a:ext cx="171450" cy="123825"/>
          </a:xfrm>
          <a:prstGeom xmlns:a="http://schemas.openxmlformats.org/drawingml/2006/main" prst="rightArrow">
            <a:avLst/>
          </a:prstGeom>
          <a:solidFill xmlns:a="http://schemas.openxmlformats.org/drawingml/2006/main">
            <a:srgbClr val="42594A"/>
          </a:solidFill>
          <a:ln xmlns:a="http://schemas.openxmlformats.org/drawingml/2006/main" w="0">
            <a:noFill/>
          </a:ln>
        </p:spPr>
      </p:sp>
      <p:sp>
        <p:nvSpPr>
          <p:cNvPr id="32" name="document-step5">
            <a:extLst xmlns:a="http://schemas.openxmlformats.org/drawingml/2006/main">
              <a:ext uri="{FF2B5EF4-FFF2-40B4-BE49-F238E27FC236}">
                <a16:creationId xmlns:a16="http://schemas.microsoft.com/office/drawing/2014/main" id="{23F4842D-CCE0-4F0B-84C2-C9C8572A7726}"/>
              </a:ext>
            </a:extLst>
          </p:cNvPr>
          <p:cNvSpPr>
            <a:spLocks xmlns:a="http://schemas.openxmlformats.org/drawingml/2006/main" noGrp="1"/>
          </p:cNvSpPr>
          <p:nvPr/>
        </p:nvSpPr>
        <p:spPr>
          <a:xfrm xmlns:a="http://schemas.openxmlformats.org/drawingml/2006/main">
            <a:off x="10010775" y="2457450"/>
            <a:ext cx="1647825" cy="1466850"/>
          </a:xfrm>
          <a:prstGeom xmlns:a="http://schemas.openxmlformats.org/drawingml/2006/main" prst="rect">
            <a:avLst/>
          </a:prstGeom>
          <a:solidFill xmlns:a="http://schemas.openxmlformats.org/drawingml/2006/main">
            <a:srgbClr val="EEF1E9"/>
          </a:solidFill>
          <a:ln xmlns:a="http://schemas.openxmlformats.org/drawingml/2006/main" w="9525">
            <a:solidFill>
              <a:srgbClr val="DADCD5"/>
            </a:solidFill>
          </a:ln>
        </p:spPr>
      </p:sp>
      <p:sp>
        <p:nvSpPr>
          <p:cNvPr id="33" name="06">
            <a:extLst xmlns:a="http://schemas.openxmlformats.org/drawingml/2006/main">
              <a:ext uri="{FF2B5EF4-FFF2-40B4-BE49-F238E27FC236}">
                <a16:creationId xmlns:a16="http://schemas.microsoft.com/office/drawing/2014/main" id="{F7797AB0-1F1C-4DB9-BCC3-5CCCEF34AF71}"/>
              </a:ext>
            </a:extLst>
          </p:cNvPr>
          <p:cNvSpPr>
            <a:spLocks xmlns:a="http://schemas.openxmlformats.org/drawingml/2006/main" noGrp="1"/>
          </p:cNvSpPr>
          <p:nvPr/>
        </p:nvSpPr>
        <p:spPr>
          <a:xfrm xmlns:a="http://schemas.openxmlformats.org/drawingml/2006/main">
            <a:off x="10125075" y="25336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06</a:t>
            </a:r>
          </a:p>
        </p:txBody>
      </p:sp>
      <p:sp>
        <p:nvSpPr>
          <p:cNvPr id="34" name="doc-head5">
            <a:extLst xmlns:a="http://schemas.openxmlformats.org/drawingml/2006/main">
              <a:ext uri="{FF2B5EF4-FFF2-40B4-BE49-F238E27FC236}">
                <a16:creationId xmlns:a16="http://schemas.microsoft.com/office/drawing/2014/main" id="{8B1858A3-35B6-4072-84AE-2226201EC806}"/>
              </a:ext>
            </a:extLst>
          </p:cNvPr>
          <p:cNvSpPr>
            <a:spLocks xmlns:a="http://schemas.openxmlformats.org/drawingml/2006/main" noGrp="1"/>
          </p:cNvSpPr>
          <p:nvPr/>
        </p:nvSpPr>
        <p:spPr>
          <a:xfrm xmlns:a="http://schemas.openxmlformats.org/drawingml/2006/main">
            <a:off x="10125075" y="2828925"/>
            <a:ext cx="1504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Georgia"/>
                <a:ea typeface="Georgia"/>
                <a:cs typeface="Georgia"/>
              </a:defRPr>
            </a:pPr>
            <a:r>
              <a:rPr sz="1575" b="0">
                <a:solidFill>
                  <a:srgbClr val="171916"/>
                </a:solidFill>
                <a:latin typeface="Georgia"/>
                <a:ea typeface="Georgia"/>
                <a:cs typeface="Georgia"/>
              </a:rPr>
              <a:t>Record result</a:t>
            </a:r>
          </a:p>
        </p:txBody>
      </p:sp>
      <p:sp>
        <p:nvSpPr>
          <p:cNvPr id="35" name="doc-detail5">
            <a:extLst xmlns:a="http://schemas.openxmlformats.org/drawingml/2006/main">
              <a:ext uri="{FF2B5EF4-FFF2-40B4-BE49-F238E27FC236}">
                <a16:creationId xmlns:a16="http://schemas.microsoft.com/office/drawing/2014/main" id="{E54B0D80-FC0E-464C-8917-D9246AED64DE}"/>
              </a:ext>
            </a:extLst>
          </p:cNvPr>
          <p:cNvSpPr>
            <a:spLocks xmlns:a="http://schemas.openxmlformats.org/drawingml/2006/main" noGrp="1"/>
          </p:cNvSpPr>
          <p:nvPr/>
        </p:nvSpPr>
        <p:spPr>
          <a:xfrm xmlns:a="http://schemas.openxmlformats.org/drawingml/2006/main">
            <a:off x="10125075" y="3295650"/>
            <a:ext cx="1447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Output reference</a:t>
            </a:r>
          </a:p>
          <a:p xmlns:a="http://schemas.openxmlformats.org/drawingml/2006/main">
            <a:pPr>
              <a:defRPr sz="1275" b="0">
                <a:solidFill>
                  <a:srgbClr val="666B63"/>
                </a:solidFill>
                <a:latin typeface="Arial"/>
                <a:ea typeface="Arial"/>
                <a:cs typeface="Arial"/>
              </a:defRPr>
            </a:pPr>
            <a:r>
              <a:rPr sz="1275" b="0">
                <a:solidFill>
                  <a:srgbClr val="666B63"/>
                </a:solidFill>
                <a:latin typeface="Arial"/>
                <a:ea typeface="Arial"/>
                <a:cs typeface="Arial"/>
              </a:rPr>
              <a:t>and run status.</a:t>
            </a:r>
          </a:p>
        </p:txBody>
      </p:sp>
      <p:sp>
        <p:nvSpPr>
          <p:cNvPr id="36" name="sequence">
            <a:extLst xmlns:a="http://schemas.openxmlformats.org/drawingml/2006/main">
              <a:ext uri="{FF2B5EF4-FFF2-40B4-BE49-F238E27FC236}">
                <a16:creationId xmlns:a16="http://schemas.microsoft.com/office/drawing/2014/main" id="{74F86D9E-74BC-4F13-AD68-6356A15A5A07}"/>
              </a:ext>
            </a:extLst>
          </p:cNvPr>
          <p:cNvSpPr>
            <a:spLocks xmlns:a="http://schemas.openxmlformats.org/drawingml/2006/main" noGrp="1"/>
          </p:cNvSpPr>
          <p:nvPr/>
        </p:nvSpPr>
        <p:spPr>
          <a:xfrm xmlns:a="http://schemas.openxmlformats.org/drawingml/2006/main">
            <a:off x="5038725" y="3962400"/>
            <a:ext cx="171450" cy="342900"/>
          </a:xfrm>
          <a:prstGeom xmlns:a="http://schemas.openxmlformats.org/drawingml/2006/main" prst="downArrow">
            <a:avLst/>
          </a:prstGeom>
          <a:solidFill xmlns:a="http://schemas.openxmlformats.org/drawingml/2006/main">
            <a:srgbClr val="42594A"/>
          </a:solidFill>
          <a:ln xmlns:a="http://schemas.openxmlformats.org/drawingml/2006/main" w="0">
            <a:noFill/>
          </a:ln>
        </p:spPr>
      </p:sp>
      <p:sp>
        <p:nvSpPr>
          <p:cNvPr id="37" name="approval-stem">
            <a:extLst xmlns:a="http://schemas.openxmlformats.org/drawingml/2006/main">
              <a:ext uri="{FF2B5EF4-FFF2-40B4-BE49-F238E27FC236}">
                <a16:creationId xmlns:a16="http://schemas.microsoft.com/office/drawing/2014/main" id="{0E58CB67-1774-422B-AF48-9213838910F7}"/>
              </a:ext>
            </a:extLst>
          </p:cNvPr>
          <p:cNvSpPr>
            <a:spLocks xmlns:a="http://schemas.openxmlformats.org/drawingml/2006/main" noGrp="1"/>
          </p:cNvSpPr>
          <p:nvPr/>
        </p:nvSpPr>
        <p:spPr>
          <a:xfrm xmlns:a="http://schemas.openxmlformats.org/drawingml/2006/main">
            <a:off x="7019925" y="3924300"/>
            <a:ext cx="9525" cy="266700"/>
          </a:xfrm>
          <a:prstGeom xmlns:a="http://schemas.openxmlformats.org/drawingml/2006/main" prst="rect">
            <a:avLst/>
          </a:prstGeom>
          <a:solidFill xmlns:a="http://schemas.openxmlformats.org/drawingml/2006/main">
            <a:srgbClr val="42594A"/>
          </a:solidFill>
          <a:ln xmlns:a="http://schemas.openxmlformats.org/drawingml/2006/main" w="0">
            <a:noFill/>
          </a:ln>
        </p:spPr>
      </p:sp>
      <p:sp>
        <p:nvSpPr>
          <p:cNvPr id="38" name="missing-branch">
            <a:extLst xmlns:a="http://schemas.openxmlformats.org/drawingml/2006/main">
              <a:ext uri="{FF2B5EF4-FFF2-40B4-BE49-F238E27FC236}">
                <a16:creationId xmlns:a16="http://schemas.microsoft.com/office/drawing/2014/main" id="{1096AF7C-8888-484D-9FDF-DDE026126D3A}"/>
              </a:ext>
            </a:extLst>
          </p:cNvPr>
          <p:cNvSpPr>
            <a:spLocks xmlns:a="http://schemas.openxmlformats.org/drawingml/2006/main" noGrp="1"/>
          </p:cNvSpPr>
          <p:nvPr/>
        </p:nvSpPr>
        <p:spPr>
          <a:xfrm xmlns:a="http://schemas.openxmlformats.org/drawingml/2006/main">
            <a:off x="4324350" y="4400550"/>
            <a:ext cx="3476625" cy="1038225"/>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39" name="MISSING REQUIRED DATA">
            <a:extLst xmlns:a="http://schemas.openxmlformats.org/drawingml/2006/main">
              <a:ext uri="{FF2B5EF4-FFF2-40B4-BE49-F238E27FC236}">
                <a16:creationId xmlns:a16="http://schemas.microsoft.com/office/drawing/2014/main" id="{4298C3E4-FBA1-4A3D-85D4-772ED9CBECC7}"/>
              </a:ext>
            </a:extLst>
          </p:cNvPr>
          <p:cNvSpPr>
            <a:spLocks xmlns:a="http://schemas.openxmlformats.org/drawingml/2006/main" noGrp="1"/>
          </p:cNvSpPr>
          <p:nvPr/>
        </p:nvSpPr>
        <p:spPr>
          <a:xfrm xmlns:a="http://schemas.openxmlformats.org/drawingml/2006/main">
            <a:off x="4467225" y="4486275"/>
            <a:ext cx="3181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B613F"/>
                </a:solidFill>
                <a:latin typeface="Arial"/>
                <a:ea typeface="Arial"/>
                <a:cs typeface="Arial"/>
              </a:defRPr>
            </a:pPr>
            <a:r>
              <a:rPr sz="975" b="0">
                <a:solidFill>
                  <a:srgbClr val="8B613F"/>
                </a:solidFill>
                <a:latin typeface="Arial"/>
                <a:ea typeface="Arial"/>
                <a:cs typeface="Arial"/>
              </a:rPr>
              <a:t>MISSING REQUIRED DATA</a:t>
            </a:r>
          </a:p>
        </p:txBody>
      </p:sp>
      <p:sp>
        <p:nvSpPr>
          <p:cNvPr id="40" name="missing-action">
            <a:extLst xmlns:a="http://schemas.openxmlformats.org/drawingml/2006/main">
              <a:ext uri="{FF2B5EF4-FFF2-40B4-BE49-F238E27FC236}">
                <a16:creationId xmlns:a16="http://schemas.microsoft.com/office/drawing/2014/main" id="{DAC7918C-F71E-4E42-98EC-541BB53A186D}"/>
              </a:ext>
            </a:extLst>
          </p:cNvPr>
          <p:cNvSpPr>
            <a:spLocks xmlns:a="http://schemas.openxmlformats.org/drawingml/2006/main" noGrp="1"/>
          </p:cNvSpPr>
          <p:nvPr/>
        </p:nvSpPr>
        <p:spPr>
          <a:xfrm xmlns:a="http://schemas.openxmlformats.org/drawingml/2006/main">
            <a:off x="4467225" y="4800600"/>
            <a:ext cx="3171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Fail safely; correct the source data</a:t>
            </a:r>
          </a:p>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before trying again.</a:t>
            </a:r>
          </a:p>
        </p:txBody>
      </p:sp>
      <p:sp>
        <p:nvSpPr>
          <p:cNvPr id="41" name="approval-branch">
            <a:extLst xmlns:a="http://schemas.openxmlformats.org/drawingml/2006/main">
              <a:ext uri="{FF2B5EF4-FFF2-40B4-BE49-F238E27FC236}">
                <a16:creationId xmlns:a16="http://schemas.microsoft.com/office/drawing/2014/main" id="{8B3CFD44-4A81-449C-A0B9-41A3E5A60867}"/>
              </a:ext>
            </a:extLst>
          </p:cNvPr>
          <p:cNvSpPr>
            <a:spLocks xmlns:a="http://schemas.openxmlformats.org/drawingml/2006/main" noGrp="1"/>
          </p:cNvSpPr>
          <p:nvPr/>
        </p:nvSpPr>
        <p:spPr>
          <a:xfrm xmlns:a="http://schemas.openxmlformats.org/drawingml/2006/main">
            <a:off x="8134350" y="4400550"/>
            <a:ext cx="3505200" cy="1038225"/>
          </a:xfrm>
          <a:prstGeom xmlns:a="http://schemas.openxmlformats.org/drawingml/2006/main" prst="rect">
            <a:avLst/>
          </a:prstGeom>
          <a:solidFill xmlns:a="http://schemas.openxmlformats.org/drawingml/2006/main">
            <a:srgbClr val="F3EEE6"/>
          </a:solidFill>
          <a:ln xmlns:a="http://schemas.openxmlformats.org/drawingml/2006/main" w="0">
            <a:noFill/>
          </a:ln>
        </p:spPr>
      </p:sp>
      <p:sp>
        <p:nvSpPr>
          <p:cNvPr id="42" name="APPROVAL NOT GRANTED">
            <a:extLst xmlns:a="http://schemas.openxmlformats.org/drawingml/2006/main">
              <a:ext uri="{FF2B5EF4-FFF2-40B4-BE49-F238E27FC236}">
                <a16:creationId xmlns:a16="http://schemas.microsoft.com/office/drawing/2014/main" id="{2BDEFDE0-A763-496D-81F8-32680BC6D34E}"/>
              </a:ext>
            </a:extLst>
          </p:cNvPr>
          <p:cNvSpPr>
            <a:spLocks xmlns:a="http://schemas.openxmlformats.org/drawingml/2006/main" noGrp="1"/>
          </p:cNvSpPr>
          <p:nvPr/>
        </p:nvSpPr>
        <p:spPr>
          <a:xfrm xmlns:a="http://schemas.openxmlformats.org/drawingml/2006/main">
            <a:off x="8277225" y="4486275"/>
            <a:ext cx="320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8B613F"/>
                </a:solidFill>
                <a:latin typeface="Arial"/>
                <a:ea typeface="Arial"/>
                <a:cs typeface="Arial"/>
              </a:defRPr>
            </a:pPr>
            <a:r>
              <a:rPr sz="975" b="0">
                <a:solidFill>
                  <a:srgbClr val="8B613F"/>
                </a:solidFill>
                <a:latin typeface="Arial"/>
                <a:ea typeface="Arial"/>
                <a:cs typeface="Arial"/>
              </a:rPr>
              <a:t>APPROVAL NOT GRANTED</a:t>
            </a:r>
          </a:p>
        </p:txBody>
      </p:sp>
      <p:sp>
        <p:nvSpPr>
          <p:cNvPr id="43" name="approval-action">
            <a:extLst xmlns:a="http://schemas.openxmlformats.org/drawingml/2006/main">
              <a:ext uri="{FF2B5EF4-FFF2-40B4-BE49-F238E27FC236}">
                <a16:creationId xmlns:a16="http://schemas.microsoft.com/office/drawing/2014/main" id="{F63514CF-586B-4FF6-B6AD-4685C092ED11}"/>
              </a:ext>
            </a:extLst>
          </p:cNvPr>
          <p:cNvSpPr>
            <a:spLocks xmlns:a="http://schemas.openxmlformats.org/drawingml/2006/main" noGrp="1"/>
          </p:cNvSpPr>
          <p:nvPr/>
        </p:nvSpPr>
        <p:spPr>
          <a:xfrm xmlns:a="http://schemas.openxmlformats.org/drawingml/2006/main">
            <a:off x="8277225" y="4800600"/>
            <a:ext cx="32289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Proposed handling: revise;</a:t>
            </a:r>
          </a:p>
          <a:p xmlns:a="http://schemas.openxmlformats.org/drawingml/2006/main">
            <a:pPr>
              <a:defRPr sz="1500" b="0">
                <a:solidFill>
                  <a:srgbClr val="171916"/>
                </a:solidFill>
                <a:latin typeface="Arial"/>
                <a:ea typeface="Arial"/>
                <a:cs typeface="Arial"/>
              </a:defRPr>
            </a:pPr>
            <a:r>
              <a:rPr sz="1500" b="0">
                <a:solidFill>
                  <a:srgbClr val="171916"/>
                </a:solidFill>
                <a:latin typeface="Arial"/>
                <a:ea typeface="Arial"/>
                <a:cs typeface="Arial"/>
              </a:rPr>
              <a:t>keep generation blocked.</a:t>
            </a:r>
          </a:p>
        </p:txBody>
      </p:sp>
      <p:sp>
        <p:nvSpPr>
          <p:cNvPr id="44" name="approval-route">
            <a:extLst xmlns:a="http://schemas.openxmlformats.org/drawingml/2006/main">
              <a:ext uri="{FF2B5EF4-FFF2-40B4-BE49-F238E27FC236}">
                <a16:creationId xmlns:a16="http://schemas.microsoft.com/office/drawing/2014/main" id="{18086837-8D19-4F6B-988A-4C98E3412131}"/>
              </a:ext>
            </a:extLst>
          </p:cNvPr>
          <p:cNvSpPr>
            <a:spLocks xmlns:a="http://schemas.openxmlformats.org/drawingml/2006/main" noGrp="1"/>
          </p:cNvSpPr>
          <p:nvPr/>
        </p:nvSpPr>
        <p:spPr>
          <a:xfrm xmlns:a="http://schemas.openxmlformats.org/drawingml/2006/main">
            <a:off x="7019925" y="4191000"/>
            <a:ext cx="2857500" cy="9525"/>
          </a:xfrm>
          <a:prstGeom xmlns:a="http://schemas.openxmlformats.org/drawingml/2006/main" prst="rect">
            <a:avLst/>
          </a:prstGeom>
          <a:solidFill xmlns:a="http://schemas.openxmlformats.org/drawingml/2006/main">
            <a:srgbClr val="42594A"/>
          </a:solidFill>
          <a:ln xmlns:a="http://schemas.openxmlformats.org/drawingml/2006/main" w="0">
            <a:noFill/>
          </a:ln>
        </p:spPr>
      </p:sp>
      <p:sp>
        <p:nvSpPr>
          <p:cNvPr id="45" name="approval-route-down">
            <a:extLst xmlns:a="http://schemas.openxmlformats.org/drawingml/2006/main">
              <a:ext uri="{FF2B5EF4-FFF2-40B4-BE49-F238E27FC236}">
                <a16:creationId xmlns:a16="http://schemas.microsoft.com/office/drawing/2014/main" id="{46CD0ABE-EBDF-4A30-8B7C-11985F245DBB}"/>
              </a:ext>
            </a:extLst>
          </p:cNvPr>
          <p:cNvSpPr>
            <a:spLocks xmlns:a="http://schemas.openxmlformats.org/drawingml/2006/main" noGrp="1"/>
          </p:cNvSpPr>
          <p:nvPr/>
        </p:nvSpPr>
        <p:spPr>
          <a:xfrm xmlns:a="http://schemas.openxmlformats.org/drawingml/2006/main">
            <a:off x="9867900" y="4191000"/>
            <a:ext cx="9525" cy="142875"/>
          </a:xfrm>
          <a:prstGeom xmlns:a="http://schemas.openxmlformats.org/drawingml/2006/main" prst="rect">
            <a:avLst/>
          </a:prstGeom>
          <a:solidFill xmlns:a="http://schemas.openxmlformats.org/drawingml/2006/main">
            <a:srgbClr val="42594A"/>
          </a:solidFill>
          <a:ln xmlns:a="http://schemas.openxmlformats.org/drawingml/2006/main" w="0">
            <a:noFill/>
          </a:ln>
        </p:spPr>
      </p:sp>
      <p:sp>
        <p:nvSpPr>
          <p:cNvPr id="46" name="sequence">
            <a:extLst xmlns:a="http://schemas.openxmlformats.org/drawingml/2006/main">
              <a:ext uri="{FF2B5EF4-FFF2-40B4-BE49-F238E27FC236}">
                <a16:creationId xmlns:a16="http://schemas.microsoft.com/office/drawing/2014/main" id="{B86E832E-CC9C-49BB-B7DC-B64187AF3CF1}"/>
              </a:ext>
            </a:extLst>
          </p:cNvPr>
          <p:cNvSpPr>
            <a:spLocks xmlns:a="http://schemas.openxmlformats.org/drawingml/2006/main" noGrp="1"/>
          </p:cNvSpPr>
          <p:nvPr/>
        </p:nvSpPr>
        <p:spPr>
          <a:xfrm xmlns:a="http://schemas.openxmlformats.org/drawingml/2006/main">
            <a:off x="9791700" y="4295775"/>
            <a:ext cx="171450" cy="85725"/>
          </a:xfrm>
          <a:prstGeom xmlns:a="http://schemas.openxmlformats.org/drawingml/2006/main" prst="downArrow">
            <a:avLst/>
          </a:prstGeom>
          <a:solidFill xmlns:a="http://schemas.openxmlformats.org/drawingml/2006/main">
            <a:srgbClr val="42594A"/>
          </a:solidFill>
          <a:ln xmlns:a="http://schemas.openxmlformats.org/drawingml/2006/main" w="0">
            <a:noFill/>
          </a:ln>
        </p:spPr>
      </p:sp>
      <p:sp>
        <p:nvSpPr>
          <p:cNvPr id="47" name="CONFIGURATION DECISIONS">
            <a:extLst xmlns:a="http://schemas.openxmlformats.org/drawingml/2006/main">
              <a:ext uri="{FF2B5EF4-FFF2-40B4-BE49-F238E27FC236}">
                <a16:creationId xmlns:a16="http://schemas.microsoft.com/office/drawing/2014/main" id="{D0E51424-8158-4057-A9D2-2116EFB6A1CA}"/>
              </a:ext>
            </a:extLst>
          </p:cNvPr>
          <p:cNvSpPr>
            <a:spLocks xmlns:a="http://schemas.openxmlformats.org/drawingml/2006/main" noGrp="1"/>
          </p:cNvSpPr>
          <p:nvPr/>
        </p:nvSpPr>
        <p:spPr>
          <a:xfrm xmlns:a="http://schemas.openxmlformats.org/drawingml/2006/main">
            <a:off x="533400" y="4410075"/>
            <a:ext cx="3495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CONFIGURATION DECISIONS</a:t>
            </a:r>
          </a:p>
        </p:txBody>
      </p:sp>
      <p:sp>
        <p:nvSpPr>
          <p:cNvPr id="48" name="decisions">
            <a:extLst xmlns:a="http://schemas.openxmlformats.org/drawingml/2006/main">
              <a:ext uri="{FF2B5EF4-FFF2-40B4-BE49-F238E27FC236}">
                <a16:creationId xmlns:a16="http://schemas.microsoft.com/office/drawing/2014/main" id="{74711E2A-15D2-4826-9FAD-AFF48D588D9E}"/>
              </a:ext>
            </a:extLst>
          </p:cNvPr>
          <p:cNvSpPr>
            <a:spLocks xmlns:a="http://schemas.openxmlformats.org/drawingml/2006/main" noGrp="1"/>
          </p:cNvSpPr>
          <p:nvPr/>
        </p:nvSpPr>
        <p:spPr>
          <a:xfrm xmlns:a="http://schemas.openxmlformats.org/drawingml/2006/main">
            <a:off x="533400" y="4743450"/>
            <a:ext cx="34956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Template and version</a:t>
            </a:r>
          </a:p>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Field mapping and conditions</a:t>
            </a:r>
          </a:p>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Approval mode and provider</a:t>
            </a:r>
          </a:p>
        </p:txBody>
      </p:sp>
      <p:sp>
        <p:nvSpPr>
          <p:cNvPr id="49" name="rule">
            <a:extLst xmlns:a="http://schemas.openxmlformats.org/drawingml/2006/main">
              <a:ext uri="{FF2B5EF4-FFF2-40B4-BE49-F238E27FC236}">
                <a16:creationId xmlns:a16="http://schemas.microsoft.com/office/drawing/2014/main" id="{629584AD-8C9D-4221-B0C9-D31BA0CE95AB}"/>
              </a:ext>
            </a:extLst>
          </p:cNvPr>
          <p:cNvSpPr>
            <a:spLocks xmlns:a="http://schemas.openxmlformats.org/drawingml/2006/main" noGrp="1"/>
          </p:cNvSpPr>
          <p:nvPr/>
        </p:nvSpPr>
        <p:spPr>
          <a:xfrm xmlns:a="http://schemas.openxmlformats.org/drawingml/2006/main">
            <a:off x="533400" y="556260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50" name="recording">
            <a:extLst xmlns:a="http://schemas.openxmlformats.org/drawingml/2006/main">
              <a:ext uri="{FF2B5EF4-FFF2-40B4-BE49-F238E27FC236}">
                <a16:creationId xmlns:a16="http://schemas.microsoft.com/office/drawing/2014/main" id="{1620DD01-0CCE-4CA8-B18D-2BBA89927D9C}"/>
              </a:ext>
            </a:extLst>
          </p:cNvPr>
          <p:cNvSpPr>
            <a:spLocks xmlns:a="http://schemas.openxmlformats.org/drawingml/2006/main" noGrp="1"/>
          </p:cNvSpPr>
          <p:nvPr/>
        </p:nvSpPr>
        <p:spPr>
          <a:xfrm xmlns:a="http://schemas.openxmlformats.org/drawingml/2006/main">
            <a:off x="533400" y="57721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1916"/>
                </a:solidFill>
                <a:latin typeface="Arial"/>
                <a:ea typeface="Arial"/>
                <a:cs typeface="Arial"/>
              </a:defRPr>
            </a:pPr>
            <a:r>
              <a:rPr sz="1575" b="0">
                <a:solidFill>
                  <a:srgbClr val="171916"/>
                </a:solidFill>
                <a:latin typeface="Arial"/>
                <a:ea typeface="Arial"/>
                <a:cs typeface="Arial"/>
              </a:rPr>
              <a:t>Execution evidence: workflow steps, entity references and status are reported to the operating layer.</a:t>
            </a:r>
          </a:p>
        </p:txBody>
      </p:sp>
    </p:spTree>
    <p:extLst>
      <p:ext uri="{BB962C8B-B14F-4D97-AF65-F5344CB8AC3E}">
        <p14:creationId xmlns:p14="http://schemas.microsoft.com/office/powerpoint/2010/main" val="278372588"/>
      </p:ext>
    </p:extLst>
  </p:cSld>
</p:sld>
</file>

<file path=ppt/slides/slide6.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26" name="PRIME STATE SYSTEMS">
            <a:extLst xmlns:a="http://schemas.openxmlformats.org/drawingml/2006/main">
              <a:ext uri="{FF2B5EF4-FFF2-40B4-BE49-F238E27FC236}">
                <a16:creationId xmlns:a16="http://schemas.microsoft.com/office/drawing/2014/main" id="{EC0B05B6-20A2-47AB-A352-71EE234B9173}"/>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6 / OPERATING VIEW">
            <a:extLst xmlns:a="http://schemas.openxmlformats.org/drawingml/2006/main">
              <a:ext uri="{FF2B5EF4-FFF2-40B4-BE49-F238E27FC236}">
                <a16:creationId xmlns:a16="http://schemas.microsoft.com/office/drawing/2014/main" id="{BA0A5220-6ADB-47E9-B6B1-E88C24D4A486}"/>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06 / OPERATING VIEW</a:t>
            </a:r>
          </a:p>
        </p:txBody>
      </p:sp>
      <p:sp>
        <p:nvSpPr>
          <p:cNvPr id="3" name="headline">
            <a:extLst xmlns:a="http://schemas.openxmlformats.org/drawingml/2006/main">
              <a:ext uri="{FF2B5EF4-FFF2-40B4-BE49-F238E27FC236}">
                <a16:creationId xmlns:a16="http://schemas.microsoft.com/office/drawing/2014/main" id="{962AA89E-D070-4C7A-A9A3-A7E9B99B6977}"/>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Inspect the run, then decide what needs attention</a:t>
            </a:r>
          </a:p>
        </p:txBody>
      </p:sp>
      <p:sp>
        <p:nvSpPr>
          <p:cNvPr id="4" name="subhead">
            <a:extLst xmlns:a="http://schemas.openxmlformats.org/drawingml/2006/main">
              <a:ext uri="{FF2B5EF4-FFF2-40B4-BE49-F238E27FC236}">
                <a16:creationId xmlns:a16="http://schemas.microsoft.com/office/drawing/2014/main" id="{F4E54A52-ADA2-459B-B53A-AE229B5723D7}"/>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An illustrative run shows how an operator can identify a failure and choose a response. All values are sample data.</a:t>
            </a:r>
          </a:p>
        </p:txBody>
      </p:sp>
      <p:sp>
        <p:nvSpPr>
          <p:cNvPr id="5" name="rule">
            <a:extLst xmlns:a="http://schemas.openxmlformats.org/drawingml/2006/main">
              <a:ext uri="{FF2B5EF4-FFF2-40B4-BE49-F238E27FC236}">
                <a16:creationId xmlns:a16="http://schemas.microsoft.com/office/drawing/2014/main" id="{C224239B-8793-4934-B78B-4AB86139CEAA}"/>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6CBCA9DA-CBDF-4FB5-8DB8-79CC1B3E4EE5}"/>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record-shell">
            <a:extLst xmlns:a="http://schemas.openxmlformats.org/drawingml/2006/main">
              <a:ext uri="{FF2B5EF4-FFF2-40B4-BE49-F238E27FC236}">
                <a16:creationId xmlns:a16="http://schemas.microsoft.com/office/drawing/2014/main" id="{9B43722B-166F-4EBA-BE4F-CEAD495CBDD7}"/>
              </a:ext>
            </a:extLst>
          </p:cNvPr>
          <p:cNvSpPr>
            <a:spLocks xmlns:a="http://schemas.openxmlformats.org/drawingml/2006/main" noGrp="1"/>
          </p:cNvSpPr>
          <p:nvPr/>
        </p:nvSpPr>
        <p:spPr>
          <a:xfrm xmlns:a="http://schemas.openxmlformats.org/drawingml/2006/main">
            <a:off x="533400" y="2371725"/>
            <a:ext cx="7324725" cy="3714750"/>
          </a:xfrm>
          <a:prstGeom xmlns:a="http://schemas.openxmlformats.org/drawingml/2006/main" prst="rect">
            <a:avLst/>
          </a:prstGeom>
          <a:solidFill xmlns:a="http://schemas.openxmlformats.org/drawingml/2006/main">
            <a:srgbClr val="F3F2ED"/>
          </a:solidFill>
          <a:ln xmlns:a="http://schemas.openxmlformats.org/drawingml/2006/main" w="9525">
            <a:solidFill>
              <a:srgbClr val="DADCD5"/>
            </a:solidFill>
          </a:ln>
        </p:spPr>
      </p:sp>
      <p:sp>
        <p:nvSpPr>
          <p:cNvPr id="8" name="ILLUSTRATIVE EXECUTION RECORD">
            <a:extLst xmlns:a="http://schemas.openxmlformats.org/drawingml/2006/main">
              <a:ext uri="{FF2B5EF4-FFF2-40B4-BE49-F238E27FC236}">
                <a16:creationId xmlns:a16="http://schemas.microsoft.com/office/drawing/2014/main" id="{47D3456C-9C26-4145-908A-862568F5EE81}"/>
              </a:ext>
            </a:extLst>
          </p:cNvPr>
          <p:cNvSpPr>
            <a:spLocks xmlns:a="http://schemas.openxmlformats.org/drawingml/2006/main" noGrp="1"/>
          </p:cNvSpPr>
          <p:nvPr/>
        </p:nvSpPr>
        <p:spPr>
          <a:xfrm xmlns:a="http://schemas.openxmlformats.org/drawingml/2006/main">
            <a:off x="723900" y="250507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ILLUSTRATIVE EXECUTION RECORD</a:t>
            </a:r>
          </a:p>
        </p:txBody>
      </p:sp>
      <p:sp>
        <p:nvSpPr>
          <p:cNvPr id="9" name="record-name">
            <a:extLst xmlns:a="http://schemas.openxmlformats.org/drawingml/2006/main">
              <a:ext uri="{FF2B5EF4-FFF2-40B4-BE49-F238E27FC236}">
                <a16:creationId xmlns:a16="http://schemas.microsoft.com/office/drawing/2014/main" id="{64B6FF4F-723C-41DB-8545-0F5CA28F066F}"/>
              </a:ext>
            </a:extLst>
          </p:cNvPr>
          <p:cNvSpPr>
            <a:spLocks xmlns:a="http://schemas.openxmlformats.org/drawingml/2006/main" noGrp="1"/>
          </p:cNvSpPr>
          <p:nvPr/>
        </p:nvSpPr>
        <p:spPr>
          <a:xfrm xmlns:a="http://schemas.openxmlformats.org/drawingml/2006/main">
            <a:off x="723900" y="2847975"/>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1916"/>
                </a:solidFill>
                <a:latin typeface="Georgia"/>
                <a:ea typeface="Georgia"/>
                <a:cs typeface="Georgia"/>
              </a:defRPr>
            </a:pPr>
            <a:r>
              <a:rPr sz="2250" b="0">
                <a:solidFill>
                  <a:srgbClr val="171916"/>
                </a:solidFill>
                <a:latin typeface="Georgia"/>
                <a:ea typeface="Georgia"/>
                <a:cs typeface="Georgia"/>
              </a:rPr>
              <a:t>Document generation</a:t>
            </a:r>
          </a:p>
        </p:txBody>
      </p:sp>
      <p:sp>
        <p:nvSpPr>
          <p:cNvPr id="10" name="status">
            <a:extLst xmlns:a="http://schemas.openxmlformats.org/drawingml/2006/main">
              <a:ext uri="{FF2B5EF4-FFF2-40B4-BE49-F238E27FC236}">
                <a16:creationId xmlns:a16="http://schemas.microsoft.com/office/drawing/2014/main" id="{1587DBDD-72CB-4B13-B67F-13D5752CA1C1}"/>
              </a:ext>
            </a:extLst>
          </p:cNvPr>
          <p:cNvSpPr>
            <a:spLocks xmlns:a="http://schemas.openxmlformats.org/drawingml/2006/main" noGrp="1"/>
          </p:cNvSpPr>
          <p:nvPr/>
        </p:nvSpPr>
        <p:spPr>
          <a:xfrm xmlns:a="http://schemas.openxmlformats.org/drawingml/2006/main">
            <a:off x="6267450" y="2924175"/>
            <a:ext cx="1428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976039"/>
                </a:solidFill>
                <a:latin typeface="Arial"/>
                <a:ea typeface="Arial"/>
                <a:cs typeface="Arial"/>
              </a:defRPr>
            </a:pPr>
            <a:r>
              <a:rPr sz="1350" b="1">
                <a:solidFill>
                  <a:srgbClr val="976039"/>
                </a:solidFill>
                <a:latin typeface="Arial"/>
                <a:ea typeface="Arial"/>
                <a:cs typeface="Arial"/>
              </a:rPr>
              <a:t>FAILED</a:t>
            </a:r>
          </a:p>
        </p:txBody>
      </p:sp>
      <p:sp>
        <p:nvSpPr>
          <p:cNvPr id="11" name="PROCESSED">
            <a:extLst xmlns:a="http://schemas.openxmlformats.org/drawingml/2006/main">
              <a:ext uri="{FF2B5EF4-FFF2-40B4-BE49-F238E27FC236}">
                <a16:creationId xmlns:a16="http://schemas.microsoft.com/office/drawing/2014/main" id="{78FF8447-B8DA-4863-829F-0070AD557CAB}"/>
              </a:ext>
            </a:extLst>
          </p:cNvPr>
          <p:cNvSpPr>
            <a:spLocks xmlns:a="http://schemas.openxmlformats.org/drawingml/2006/main" noGrp="1"/>
          </p:cNvSpPr>
          <p:nvPr/>
        </p:nvSpPr>
        <p:spPr>
          <a:xfrm xmlns:a="http://schemas.openxmlformats.org/drawingml/2006/main">
            <a:off x="723900" y="343852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PROCESSED</a:t>
            </a:r>
          </a:p>
        </p:txBody>
      </p:sp>
      <p:sp>
        <p:nvSpPr>
          <p:cNvPr id="12" name="metric0">
            <a:extLst xmlns:a="http://schemas.openxmlformats.org/drawingml/2006/main">
              <a:ext uri="{FF2B5EF4-FFF2-40B4-BE49-F238E27FC236}">
                <a16:creationId xmlns:a16="http://schemas.microsoft.com/office/drawing/2014/main" id="{391E706D-587F-4454-ABEF-04B6DBA5596D}"/>
              </a:ext>
            </a:extLst>
          </p:cNvPr>
          <p:cNvSpPr>
            <a:spLocks xmlns:a="http://schemas.openxmlformats.org/drawingml/2006/main" noGrp="1"/>
          </p:cNvSpPr>
          <p:nvPr/>
        </p:nvSpPr>
        <p:spPr>
          <a:xfrm xmlns:a="http://schemas.openxmlformats.org/drawingml/2006/main">
            <a:off x="723900" y="3743325"/>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6"/>
                </a:solidFill>
                <a:latin typeface="Georgia"/>
                <a:ea typeface="Georgia"/>
                <a:cs typeface="Georgia"/>
              </a:defRPr>
            </a:pPr>
            <a:r>
              <a:rPr sz="2325" b="0">
                <a:solidFill>
                  <a:srgbClr val="171916"/>
                </a:solidFill>
                <a:latin typeface="Georgia"/>
                <a:ea typeface="Georgia"/>
                <a:cs typeface="Georgia"/>
              </a:rPr>
              <a:t>0</a:t>
            </a:r>
          </a:p>
        </p:txBody>
      </p:sp>
      <p:sp>
        <p:nvSpPr>
          <p:cNvPr id="13" name="FAILED RECORDS">
            <a:extLst xmlns:a="http://schemas.openxmlformats.org/drawingml/2006/main">
              <a:ext uri="{FF2B5EF4-FFF2-40B4-BE49-F238E27FC236}">
                <a16:creationId xmlns:a16="http://schemas.microsoft.com/office/drawing/2014/main" id="{79AC8351-E633-42D5-A64C-295FD47C02B2}"/>
              </a:ext>
            </a:extLst>
          </p:cNvPr>
          <p:cNvSpPr>
            <a:spLocks xmlns:a="http://schemas.openxmlformats.org/drawingml/2006/main" noGrp="1"/>
          </p:cNvSpPr>
          <p:nvPr/>
        </p:nvSpPr>
        <p:spPr>
          <a:xfrm xmlns:a="http://schemas.openxmlformats.org/drawingml/2006/main">
            <a:off x="2476500" y="343852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FAILED RECORDS</a:t>
            </a:r>
          </a:p>
        </p:txBody>
      </p:sp>
      <p:sp>
        <p:nvSpPr>
          <p:cNvPr id="14" name="metric1">
            <a:extLst xmlns:a="http://schemas.openxmlformats.org/drawingml/2006/main">
              <a:ext uri="{FF2B5EF4-FFF2-40B4-BE49-F238E27FC236}">
                <a16:creationId xmlns:a16="http://schemas.microsoft.com/office/drawing/2014/main" id="{FC8C35AE-D6C3-4F3F-96F8-5131D0F8F1D4}"/>
              </a:ext>
            </a:extLst>
          </p:cNvPr>
          <p:cNvSpPr>
            <a:spLocks xmlns:a="http://schemas.openxmlformats.org/drawingml/2006/main" noGrp="1"/>
          </p:cNvSpPr>
          <p:nvPr/>
        </p:nvSpPr>
        <p:spPr>
          <a:xfrm xmlns:a="http://schemas.openxmlformats.org/drawingml/2006/main">
            <a:off x="2476500" y="3743325"/>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6"/>
                </a:solidFill>
                <a:latin typeface="Georgia"/>
                <a:ea typeface="Georgia"/>
                <a:cs typeface="Georgia"/>
              </a:defRPr>
            </a:pPr>
            <a:r>
              <a:rPr sz="2325" b="0">
                <a:solidFill>
                  <a:srgbClr val="171916"/>
                </a:solidFill>
                <a:latin typeface="Georgia"/>
                <a:ea typeface="Georgia"/>
                <a:cs typeface="Georgia"/>
              </a:rPr>
              <a:t>1</a:t>
            </a:r>
          </a:p>
        </p:txBody>
      </p:sp>
      <p:sp>
        <p:nvSpPr>
          <p:cNvPr id="15" name="RETRIES">
            <a:extLst xmlns:a="http://schemas.openxmlformats.org/drawingml/2006/main">
              <a:ext uri="{FF2B5EF4-FFF2-40B4-BE49-F238E27FC236}">
                <a16:creationId xmlns:a16="http://schemas.microsoft.com/office/drawing/2014/main" id="{493DC8B4-2270-472B-B608-F56C2C579D4A}"/>
              </a:ext>
            </a:extLst>
          </p:cNvPr>
          <p:cNvSpPr>
            <a:spLocks xmlns:a="http://schemas.openxmlformats.org/drawingml/2006/main" noGrp="1"/>
          </p:cNvSpPr>
          <p:nvPr/>
        </p:nvSpPr>
        <p:spPr>
          <a:xfrm xmlns:a="http://schemas.openxmlformats.org/drawingml/2006/main">
            <a:off x="4229100" y="343852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RETRIES</a:t>
            </a:r>
          </a:p>
        </p:txBody>
      </p:sp>
      <p:sp>
        <p:nvSpPr>
          <p:cNvPr id="16" name="metric2">
            <a:extLst xmlns:a="http://schemas.openxmlformats.org/drawingml/2006/main">
              <a:ext uri="{FF2B5EF4-FFF2-40B4-BE49-F238E27FC236}">
                <a16:creationId xmlns:a16="http://schemas.microsoft.com/office/drawing/2014/main" id="{251B273B-740D-42AB-9F58-505A57B176DF}"/>
              </a:ext>
            </a:extLst>
          </p:cNvPr>
          <p:cNvSpPr>
            <a:spLocks xmlns:a="http://schemas.openxmlformats.org/drawingml/2006/main" noGrp="1"/>
          </p:cNvSpPr>
          <p:nvPr/>
        </p:nvSpPr>
        <p:spPr>
          <a:xfrm xmlns:a="http://schemas.openxmlformats.org/drawingml/2006/main">
            <a:off x="4229100" y="3743325"/>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6"/>
                </a:solidFill>
                <a:latin typeface="Georgia"/>
                <a:ea typeface="Georgia"/>
                <a:cs typeface="Georgia"/>
              </a:defRPr>
            </a:pPr>
            <a:r>
              <a:rPr sz="2325" b="0">
                <a:solidFill>
                  <a:srgbClr val="171916"/>
                </a:solidFill>
                <a:latin typeface="Georgia"/>
                <a:ea typeface="Georgia"/>
                <a:cs typeface="Georgia"/>
              </a:rPr>
              <a:t>0</a:t>
            </a:r>
          </a:p>
        </p:txBody>
      </p:sp>
      <p:sp>
        <p:nvSpPr>
          <p:cNvPr id="17" name="DURATION">
            <a:extLst xmlns:a="http://schemas.openxmlformats.org/drawingml/2006/main">
              <a:ext uri="{FF2B5EF4-FFF2-40B4-BE49-F238E27FC236}">
                <a16:creationId xmlns:a16="http://schemas.microsoft.com/office/drawing/2014/main" id="{C7822F61-172B-4B6B-8AE6-5A3799BE26EC}"/>
              </a:ext>
            </a:extLst>
          </p:cNvPr>
          <p:cNvSpPr>
            <a:spLocks xmlns:a="http://schemas.openxmlformats.org/drawingml/2006/main" noGrp="1"/>
          </p:cNvSpPr>
          <p:nvPr/>
        </p:nvSpPr>
        <p:spPr>
          <a:xfrm xmlns:a="http://schemas.openxmlformats.org/drawingml/2006/main">
            <a:off x="5981700" y="3438525"/>
            <a:ext cx="1666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DURATION</a:t>
            </a:r>
          </a:p>
        </p:txBody>
      </p:sp>
      <p:sp>
        <p:nvSpPr>
          <p:cNvPr id="18" name="metric3">
            <a:extLst xmlns:a="http://schemas.openxmlformats.org/drawingml/2006/main">
              <a:ext uri="{FF2B5EF4-FFF2-40B4-BE49-F238E27FC236}">
                <a16:creationId xmlns:a16="http://schemas.microsoft.com/office/drawing/2014/main" id="{030DDB4A-32E9-4EF2-B794-67A9D4184A79}"/>
              </a:ext>
            </a:extLst>
          </p:cNvPr>
          <p:cNvSpPr>
            <a:spLocks xmlns:a="http://schemas.openxmlformats.org/drawingml/2006/main" noGrp="1"/>
          </p:cNvSpPr>
          <p:nvPr/>
        </p:nvSpPr>
        <p:spPr>
          <a:xfrm xmlns:a="http://schemas.openxmlformats.org/drawingml/2006/main">
            <a:off x="5981700" y="3743325"/>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1916"/>
                </a:solidFill>
                <a:latin typeface="Georgia"/>
                <a:ea typeface="Georgia"/>
                <a:cs typeface="Georgia"/>
              </a:defRPr>
            </a:pPr>
            <a:r>
              <a:rPr sz="2325" b="0">
                <a:solidFill>
                  <a:srgbClr val="171916"/>
                </a:solidFill>
                <a:latin typeface="Georgia"/>
                <a:ea typeface="Georgia"/>
                <a:cs typeface="Georgia"/>
              </a:rPr>
              <a:t>0.8 s</a:t>
            </a:r>
          </a:p>
        </p:txBody>
      </p:sp>
      <p:graphicFrame>
        <p:nvGraphicFramePr>
          <p:cNvPr id="44" name=""/>
          <p:cNvGraphicFramePr/>
          <p:nvPr/>
        </p:nvGraphicFramePr>
        <p:xfrm>
          <a:off xmlns:a="http://schemas.openxmlformats.org/drawingml/2006/main" x="723900" y="4410075"/>
          <a:ext xmlns:a="http://schemas.openxmlformats.org/drawingml/2006/main" cx="6953250" cy="1343025"/>
        </p:xfrm>
        <a:graphic xmlns:a="http://schemas.openxmlformats.org/drawingml/2006/main">
          <a:graphicData uri="http://schemas.openxmlformats.org/drawingml/2006/table">
            <a:tbl>
              <a:tblPr firstRow="0" bandRow="0"/>
              <a:tblGrid>
                <a:gridCol w="2162175"/>
                <a:gridCol w="1428750"/>
                <a:gridCol w="3362325"/>
              </a:tblGrid>
              <a:tr h="447675">
                <a:tc>
                  <a:txBody>
                    <a:bodyPr/>
                    <a:lstStyle/>
                    <a:p>
                      <a:r>
                        <a:rPr sz="1125" b="1">
                          <a:solidFill>
                            <a:srgbClr val="F8F7F2"/>
                          </a:solidFill>
                          <a:latin typeface="Arial"/>
                          <a:ea typeface="Arial"/>
                          <a:cs typeface="Arial"/>
                        </a:rPr>
                        <a:t>EXECUTION STEP</a:t>
                      </a:r>
                    </a:p>
                  </a:txBody>
                  <a:tcPr marL="91440" marR="91440" marT="45720" marB="45720">
                    <a:solidFill>
                      <a:srgbClr val="42594A"/>
                    </a:solidFill>
                  </a:tcPr>
                </a:tc>
                <a:tc>
                  <a:txBody>
                    <a:bodyPr/>
                    <a:lstStyle/>
                    <a:p>
                      <a:r>
                        <a:rPr sz="1125" b="1">
                          <a:solidFill>
                            <a:srgbClr val="F8F7F2"/>
                          </a:solidFill>
                          <a:latin typeface="Arial"/>
                          <a:ea typeface="Arial"/>
                          <a:cs typeface="Arial"/>
                        </a:rPr>
                        <a:t>STATUS</a:t>
                      </a:r>
                    </a:p>
                  </a:txBody>
                  <a:tcPr marL="91440" marR="91440" marT="45720" marB="45720">
                    <a:solidFill>
                      <a:srgbClr val="42594A"/>
                    </a:solidFill>
                  </a:tcPr>
                </a:tc>
                <a:tc>
                  <a:txBody>
                    <a:bodyPr/>
                    <a:lstStyle/>
                    <a:p>
                      <a:r>
                        <a:rPr sz="1125" b="1">
                          <a:solidFill>
                            <a:srgbClr val="F8F7F2"/>
                          </a:solidFill>
                          <a:latin typeface="Arial"/>
                          <a:ea typeface="Arial"/>
                          <a:cs typeface="Arial"/>
                        </a:rPr>
                        <a:t>INVESTIGATION NOTE</a:t>
                      </a:r>
                    </a:p>
                  </a:txBody>
                  <a:tcPr marL="91440" marR="91440" marT="45720" marB="45720">
                    <a:solidFill>
                      <a:srgbClr val="42594A"/>
                    </a:solidFill>
                  </a:tcPr>
                </a:tc>
              </a:tr>
              <a:tr h="447675">
                <a:tc>
                  <a:txBody>
                    <a:bodyPr/>
                    <a:lstStyle/>
                    <a:p>
                      <a:r>
                        <a:rPr sz="1425" b="0">
                          <a:solidFill>
                            <a:srgbClr val="171916"/>
                          </a:solidFill>
                          <a:latin typeface="Arial"/>
                          <a:ea typeface="Arial"/>
                          <a:cs typeface="Arial"/>
                        </a:rPr>
                        <a:t>Required fields</a:t>
                      </a:r>
                    </a:p>
                  </a:txBody>
                  <a:tcPr marL="91440" marR="91440" marT="45720" marB="45720">
                    <a:solidFill>
                      <a:srgbClr val="FEFDFC"/>
                    </a:solidFill>
                  </a:tcPr>
                </a:tc>
                <a:tc>
                  <a:txBody>
                    <a:bodyPr/>
                    <a:lstStyle/>
                    <a:p>
                      <a:r>
                        <a:rPr sz="1425" b="0">
                          <a:solidFill>
                            <a:srgbClr val="171916"/>
                          </a:solidFill>
                          <a:latin typeface="Arial"/>
                          <a:ea typeface="Arial"/>
                          <a:cs typeface="Arial"/>
                        </a:rPr>
                        <a:t>Failed</a:t>
                      </a:r>
                    </a:p>
                  </a:txBody>
                  <a:tcPr marL="91440" marR="91440" marT="45720" marB="45720">
                    <a:solidFill>
                      <a:srgbClr val="FEFDFC"/>
                    </a:solidFill>
                  </a:tcPr>
                </a:tc>
                <a:tc>
                  <a:txBody>
                    <a:bodyPr/>
                    <a:lstStyle/>
                    <a:p>
                      <a:r>
                        <a:rPr sz="1425" b="0">
                          <a:solidFill>
                            <a:srgbClr val="171916"/>
                          </a:solidFill>
                          <a:latin typeface="Arial"/>
                          <a:ea typeface="Arial"/>
                          <a:cs typeface="Arial"/>
                        </a:rPr>
                        <a:t>Missing required source field</a:t>
                      </a:r>
                    </a:p>
                  </a:txBody>
                  <a:tcPr marL="91440" marR="91440" marT="45720" marB="45720">
                    <a:solidFill>
                      <a:srgbClr val="FEFDFC"/>
                    </a:solidFill>
                  </a:tcPr>
                </a:tc>
              </a:tr>
              <a:tr h="447675">
                <a:tc>
                  <a:txBody>
                    <a:bodyPr/>
                    <a:lstStyle/>
                    <a:p>
                      <a:r>
                        <a:rPr sz="1425" b="0">
                          <a:solidFill>
                            <a:srgbClr val="171916"/>
                          </a:solidFill>
                          <a:latin typeface="Arial"/>
                          <a:ea typeface="Arial"/>
                          <a:cs typeface="Arial"/>
                        </a:rPr>
                        <a:t>Generation</a:t>
                      </a:r>
                    </a:p>
                  </a:txBody>
                  <a:tcPr marL="91440" marR="91440" marT="45720" marB="45720">
                    <a:solidFill>
                      <a:srgbClr val="FEFDFC"/>
                    </a:solidFill>
                  </a:tcPr>
                </a:tc>
                <a:tc>
                  <a:txBody>
                    <a:bodyPr/>
                    <a:lstStyle/>
                    <a:p>
                      <a:r>
                        <a:rPr sz="1425" b="0">
                          <a:solidFill>
                            <a:srgbClr val="171916"/>
                          </a:solidFill>
                          <a:latin typeface="Arial"/>
                          <a:ea typeface="Arial"/>
                          <a:cs typeface="Arial"/>
                        </a:rPr>
                        <a:t>Not reached</a:t>
                      </a:r>
                    </a:p>
                  </a:txBody>
                  <a:tcPr marL="91440" marR="91440" marT="45720" marB="45720">
                    <a:solidFill>
                      <a:srgbClr val="FEFDFC"/>
                    </a:solidFill>
                  </a:tcPr>
                </a:tc>
                <a:tc>
                  <a:txBody>
                    <a:bodyPr/>
                    <a:lstStyle/>
                    <a:p>
                      <a:r>
                        <a:rPr sz="1425" b="0">
                          <a:solidFill>
                            <a:srgbClr val="171916"/>
                          </a:solidFill>
                          <a:latin typeface="Arial"/>
                          <a:ea typeface="Arial"/>
                          <a:cs typeface="Arial"/>
                        </a:rPr>
                        <a:t>Input validation stopped the run</a:t>
                      </a:r>
                    </a:p>
                  </a:txBody>
                  <a:tcPr marL="91440" marR="91440" marT="45720" marB="45720">
                    <a:solidFill>
                      <a:srgbClr val="FEFDFC"/>
                    </a:solidFill>
                  </a:tcPr>
                </a:tc>
              </a:tr>
            </a:tbl>
          </a:graphicData>
        </a:graphic>
      </p:graphicFrame>
      <p:sp>
        <p:nvSpPr>
          <p:cNvPr id="20" name="01  Locate the issue">
            <a:extLst xmlns:a="http://schemas.openxmlformats.org/drawingml/2006/main">
              <a:ext uri="{FF2B5EF4-FFF2-40B4-BE49-F238E27FC236}">
                <a16:creationId xmlns:a16="http://schemas.microsoft.com/office/drawing/2014/main" id="{192EF3B0-4343-427D-8FD5-9E406653F24A}"/>
              </a:ext>
            </a:extLst>
          </p:cNvPr>
          <p:cNvSpPr>
            <a:spLocks xmlns:a="http://schemas.openxmlformats.org/drawingml/2006/main" noGrp="1"/>
          </p:cNvSpPr>
          <p:nvPr/>
        </p:nvSpPr>
        <p:spPr>
          <a:xfrm xmlns:a="http://schemas.openxmlformats.org/drawingml/2006/main">
            <a:off x="8277225" y="249555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01  Locate the issue</a:t>
            </a:r>
          </a:p>
        </p:txBody>
      </p:sp>
      <p:sp>
        <p:nvSpPr>
          <p:cNvPr id="21" name="annotation0">
            <a:extLst xmlns:a="http://schemas.openxmlformats.org/drawingml/2006/main">
              <a:ext uri="{FF2B5EF4-FFF2-40B4-BE49-F238E27FC236}">
                <a16:creationId xmlns:a16="http://schemas.microsoft.com/office/drawing/2014/main" id="{7CFEBFE2-509A-4DB7-B7EB-E59D32D4E330}"/>
              </a:ext>
            </a:extLst>
          </p:cNvPr>
          <p:cNvSpPr>
            <a:spLocks xmlns:a="http://schemas.openxmlformats.org/drawingml/2006/main" noGrp="1"/>
          </p:cNvSpPr>
          <p:nvPr/>
        </p:nvSpPr>
        <p:spPr>
          <a:xfrm xmlns:a="http://schemas.openxmlformats.org/drawingml/2006/main">
            <a:off x="8277225" y="2847975"/>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63"/>
                </a:solidFill>
                <a:latin typeface="Arial"/>
                <a:ea typeface="Arial"/>
                <a:cs typeface="Arial"/>
              </a:defRPr>
            </a:pPr>
            <a:r>
              <a:rPr sz="1650" b="0">
                <a:solidFill>
                  <a:srgbClr val="666B63"/>
                </a:solidFill>
                <a:latin typeface="Arial"/>
                <a:ea typeface="Arial"/>
                <a:cs typeface="Arial"/>
              </a:rPr>
              <a:t>Status and execution steps identify where the run stopped.</a:t>
            </a:r>
          </a:p>
        </p:txBody>
      </p:sp>
      <p:sp>
        <p:nvSpPr>
          <p:cNvPr id="22" name="02  Assess the extent">
            <a:extLst xmlns:a="http://schemas.openxmlformats.org/drawingml/2006/main">
              <a:ext uri="{FF2B5EF4-FFF2-40B4-BE49-F238E27FC236}">
                <a16:creationId xmlns:a16="http://schemas.microsoft.com/office/drawing/2014/main" id="{621524D5-6110-46FD-A5FB-162942EF7ACB}"/>
              </a:ext>
            </a:extLst>
          </p:cNvPr>
          <p:cNvSpPr>
            <a:spLocks xmlns:a="http://schemas.openxmlformats.org/drawingml/2006/main" noGrp="1"/>
          </p:cNvSpPr>
          <p:nvPr/>
        </p:nvSpPr>
        <p:spPr>
          <a:xfrm xmlns:a="http://schemas.openxmlformats.org/drawingml/2006/main">
            <a:off x="8277225" y="3743325"/>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02  Assess the extent</a:t>
            </a:r>
          </a:p>
        </p:txBody>
      </p:sp>
      <p:sp>
        <p:nvSpPr>
          <p:cNvPr id="23" name="annotation1">
            <a:extLst xmlns:a="http://schemas.openxmlformats.org/drawingml/2006/main">
              <a:ext uri="{FF2B5EF4-FFF2-40B4-BE49-F238E27FC236}">
                <a16:creationId xmlns:a16="http://schemas.microsoft.com/office/drawing/2014/main" id="{A425D728-0F7A-4E8C-8FA5-637594187519}"/>
              </a:ext>
            </a:extLst>
          </p:cNvPr>
          <p:cNvSpPr>
            <a:spLocks xmlns:a="http://schemas.openxmlformats.org/drawingml/2006/main" noGrp="1"/>
          </p:cNvSpPr>
          <p:nvPr/>
        </p:nvSpPr>
        <p:spPr>
          <a:xfrm xmlns:a="http://schemas.openxmlformats.org/drawingml/2006/main">
            <a:off x="8277225" y="409575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63"/>
                </a:solidFill>
                <a:latin typeface="Arial"/>
                <a:ea typeface="Arial"/>
                <a:cs typeface="Arial"/>
              </a:defRPr>
            </a:pPr>
            <a:r>
              <a:rPr sz="1650" b="0">
                <a:solidFill>
                  <a:srgbClr val="666B63"/>
                </a:solidFill>
                <a:latin typeface="Arial"/>
                <a:ea typeface="Arial"/>
                <a:cs typeface="Arial"/>
              </a:rPr>
              <a:t>Record counts, duration and retries give context for investigation.</a:t>
            </a:r>
          </a:p>
        </p:txBody>
      </p:sp>
      <p:sp>
        <p:nvSpPr>
          <p:cNvPr id="24" name="03  Choose the response">
            <a:extLst xmlns:a="http://schemas.openxmlformats.org/drawingml/2006/main">
              <a:ext uri="{FF2B5EF4-FFF2-40B4-BE49-F238E27FC236}">
                <a16:creationId xmlns:a16="http://schemas.microsoft.com/office/drawing/2014/main" id="{349329B9-324D-44C6-AA50-0855E59B193B}"/>
              </a:ext>
            </a:extLst>
          </p:cNvPr>
          <p:cNvSpPr>
            <a:spLocks xmlns:a="http://schemas.openxmlformats.org/drawingml/2006/main" noGrp="1"/>
          </p:cNvSpPr>
          <p:nvPr/>
        </p:nvSpPr>
        <p:spPr>
          <a:xfrm xmlns:a="http://schemas.openxmlformats.org/drawingml/2006/main">
            <a:off x="8277225" y="49911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03  Choose the response</a:t>
            </a:r>
          </a:p>
        </p:txBody>
      </p:sp>
      <p:sp>
        <p:nvSpPr>
          <p:cNvPr id="25" name="annotation2">
            <a:extLst xmlns:a="http://schemas.openxmlformats.org/drawingml/2006/main">
              <a:ext uri="{FF2B5EF4-FFF2-40B4-BE49-F238E27FC236}">
                <a16:creationId xmlns:a16="http://schemas.microsoft.com/office/drawing/2014/main" id="{B5271D3F-6939-46B6-BE7D-90948A825C22}"/>
              </a:ext>
            </a:extLst>
          </p:cNvPr>
          <p:cNvSpPr>
            <a:spLocks xmlns:a="http://schemas.openxmlformats.org/drawingml/2006/main" noGrp="1"/>
          </p:cNvSpPr>
          <p:nvPr/>
        </p:nvSpPr>
        <p:spPr>
          <a:xfrm xmlns:a="http://schemas.openxmlformats.org/drawingml/2006/main">
            <a:off x="8277225" y="5343525"/>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6B63"/>
                </a:solidFill>
                <a:latin typeface="Arial"/>
                <a:ea typeface="Arial"/>
                <a:cs typeface="Arial"/>
              </a:defRPr>
            </a:pPr>
            <a:r>
              <a:rPr sz="1650" b="0">
                <a:solidFill>
                  <a:srgbClr val="666B63"/>
                </a:solidFill>
                <a:latin typeface="Arial"/>
                <a:ea typeface="Arial"/>
                <a:cs typeface="Arial"/>
              </a:rPr>
              <a:t>Use the investigation note to resolve the issue through the agreed process.</a:t>
            </a:r>
          </a:p>
        </p:txBody>
      </p:sp>
    </p:spTree>
    <p:extLst>
      <p:ext uri="{BB962C8B-B14F-4D97-AF65-F5344CB8AC3E}">
        <p14:creationId xmlns:p14="http://schemas.microsoft.com/office/powerpoint/2010/main" val="946817098"/>
      </p:ext>
    </p:extLst>
  </p:cSld>
</p:sld>
</file>

<file path=ppt/slides/slide7.xml><?xml version="1.0" encoding="utf-8"?>
<p:sld xmlns:p="http://schemas.openxmlformats.org/presentationml/2006/main">
  <p:cSld>
    <p:bg>
      <p:bgPr>
        <a:solidFill xmlns:a="http://schemas.openxmlformats.org/drawingml/2006/main">
          <a:srgbClr val="18231D"/>
        </a:solidFill>
      </p:bgPr>
    </p:bg>
    <p:spTree>
      <p:nvGrpSpPr>
        <p:cNvPr id="1" name=""/>
        <p:cNvGrpSpPr/>
        <p:nvPr/>
      </p:nvGrpSpPr>
      <p:grpSpPr>
        <a:xfrm xmlns:a="http://schemas.openxmlformats.org/drawingml/2006/main"/>
      </p:grpSpPr>
      <p:sp>
        <p:nvSpPr>
          <p:cNvPr id="10" name="PRIME STATE SYSTEMS">
            <a:extLst xmlns:a="http://schemas.openxmlformats.org/drawingml/2006/main">
              <a:ext uri="{FF2B5EF4-FFF2-40B4-BE49-F238E27FC236}">
                <a16:creationId xmlns:a16="http://schemas.microsoft.com/office/drawing/2014/main" id="{F5AE5787-3269-43DB-A571-6FE590EE9DF3}"/>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PRIME STATE SYSTEMS</a:t>
            </a:r>
          </a:p>
        </p:txBody>
      </p:sp>
      <p:sp>
        <p:nvSpPr>
          <p:cNvPr id="2" name="07 / PILOT EVIDENCE">
            <a:extLst xmlns:a="http://schemas.openxmlformats.org/drawingml/2006/main">
              <a:ext uri="{FF2B5EF4-FFF2-40B4-BE49-F238E27FC236}">
                <a16:creationId xmlns:a16="http://schemas.microsoft.com/office/drawing/2014/main" id="{CA9A5589-29C3-48C9-8647-CD64EE75B58F}"/>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07 / PILOT EVIDENCE</a:t>
            </a:r>
          </a:p>
        </p:txBody>
      </p:sp>
      <p:sp>
        <p:nvSpPr>
          <p:cNvPr id="3" name="headline">
            <a:extLst xmlns:a="http://schemas.openxmlformats.org/drawingml/2006/main">
              <a:ext uri="{FF2B5EF4-FFF2-40B4-BE49-F238E27FC236}">
                <a16:creationId xmlns:a16="http://schemas.microsoft.com/office/drawing/2014/main" id="{0BF42505-F093-4010-B66E-D3233A87A68F}"/>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8F7F2"/>
                </a:solidFill>
                <a:latin typeface="Georgia"/>
                <a:ea typeface="Georgia"/>
                <a:cs typeface="Georgia"/>
              </a:defRPr>
            </a:pPr>
            <a:r>
              <a:rPr sz="3000" b="0">
                <a:solidFill>
                  <a:srgbClr val="F8F7F2"/>
                </a:solidFill>
                <a:latin typeface="Georgia"/>
                <a:ea typeface="Georgia"/>
                <a:cs typeface="Georgia"/>
              </a:rPr>
              <a:t>Judge the pilot against agreed evidence</a:t>
            </a:r>
          </a:p>
        </p:txBody>
      </p:sp>
      <p:sp>
        <p:nvSpPr>
          <p:cNvPr id="4" name="subhead">
            <a:extLst xmlns:a="http://schemas.openxmlformats.org/drawingml/2006/main">
              <a:ext uri="{FF2B5EF4-FFF2-40B4-BE49-F238E27FC236}">
                <a16:creationId xmlns:a16="http://schemas.microsoft.com/office/drawing/2014/main" id="{89ACDECE-8126-4B21-B195-3A3B563BCB67}"/>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C4CDC2"/>
                </a:solidFill>
                <a:latin typeface="Arial"/>
                <a:ea typeface="Arial"/>
                <a:cs typeface="Arial"/>
              </a:defRPr>
            </a:pPr>
            <a:r>
              <a:rPr sz="1575" b="0">
                <a:solidFill>
                  <a:srgbClr val="C4CDC2"/>
                </a:solidFill>
                <a:latin typeface="Arial"/>
                <a:ea typeface="Arial"/>
                <a:cs typeface="Arial"/>
              </a:rPr>
              <a:t>Start with the current baseline. Set acceptance thresholds before testing, then review the same measures at the pilot decision.</a:t>
            </a:r>
          </a:p>
        </p:txBody>
      </p:sp>
      <p:sp>
        <p:nvSpPr>
          <p:cNvPr id="5" name="rule">
            <a:extLst xmlns:a="http://schemas.openxmlformats.org/drawingml/2006/main">
              <a:ext uri="{FF2B5EF4-FFF2-40B4-BE49-F238E27FC236}">
                <a16:creationId xmlns:a16="http://schemas.microsoft.com/office/drawing/2014/main" id="{E1DED26B-58A7-4481-95D1-9996DD32C8CE}"/>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455247"/>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5A823BC7-D701-4D3B-AE85-7C0FFA8B6FE8}"/>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PREPRODUCTION  /  SEPTEMBER 2026</a:t>
            </a:r>
          </a:p>
        </p:txBody>
      </p:sp>
      <p:graphicFrame>
        <p:nvGraphicFramePr>
          <p:cNvPr id="16" name=""/>
          <p:cNvGraphicFramePr/>
          <p:nvPr/>
        </p:nvGraphicFramePr>
        <p:xfrm>
          <a:off xmlns:a="http://schemas.openxmlformats.org/drawingml/2006/main" x="533400" y="2457450"/>
          <a:ext xmlns:a="http://schemas.openxmlformats.org/drawingml/2006/main" cx="11125200" cy="3162300"/>
        </p:xfrm>
        <a:graphic xmlns:a="http://schemas.openxmlformats.org/drawingml/2006/main">
          <a:graphicData uri="http://schemas.openxmlformats.org/drawingml/2006/table">
            <a:tbl>
              <a:tblPr firstRow="0" bandRow="0"/>
              <a:tblGrid>
                <a:gridCol w="1771650"/>
                <a:gridCol w="4200525"/>
                <a:gridCol w="2571750"/>
                <a:gridCol w="2581275"/>
              </a:tblGrid>
              <a:tr h="632460">
                <a:tc>
                  <a:txBody>
                    <a:bodyPr/>
                    <a:lstStyle/>
                    <a:p>
                      <a:r>
                        <a:rPr sz="1125" b="1">
                          <a:solidFill>
                            <a:srgbClr val="F8F7F2"/>
                          </a:solidFill>
                          <a:latin typeface="Arial"/>
                          <a:ea typeface="Arial"/>
                          <a:cs typeface="Arial"/>
                        </a:rPr>
                        <a:t>REQUIREMENT</a:t>
                      </a:r>
                    </a:p>
                  </a:txBody>
                  <a:tcPr marL="91440" marR="91440" marT="45720" marB="45720">
                    <a:solidFill>
                      <a:srgbClr val="2D4033"/>
                    </a:solidFill>
                  </a:tcPr>
                </a:tc>
                <a:tc>
                  <a:txBody>
                    <a:bodyPr/>
                    <a:lstStyle/>
                    <a:p>
                      <a:r>
                        <a:rPr sz="1125" b="1">
                          <a:solidFill>
                            <a:srgbClr val="F8F7F2"/>
                          </a:solidFill>
                          <a:latin typeface="Arial"/>
                          <a:ea typeface="Arial"/>
                          <a:cs typeface="Arial"/>
                        </a:rPr>
                        <a:t>EVIDENCE TO REVIEW</a:t>
                      </a:r>
                    </a:p>
                  </a:txBody>
                  <a:tcPr marL="91440" marR="91440" marT="45720" marB="45720">
                    <a:solidFill>
                      <a:srgbClr val="2D4033"/>
                    </a:solidFill>
                  </a:tcPr>
                </a:tc>
                <a:tc>
                  <a:txBody>
                    <a:bodyPr/>
                    <a:lstStyle/>
                    <a:p>
                      <a:r>
                        <a:rPr sz="1125" b="1">
                          <a:solidFill>
                            <a:srgbClr val="F8F7F2"/>
                          </a:solidFill>
                          <a:latin typeface="Arial"/>
                          <a:ea typeface="Arial"/>
                          <a:cs typeface="Arial"/>
                        </a:rPr>
                        <a:t>PROPOSED OWNER</a:t>
                      </a:r>
                    </a:p>
                  </a:txBody>
                  <a:tcPr marL="91440" marR="91440" marT="45720" marB="45720">
                    <a:solidFill>
                      <a:srgbClr val="2D4033"/>
                    </a:solidFill>
                  </a:tcPr>
                </a:tc>
                <a:tc>
                  <a:txBody>
                    <a:bodyPr/>
                    <a:lstStyle/>
                    <a:p>
                      <a:r>
                        <a:rPr sz="1125" b="1">
                          <a:solidFill>
                            <a:srgbClr val="F8F7F2"/>
                          </a:solidFill>
                          <a:latin typeface="Arial"/>
                          <a:ea typeface="Arial"/>
                          <a:cs typeface="Arial"/>
                        </a:rPr>
                        <a:t>DECISION</a:t>
                      </a:r>
                    </a:p>
                  </a:txBody>
                  <a:tcPr marL="91440" marR="91440" marT="45720" marB="45720">
                    <a:solidFill>
                      <a:srgbClr val="2D4033"/>
                    </a:solidFill>
                  </a:tcPr>
                </a:tc>
              </a:tr>
              <a:tr h="632460">
                <a:tc>
                  <a:txBody>
                    <a:bodyPr/>
                    <a:lstStyle/>
                    <a:p>
                      <a:r>
                        <a:rPr sz="1425" b="0">
                          <a:solidFill>
                            <a:srgbClr val="F8F7F2"/>
                          </a:solidFill>
                          <a:latin typeface="Arial"/>
                          <a:ea typeface="Arial"/>
                          <a:cs typeface="Arial"/>
                        </a:rPr>
                        <a:t>Scope</a:t>
                      </a:r>
                    </a:p>
                  </a:txBody>
                  <a:tcPr marL="91440" marR="91440" marT="45720" marB="45720">
                    <a:solidFill>
                      <a:srgbClr val="18231D"/>
                    </a:solidFill>
                  </a:tcPr>
                </a:tc>
                <a:tc>
                  <a:txBody>
                    <a:bodyPr/>
                    <a:lstStyle/>
                    <a:p>
                      <a:r>
                        <a:rPr sz="1425" b="0">
                          <a:solidFill>
                            <a:srgbClr val="F8F7F2"/>
                          </a:solidFill>
                          <a:latin typeface="Arial"/>
                          <a:ea typeface="Arial"/>
                          <a:cs typeface="Arial"/>
                        </a:rPr>
                        <a:t>Workflow, systems, exclusions</a:t>
                      </a:r>
                    </a:p>
                    <a:p>
                      <a:r>
                        <a:rPr sz="1425" b="0">
                          <a:solidFill>
                            <a:srgbClr val="F8F7F2"/>
                          </a:solidFill>
                          <a:latin typeface="Arial"/>
                          <a:ea typeface="Arial"/>
                          <a:cs typeface="Arial"/>
                        </a:rPr>
                        <a:t>and acceptance criteria</a:t>
                      </a:r>
                    </a:p>
                  </a:txBody>
                  <a:tcPr marL="91440" marR="91440" marT="45720" marB="45720">
                    <a:solidFill>
                      <a:srgbClr val="18231D"/>
                    </a:solidFill>
                  </a:tcPr>
                </a:tc>
                <a:tc>
                  <a:txBody>
                    <a:bodyPr/>
                    <a:lstStyle/>
                    <a:p>
                      <a:r>
                        <a:rPr sz="1425" b="0">
                          <a:solidFill>
                            <a:srgbClr val="F8F7F2"/>
                          </a:solidFill>
                          <a:latin typeface="Arial"/>
                          <a:ea typeface="Arial"/>
                          <a:cs typeface="Arial"/>
                        </a:rPr>
                        <a:t>Client + Prime State</a:t>
                      </a:r>
                    </a:p>
                  </a:txBody>
                  <a:tcPr marL="91440" marR="91440" marT="45720" marB="45720">
                    <a:solidFill>
                      <a:srgbClr val="18231D"/>
                    </a:solidFill>
                  </a:tcPr>
                </a:tc>
                <a:tc>
                  <a:txBody>
                    <a:bodyPr/>
                    <a:lstStyle/>
                    <a:p>
                      <a:r>
                        <a:rPr sz="1425" b="0">
                          <a:solidFill>
                            <a:srgbClr val="F8F7F2"/>
                          </a:solidFill>
                          <a:latin typeface="Arial"/>
                          <a:ea typeface="Arial"/>
                          <a:cs typeface="Arial"/>
                        </a:rPr>
                        <a:t>Ready to configure?</a:t>
                      </a:r>
                    </a:p>
                  </a:txBody>
                  <a:tcPr marL="91440" marR="91440" marT="45720" marB="45720">
                    <a:solidFill>
                      <a:srgbClr val="18231D"/>
                    </a:solidFill>
                  </a:tcPr>
                </a:tc>
              </a:tr>
              <a:tr h="632460">
                <a:tc>
                  <a:txBody>
                    <a:bodyPr/>
                    <a:lstStyle/>
                    <a:p>
                      <a:r>
                        <a:rPr sz="1425" b="0">
                          <a:solidFill>
                            <a:srgbClr val="F8F7F2"/>
                          </a:solidFill>
                          <a:latin typeface="Arial"/>
                          <a:ea typeface="Arial"/>
                          <a:cs typeface="Arial"/>
                        </a:rPr>
                        <a:t>Readiness</a:t>
                      </a:r>
                    </a:p>
                  </a:txBody>
                  <a:tcPr marL="91440" marR="91440" marT="45720" marB="45720">
                    <a:solidFill>
                      <a:srgbClr val="18231D"/>
                    </a:solidFill>
                  </a:tcPr>
                </a:tc>
                <a:tc>
                  <a:txBody>
                    <a:bodyPr/>
                    <a:lstStyle/>
                    <a:p>
                      <a:r>
                        <a:rPr sz="1425" b="0">
                          <a:solidFill>
                            <a:srgbClr val="F8F7F2"/>
                          </a:solidFill>
                          <a:latin typeface="Arial"/>
                          <a:ea typeface="Arial"/>
                          <a:cs typeface="Arial"/>
                        </a:rPr>
                        <a:t>Approved sample data, access</a:t>
                      </a:r>
                    </a:p>
                    <a:p>
                      <a:r>
                        <a:rPr sz="1425" b="0">
                          <a:solidFill>
                            <a:srgbClr val="F8F7F2"/>
                          </a:solidFill>
                          <a:latin typeface="Arial"/>
                          <a:ea typeface="Arial"/>
                          <a:cs typeface="Arial"/>
                        </a:rPr>
                        <a:t>and exception ownership</a:t>
                      </a:r>
                    </a:p>
                  </a:txBody>
                  <a:tcPr marL="91440" marR="91440" marT="45720" marB="45720">
                    <a:solidFill>
                      <a:srgbClr val="18231D"/>
                    </a:solidFill>
                  </a:tcPr>
                </a:tc>
                <a:tc>
                  <a:txBody>
                    <a:bodyPr/>
                    <a:lstStyle/>
                    <a:p>
                      <a:r>
                        <a:rPr sz="1425" b="0">
                          <a:solidFill>
                            <a:srgbClr val="F8F7F2"/>
                          </a:solidFill>
                          <a:latin typeface="Arial"/>
                          <a:ea typeface="Arial"/>
                          <a:cs typeface="Arial"/>
                        </a:rPr>
                        <a:t>Client; Prime State</a:t>
                      </a:r>
                    </a:p>
                    <a:p>
                      <a:r>
                        <a:rPr sz="1425" b="0">
                          <a:solidFill>
                            <a:srgbClr val="F8F7F2"/>
                          </a:solidFill>
                          <a:latin typeface="Arial"/>
                          <a:ea typeface="Arial"/>
                          <a:cs typeface="Arial"/>
                        </a:rPr>
                        <a:t>checks</a:t>
                      </a:r>
                    </a:p>
                  </a:txBody>
                  <a:tcPr marL="91440" marR="91440" marT="45720" marB="45720">
                    <a:solidFill>
                      <a:srgbClr val="18231D"/>
                    </a:solidFill>
                  </a:tcPr>
                </a:tc>
                <a:tc>
                  <a:txBody>
                    <a:bodyPr/>
                    <a:lstStyle/>
                    <a:p>
                      <a:r>
                        <a:rPr sz="1425" b="0">
                          <a:solidFill>
                            <a:srgbClr val="F8F7F2"/>
                          </a:solidFill>
                          <a:latin typeface="Arial"/>
                          <a:ea typeface="Arial"/>
                          <a:cs typeface="Arial"/>
                        </a:rPr>
                        <a:t>Ready to test?</a:t>
                      </a:r>
                    </a:p>
                  </a:txBody>
                  <a:tcPr marL="91440" marR="91440" marT="45720" marB="45720">
                    <a:solidFill>
                      <a:srgbClr val="18231D"/>
                    </a:solidFill>
                  </a:tcPr>
                </a:tc>
              </a:tr>
              <a:tr h="632460">
                <a:tc>
                  <a:txBody>
                    <a:bodyPr/>
                    <a:lstStyle/>
                    <a:p>
                      <a:r>
                        <a:rPr sz="1425" b="0">
                          <a:solidFill>
                            <a:srgbClr val="F8F7F2"/>
                          </a:solidFill>
                          <a:latin typeface="Arial"/>
                          <a:ea typeface="Arial"/>
                          <a:cs typeface="Arial"/>
                        </a:rPr>
                        <a:t>Validation</a:t>
                      </a:r>
                    </a:p>
                  </a:txBody>
                  <a:tcPr marL="91440" marR="91440" marT="45720" marB="45720">
                    <a:solidFill>
                      <a:srgbClr val="18231D"/>
                    </a:solidFill>
                  </a:tcPr>
                </a:tc>
                <a:tc>
                  <a:txBody>
                    <a:bodyPr/>
                    <a:lstStyle/>
                    <a:p>
                      <a:r>
                        <a:rPr sz="1425" b="0">
                          <a:solidFill>
                            <a:srgbClr val="F8F7F2"/>
                          </a:solidFill>
                          <a:latin typeface="Arial"/>
                          <a:ea typeface="Arial"/>
                          <a:cs typeface="Arial"/>
                        </a:rPr>
                        <a:t>Normal, duplicate, missing-data</a:t>
                      </a:r>
                    </a:p>
                    <a:p>
                      <a:r>
                        <a:rPr sz="1425" b="0">
                          <a:solidFill>
                            <a:srgbClr val="F8F7F2"/>
                          </a:solidFill>
                          <a:latin typeface="Arial"/>
                          <a:ea typeface="Arial"/>
                          <a:cs typeface="Arial"/>
                        </a:rPr>
                        <a:t>and failure cases</a:t>
                      </a:r>
                    </a:p>
                  </a:txBody>
                  <a:tcPr marL="91440" marR="91440" marT="45720" marB="45720">
                    <a:solidFill>
                      <a:srgbClr val="18231D"/>
                    </a:solidFill>
                  </a:tcPr>
                </a:tc>
                <a:tc>
                  <a:txBody>
                    <a:bodyPr/>
                    <a:lstStyle/>
                    <a:p>
                      <a:r>
                        <a:rPr sz="1425" b="0">
                          <a:solidFill>
                            <a:srgbClr val="F8F7F2"/>
                          </a:solidFill>
                          <a:latin typeface="Arial"/>
                          <a:ea typeface="Arial"/>
                          <a:cs typeface="Arial"/>
                        </a:rPr>
                        <a:t>Prime State tests;</a:t>
                      </a:r>
                    </a:p>
                    <a:p>
                      <a:r>
                        <a:rPr sz="1425" b="0">
                          <a:solidFill>
                            <a:srgbClr val="F8F7F2"/>
                          </a:solidFill>
                          <a:latin typeface="Arial"/>
                          <a:ea typeface="Arial"/>
                          <a:cs typeface="Arial"/>
                        </a:rPr>
                        <a:t>client reviews</a:t>
                      </a:r>
                    </a:p>
                  </a:txBody>
                  <a:tcPr marL="91440" marR="91440" marT="45720" marB="45720">
                    <a:solidFill>
                      <a:srgbClr val="18231D"/>
                    </a:solidFill>
                  </a:tcPr>
                </a:tc>
                <a:tc>
                  <a:txBody>
                    <a:bodyPr/>
                    <a:lstStyle/>
                    <a:p>
                      <a:r>
                        <a:rPr sz="1425" b="0">
                          <a:solidFill>
                            <a:srgbClr val="F8F7F2"/>
                          </a:solidFill>
                          <a:latin typeface="Arial"/>
                          <a:ea typeface="Arial"/>
                          <a:cs typeface="Arial"/>
                        </a:rPr>
                        <a:t>Approve pilot launch?</a:t>
                      </a:r>
                    </a:p>
                  </a:txBody>
                  <a:tcPr marL="91440" marR="91440" marT="45720" marB="45720">
                    <a:solidFill>
                      <a:srgbClr val="18231D"/>
                    </a:solidFill>
                  </a:tcPr>
                </a:tc>
              </a:tr>
              <a:tr h="632460">
                <a:tc>
                  <a:txBody>
                    <a:bodyPr/>
                    <a:lstStyle/>
                    <a:p>
                      <a:r>
                        <a:rPr sz="1425" b="0">
                          <a:solidFill>
                            <a:srgbClr val="F8F7F2"/>
                          </a:solidFill>
                          <a:latin typeface="Arial"/>
                          <a:ea typeface="Arial"/>
                          <a:cs typeface="Arial"/>
                        </a:rPr>
                        <a:t>Evaluation</a:t>
                      </a:r>
                    </a:p>
                  </a:txBody>
                  <a:tcPr marL="91440" marR="91440" marT="45720" marB="45720">
                    <a:solidFill>
                      <a:srgbClr val="18231D"/>
                    </a:solidFill>
                  </a:tcPr>
                </a:tc>
                <a:tc>
                  <a:txBody>
                    <a:bodyPr/>
                    <a:lstStyle/>
                    <a:p>
                      <a:r>
                        <a:rPr sz="1425" b="0">
                          <a:solidFill>
                            <a:srgbClr val="F8F7F2"/>
                          </a:solidFill>
                          <a:latin typeface="Arial"/>
                          <a:ea typeface="Arial"/>
                          <a:cs typeface="Arial"/>
                        </a:rPr>
                        <a:t>Baseline vs pilot: completion,</a:t>
                      </a:r>
                    </a:p>
                    <a:p>
                      <a:r>
                        <a:rPr sz="1425" b="0">
                          <a:solidFill>
                            <a:srgbClr val="F8F7F2"/>
                          </a:solidFill>
                          <a:latin typeface="Arial"/>
                          <a:ea typeface="Arial"/>
                          <a:cs typeface="Arial"/>
                        </a:rPr>
                        <a:t>handling time, manual work</a:t>
                      </a:r>
                    </a:p>
                  </a:txBody>
                  <a:tcPr marL="91440" marR="91440" marT="45720" marB="45720">
                    <a:solidFill>
                      <a:srgbClr val="18231D"/>
                    </a:solidFill>
                  </a:tcPr>
                </a:tc>
                <a:tc>
                  <a:txBody>
                    <a:bodyPr/>
                    <a:lstStyle/>
                    <a:p>
                      <a:r>
                        <a:rPr sz="1425" b="0">
                          <a:solidFill>
                            <a:srgbClr val="F8F7F2"/>
                          </a:solidFill>
                          <a:latin typeface="Arial"/>
                          <a:ea typeface="Arial"/>
                          <a:cs typeface="Arial"/>
                        </a:rPr>
                        <a:t>Joint review</a:t>
                      </a:r>
                    </a:p>
                  </a:txBody>
                  <a:tcPr marL="91440" marR="91440" marT="45720" marB="45720">
                    <a:solidFill>
                      <a:srgbClr val="18231D"/>
                    </a:solidFill>
                  </a:tcPr>
                </a:tc>
                <a:tc>
                  <a:txBody>
                    <a:bodyPr/>
                    <a:lstStyle/>
                    <a:p>
                      <a:r>
                        <a:rPr sz="1425" b="0">
                          <a:solidFill>
                            <a:srgbClr val="F8F7F2"/>
                          </a:solidFill>
                          <a:latin typeface="Arial"/>
                          <a:ea typeface="Arial"/>
                          <a:cs typeface="Arial"/>
                        </a:rPr>
                        <a:t>Refine or expand?</a:t>
                      </a:r>
                    </a:p>
                  </a:txBody>
                  <a:tcPr marL="91440" marR="91440" marT="45720" marB="45720">
                    <a:solidFill>
                      <a:srgbClr val="18231D"/>
                    </a:solidFill>
                  </a:tcPr>
                </a:tc>
              </a:tr>
            </a:tbl>
          </a:graphicData>
        </a:graphic>
      </p:graphicFrame>
      <p:sp>
        <p:nvSpPr>
          <p:cNvPr id="8" name="SUCCESS THRESHOLDS ARE AGREED, NOT ASSUMED">
            <a:extLst xmlns:a="http://schemas.openxmlformats.org/drawingml/2006/main">
              <a:ext uri="{FF2B5EF4-FFF2-40B4-BE49-F238E27FC236}">
                <a16:creationId xmlns:a16="http://schemas.microsoft.com/office/drawing/2014/main" id="{DD766AF2-199A-45C4-83E9-7AEBEEC31C46}"/>
              </a:ext>
            </a:extLst>
          </p:cNvPr>
          <p:cNvSpPr>
            <a:spLocks xmlns:a="http://schemas.openxmlformats.org/drawingml/2006/main" noGrp="1"/>
          </p:cNvSpPr>
          <p:nvPr/>
        </p:nvSpPr>
        <p:spPr>
          <a:xfrm xmlns:a="http://schemas.openxmlformats.org/drawingml/2006/main">
            <a:off x="533400" y="5819775"/>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SUCCESS THRESHOLDS ARE AGREED, NOT ASSUMED</a:t>
            </a:r>
          </a:p>
        </p:txBody>
      </p:sp>
      <p:sp>
        <p:nvSpPr>
          <p:cNvPr id="9" name="criteria">
            <a:extLst xmlns:a="http://schemas.openxmlformats.org/drawingml/2006/main">
              <a:ext uri="{FF2B5EF4-FFF2-40B4-BE49-F238E27FC236}">
                <a16:creationId xmlns:a16="http://schemas.microsoft.com/office/drawing/2014/main" id="{1D87013C-E616-40F1-830F-1BD17926B7F9}"/>
              </a:ext>
            </a:extLst>
          </p:cNvPr>
          <p:cNvSpPr>
            <a:spLocks xmlns:a="http://schemas.openxmlformats.org/drawingml/2006/main" noGrp="1"/>
          </p:cNvSpPr>
          <p:nvPr/>
        </p:nvSpPr>
        <p:spPr>
          <a:xfrm xmlns:a="http://schemas.openxmlformats.org/drawingml/2006/main">
            <a:off x="533400" y="61245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8F7F2"/>
                </a:solidFill>
                <a:latin typeface="Arial"/>
                <a:ea typeface="Arial"/>
                <a:cs typeface="Arial"/>
              </a:defRPr>
            </a:pPr>
            <a:r>
              <a:rPr sz="1500" b="0">
                <a:solidFill>
                  <a:srgbClr val="F8F7F2"/>
                </a:solidFill>
                <a:latin typeface="Arial"/>
                <a:ea typeface="Arial"/>
                <a:cs typeface="Arial"/>
              </a:rPr>
              <a:t>Record the measurement method, observation period and approval owner in the pilot specification.</a:t>
            </a:r>
          </a:p>
        </p:txBody>
      </p:sp>
    </p:spTree>
    <p:extLst>
      <p:ext uri="{BB962C8B-B14F-4D97-AF65-F5344CB8AC3E}">
        <p14:creationId xmlns:p14="http://schemas.microsoft.com/office/powerpoint/2010/main" val="511767916"/>
      </p:ext>
    </p:extLst>
  </p:cSld>
</p:sld>
</file>

<file path=ppt/slides/slide8.xml><?xml version="1.0" encoding="utf-8"?>
<p:sld xmlns:p="http://schemas.openxmlformats.org/presentationml/2006/main">
  <p:cSld>
    <p:bg>
      <p:bgPr>
        <a:solidFill xmlns:a="http://schemas.openxmlformats.org/drawingml/2006/main">
          <a:srgbClr val="FEFDFC"/>
        </a:solidFill>
      </p:bgPr>
    </p:bg>
    <p:spTree>
      <p:nvGrpSpPr>
        <p:cNvPr id="1" name=""/>
        <p:cNvGrpSpPr/>
        <p:nvPr/>
      </p:nvGrpSpPr>
      <p:grpSpPr>
        <a:xfrm xmlns:a="http://schemas.openxmlformats.org/drawingml/2006/main"/>
      </p:grpSpPr>
      <p:sp>
        <p:nvSpPr>
          <p:cNvPr id="19" name="PRIME STATE SYSTEMS">
            <a:extLst xmlns:a="http://schemas.openxmlformats.org/drawingml/2006/main">
              <a:ext uri="{FF2B5EF4-FFF2-40B4-BE49-F238E27FC236}">
                <a16:creationId xmlns:a16="http://schemas.microsoft.com/office/drawing/2014/main" id="{59CFD12E-ABBC-4E3C-B587-39DA55D7E923}"/>
              </a:ext>
            </a:extLst>
          </p:cNvPr>
          <p:cNvSpPr>
            <a:spLocks xmlns:a="http://schemas.openxmlformats.org/drawingml/2006/main" noGrp="1"/>
          </p:cNvSpPr>
          <p:nvPr/>
        </p:nvSpPr>
        <p:spPr>
          <a:xfrm xmlns:a="http://schemas.openxmlformats.org/drawingml/2006/main">
            <a:off x="533400" y="257175"/>
            <a:ext cx="5334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PRIME STATE SYSTEMS</a:t>
            </a:r>
          </a:p>
        </p:txBody>
      </p:sp>
      <p:sp>
        <p:nvSpPr>
          <p:cNvPr id="2" name="08 / ENGAGEMENT BRIEF">
            <a:extLst xmlns:a="http://schemas.openxmlformats.org/drawingml/2006/main">
              <a:ext uri="{FF2B5EF4-FFF2-40B4-BE49-F238E27FC236}">
                <a16:creationId xmlns:a16="http://schemas.microsoft.com/office/drawing/2014/main" id="{7E5D1CE6-D81F-4D51-8BE0-42BA539B16D8}"/>
              </a:ext>
            </a:extLst>
          </p:cNvPr>
          <p:cNvSpPr>
            <a:spLocks xmlns:a="http://schemas.openxmlformats.org/drawingml/2006/main" noGrp="1"/>
          </p:cNvSpPr>
          <p:nvPr/>
        </p:nvSpPr>
        <p:spPr>
          <a:xfrm xmlns:a="http://schemas.openxmlformats.org/drawingml/2006/main">
            <a:off x="8858250" y="25717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08 / ENGAGEMENT BRIEF</a:t>
            </a:r>
          </a:p>
        </p:txBody>
      </p:sp>
      <p:sp>
        <p:nvSpPr>
          <p:cNvPr id="3" name="headline">
            <a:extLst xmlns:a="http://schemas.openxmlformats.org/drawingml/2006/main">
              <a:ext uri="{FF2B5EF4-FFF2-40B4-BE49-F238E27FC236}">
                <a16:creationId xmlns:a16="http://schemas.microsoft.com/office/drawing/2014/main" id="{4D71DDBB-EF31-4CEA-95F7-C24D0645403E}"/>
              </a:ext>
            </a:extLst>
          </p:cNvPr>
          <p:cNvSpPr>
            <a:spLocks xmlns:a="http://schemas.openxmlformats.org/drawingml/2006/main" noGrp="1"/>
          </p:cNvSpPr>
          <p:nvPr/>
        </p:nvSpPr>
        <p:spPr>
          <a:xfrm xmlns:a="http://schemas.openxmlformats.org/drawingml/2006/main">
            <a:off x="533400" y="7620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6"/>
                </a:solidFill>
                <a:latin typeface="Georgia"/>
                <a:ea typeface="Georgia"/>
                <a:cs typeface="Georgia"/>
              </a:defRPr>
            </a:pPr>
            <a:r>
              <a:rPr sz="3000" b="0">
                <a:solidFill>
                  <a:srgbClr val="171916"/>
                </a:solidFill>
                <a:latin typeface="Georgia"/>
                <a:ea typeface="Georgia"/>
                <a:cs typeface="Georgia"/>
              </a:rPr>
              <a:t>Choose one workflow worth standardizing</a:t>
            </a:r>
          </a:p>
        </p:txBody>
      </p:sp>
      <p:sp>
        <p:nvSpPr>
          <p:cNvPr id="4" name="subhead">
            <a:extLst xmlns:a="http://schemas.openxmlformats.org/drawingml/2006/main">
              <a:ext uri="{FF2B5EF4-FFF2-40B4-BE49-F238E27FC236}">
                <a16:creationId xmlns:a16="http://schemas.microsoft.com/office/drawing/2014/main" id="{836CAA5E-2971-4E3C-8134-040C02E1F865}"/>
              </a:ext>
            </a:extLst>
          </p:cNvPr>
          <p:cNvSpPr>
            <a:spLocks xmlns:a="http://schemas.openxmlformats.org/drawingml/2006/main" noGrp="1"/>
          </p:cNvSpPr>
          <p:nvPr/>
        </p:nvSpPr>
        <p:spPr>
          <a:xfrm xmlns:a="http://schemas.openxmlformats.org/drawingml/2006/main">
            <a:off x="533400" y="1476375"/>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6B63"/>
                </a:solidFill>
                <a:latin typeface="Arial"/>
                <a:ea typeface="Arial"/>
                <a:cs typeface="Arial"/>
              </a:defRPr>
            </a:pPr>
            <a:r>
              <a:rPr sz="1575" b="0">
                <a:solidFill>
                  <a:srgbClr val="666B63"/>
                </a:solidFill>
                <a:latin typeface="Arial"/>
                <a:ea typeface="Arial"/>
                <a:cs typeface="Arial"/>
              </a:rPr>
              <a:t>A proposed first engagement with explicit responsibilities and a defined decision before wider rollout.</a:t>
            </a:r>
          </a:p>
        </p:txBody>
      </p:sp>
      <p:sp>
        <p:nvSpPr>
          <p:cNvPr id="5" name="rule">
            <a:extLst xmlns:a="http://schemas.openxmlformats.org/drawingml/2006/main">
              <a:ext uri="{FF2B5EF4-FFF2-40B4-BE49-F238E27FC236}">
                <a16:creationId xmlns:a16="http://schemas.microsoft.com/office/drawing/2014/main" id="{7450DEAD-9FD6-4535-A468-CBB167A29DC7}"/>
              </a:ext>
            </a:extLst>
          </p:cNvPr>
          <p:cNvSpPr>
            <a:spLocks xmlns:a="http://schemas.openxmlformats.org/drawingml/2006/main" noGrp="1"/>
          </p:cNvSpPr>
          <p:nvPr/>
        </p:nvSpPr>
        <p:spPr>
          <a:xfrm xmlns:a="http://schemas.openxmlformats.org/drawingml/2006/main">
            <a:off x="533400" y="2152650"/>
            <a:ext cx="11125200"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6" name="PREPRODUCTION  /  SEPTEMBER 2026">
            <a:extLst xmlns:a="http://schemas.openxmlformats.org/drawingml/2006/main">
              <a:ext uri="{FF2B5EF4-FFF2-40B4-BE49-F238E27FC236}">
                <a16:creationId xmlns:a16="http://schemas.microsoft.com/office/drawing/2014/main" id="{C3060D22-A7EE-47F7-B812-0D546BA7420C}"/>
              </a:ext>
            </a:extLst>
          </p:cNvPr>
          <p:cNvSpPr>
            <a:spLocks xmlns:a="http://schemas.openxmlformats.org/drawingml/2006/main" noGrp="1"/>
          </p:cNvSpPr>
          <p:nvPr/>
        </p:nvSpPr>
        <p:spPr>
          <a:xfrm xmlns:a="http://schemas.openxmlformats.org/drawingml/2006/main">
            <a:off x="533400" y="6486525"/>
            <a:ext cx="714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66B63"/>
                </a:solidFill>
                <a:latin typeface="Arial"/>
                <a:ea typeface="Arial"/>
                <a:cs typeface="Arial"/>
              </a:defRPr>
            </a:pPr>
            <a:r>
              <a:rPr sz="975" b="0">
                <a:solidFill>
                  <a:srgbClr val="666B63"/>
                </a:solidFill>
                <a:latin typeface="Arial"/>
                <a:ea typeface="Arial"/>
                <a:cs typeface="Arial"/>
              </a:rPr>
              <a:t>PREPRODUCTION  /  SEPTEMBER 2026</a:t>
            </a:r>
          </a:p>
        </p:txBody>
      </p:sp>
      <p:sp>
        <p:nvSpPr>
          <p:cNvPr id="7" name="scope-field">
            <a:extLst xmlns:a="http://schemas.openxmlformats.org/drawingml/2006/main">
              <a:ext uri="{FF2B5EF4-FFF2-40B4-BE49-F238E27FC236}">
                <a16:creationId xmlns:a16="http://schemas.microsoft.com/office/drawing/2014/main" id="{7F590DEB-298C-4210-972B-1F0192E94744}"/>
              </a:ext>
            </a:extLst>
          </p:cNvPr>
          <p:cNvSpPr>
            <a:spLocks xmlns:a="http://schemas.openxmlformats.org/drawingml/2006/main" noGrp="1"/>
          </p:cNvSpPr>
          <p:nvPr/>
        </p:nvSpPr>
        <p:spPr>
          <a:xfrm xmlns:a="http://schemas.openxmlformats.org/drawingml/2006/main">
            <a:off x="533400" y="2400300"/>
            <a:ext cx="3552825" cy="3810000"/>
          </a:xfrm>
          <a:prstGeom xmlns:a="http://schemas.openxmlformats.org/drawingml/2006/main" prst="rect">
            <a:avLst/>
          </a:prstGeom>
          <a:solidFill xmlns:a="http://schemas.openxmlformats.org/drawingml/2006/main">
            <a:srgbClr val="18231D"/>
          </a:solidFill>
          <a:ln xmlns:a="http://schemas.openxmlformats.org/drawingml/2006/main" w="0">
            <a:noFill/>
          </a:ln>
        </p:spPr>
      </p:sp>
      <p:sp>
        <p:nvSpPr>
          <p:cNvPr id="8" name="PROPOSED STARTING SCOPE">
            <a:extLst xmlns:a="http://schemas.openxmlformats.org/drawingml/2006/main">
              <a:ext uri="{FF2B5EF4-FFF2-40B4-BE49-F238E27FC236}">
                <a16:creationId xmlns:a16="http://schemas.microsoft.com/office/drawing/2014/main" id="{220AD75C-C57D-4FB4-A7A1-A3B3FD551769}"/>
              </a:ext>
            </a:extLst>
          </p:cNvPr>
          <p:cNvSpPr>
            <a:spLocks xmlns:a="http://schemas.openxmlformats.org/drawingml/2006/main" noGrp="1"/>
          </p:cNvSpPr>
          <p:nvPr/>
        </p:nvSpPr>
        <p:spPr>
          <a:xfrm xmlns:a="http://schemas.openxmlformats.org/drawingml/2006/main">
            <a:off x="742950" y="2600325"/>
            <a:ext cx="31146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C4CDC2"/>
                </a:solidFill>
                <a:latin typeface="Arial"/>
                <a:ea typeface="Arial"/>
                <a:cs typeface="Arial"/>
              </a:defRPr>
            </a:pPr>
            <a:r>
              <a:rPr sz="975" b="0">
                <a:solidFill>
                  <a:srgbClr val="C4CDC2"/>
                </a:solidFill>
                <a:latin typeface="Arial"/>
                <a:ea typeface="Arial"/>
                <a:cs typeface="Arial"/>
              </a:rPr>
              <a:t>PROPOSED STARTING SCOPE</a:t>
            </a:r>
          </a:p>
        </p:txBody>
      </p:sp>
      <p:sp>
        <p:nvSpPr>
          <p:cNvPr id="9" name="scope-statement">
            <a:extLst xmlns:a="http://schemas.openxmlformats.org/drawingml/2006/main">
              <a:ext uri="{FF2B5EF4-FFF2-40B4-BE49-F238E27FC236}">
                <a16:creationId xmlns:a16="http://schemas.microsoft.com/office/drawing/2014/main" id="{29744D9A-FD0B-4F1B-B252-1E0D4A545DB1}"/>
              </a:ext>
            </a:extLst>
          </p:cNvPr>
          <p:cNvSpPr>
            <a:spLocks xmlns:a="http://schemas.openxmlformats.org/drawingml/2006/main" noGrp="1"/>
          </p:cNvSpPr>
          <p:nvPr/>
        </p:nvSpPr>
        <p:spPr>
          <a:xfrm xmlns:a="http://schemas.openxmlformats.org/drawingml/2006/main">
            <a:off x="742950" y="3086100"/>
            <a:ext cx="31242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8F7F2"/>
                </a:solidFill>
                <a:latin typeface="Georgia"/>
                <a:ea typeface="Georgia"/>
                <a:cs typeface="Georgia"/>
              </a:defRPr>
            </a:pPr>
            <a:r>
              <a:rPr sz="2700" b="0">
                <a:solidFill>
                  <a:srgbClr val="F8F7F2"/>
                </a:solidFill>
                <a:latin typeface="Georgia"/>
                <a:ea typeface="Georgia"/>
                <a:cs typeface="Georgia"/>
              </a:rPr>
              <a:t>One workflow.</a:t>
            </a:r>
          </a:p>
          <a:p xmlns:a="http://schemas.openxmlformats.org/drawingml/2006/main">
            <a:pPr>
              <a:defRPr sz="2700" b="0">
                <a:solidFill>
                  <a:srgbClr val="F8F7F2"/>
                </a:solidFill>
                <a:latin typeface="Georgia"/>
                <a:ea typeface="Georgia"/>
                <a:cs typeface="Georgia"/>
              </a:defRPr>
            </a:pPr>
            <a:r>
              <a:rPr sz="2700" b="0">
                <a:solidFill>
                  <a:srgbClr val="F8F7F2"/>
                </a:solidFill>
                <a:latin typeface="Georgia"/>
                <a:ea typeface="Georgia"/>
                <a:cs typeface="Georgia"/>
              </a:rPr>
              <a:t>A named owner.</a:t>
            </a:r>
          </a:p>
          <a:p xmlns:a="http://schemas.openxmlformats.org/drawingml/2006/main">
            <a:pPr>
              <a:defRPr sz="2700" b="0">
                <a:solidFill>
                  <a:srgbClr val="F8F7F2"/>
                </a:solidFill>
                <a:latin typeface="Georgia"/>
                <a:ea typeface="Georgia"/>
                <a:cs typeface="Georgia"/>
              </a:defRPr>
            </a:pPr>
            <a:r>
              <a:rPr sz="2700" b="0">
                <a:solidFill>
                  <a:srgbClr val="F8F7F2"/>
                </a:solidFill>
                <a:latin typeface="Georgia"/>
                <a:ea typeface="Georgia"/>
                <a:cs typeface="Georgia"/>
              </a:rPr>
              <a:t>An agreed test.</a:t>
            </a:r>
          </a:p>
        </p:txBody>
      </p:sp>
      <p:sp>
        <p:nvSpPr>
          <p:cNvPr id="10" name="scope-description">
            <a:extLst xmlns:a="http://schemas.openxmlformats.org/drawingml/2006/main">
              <a:ext uri="{FF2B5EF4-FFF2-40B4-BE49-F238E27FC236}">
                <a16:creationId xmlns:a16="http://schemas.microsoft.com/office/drawing/2014/main" id="{928356F6-DCE6-4815-A30C-7834478CBA99}"/>
              </a:ext>
            </a:extLst>
          </p:cNvPr>
          <p:cNvSpPr>
            <a:spLocks xmlns:a="http://schemas.openxmlformats.org/drawingml/2006/main" noGrp="1"/>
          </p:cNvSpPr>
          <p:nvPr/>
        </p:nvSpPr>
        <p:spPr>
          <a:xfrm xmlns:a="http://schemas.openxmlformats.org/drawingml/2006/main">
            <a:off x="742950" y="4695825"/>
            <a:ext cx="30575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4CDC2"/>
                </a:solidFill>
                <a:latin typeface="Arial"/>
                <a:ea typeface="Arial"/>
                <a:cs typeface="Arial"/>
              </a:defRPr>
            </a:pPr>
            <a:r>
              <a:rPr sz="1650" b="0">
                <a:solidFill>
                  <a:srgbClr val="C4CDC2"/>
                </a:solidFill>
                <a:latin typeface="Arial"/>
                <a:ea typeface="Arial"/>
                <a:cs typeface="Arial"/>
              </a:rPr>
              <a:t>Confirm the connected systems, required records, exclusions and approval conditions before implementation begins.</a:t>
            </a:r>
          </a:p>
        </p:txBody>
      </p:sp>
      <p:sp>
        <p:nvSpPr>
          <p:cNvPr id="11" name="CLIENT INPUTS">
            <a:extLst xmlns:a="http://schemas.openxmlformats.org/drawingml/2006/main">
              <a:ext uri="{FF2B5EF4-FFF2-40B4-BE49-F238E27FC236}">
                <a16:creationId xmlns:a16="http://schemas.microsoft.com/office/drawing/2014/main" id="{937CA434-22B7-4AD7-8D50-7BE204A41CE1}"/>
              </a:ext>
            </a:extLst>
          </p:cNvPr>
          <p:cNvSpPr>
            <a:spLocks xmlns:a="http://schemas.openxmlformats.org/drawingml/2006/main" noGrp="1"/>
          </p:cNvSpPr>
          <p:nvPr/>
        </p:nvSpPr>
        <p:spPr>
          <a:xfrm xmlns:a="http://schemas.openxmlformats.org/drawingml/2006/main">
            <a:off x="4543425" y="2438400"/>
            <a:ext cx="6972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CLIENT INPUTS</a:t>
            </a:r>
          </a:p>
        </p:txBody>
      </p:sp>
      <p:sp>
        <p:nvSpPr>
          <p:cNvPr id="12" name="brief0">
            <a:extLst xmlns:a="http://schemas.openxmlformats.org/drawingml/2006/main">
              <a:ext uri="{FF2B5EF4-FFF2-40B4-BE49-F238E27FC236}">
                <a16:creationId xmlns:a16="http://schemas.microsoft.com/office/drawing/2014/main" id="{CE798093-1972-46E5-BF52-156EF1EC5C4B}"/>
              </a:ext>
            </a:extLst>
          </p:cNvPr>
          <p:cNvSpPr>
            <a:spLocks xmlns:a="http://schemas.openxmlformats.org/drawingml/2006/main" noGrp="1"/>
          </p:cNvSpPr>
          <p:nvPr/>
        </p:nvSpPr>
        <p:spPr>
          <a:xfrm xmlns:a="http://schemas.openxmlformats.org/drawingml/2006/main">
            <a:off x="4543425" y="2762250"/>
            <a:ext cx="6791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6B63"/>
                </a:solidFill>
                <a:latin typeface="Arial"/>
                <a:ea typeface="Arial"/>
                <a:cs typeface="Arial"/>
              </a:defRPr>
            </a:pPr>
            <a:r>
              <a:rPr sz="1725" b="0">
                <a:solidFill>
                  <a:srgbClr val="666B63"/>
                </a:solidFill>
                <a:latin typeface="Arial"/>
                <a:ea typeface="Arial"/>
                <a:cs typeface="Arial"/>
              </a:rPr>
              <a:t>Nominate an operational owner; identify the workflow; provide approved access and sample data.</a:t>
            </a:r>
          </a:p>
        </p:txBody>
      </p:sp>
      <p:sp>
        <p:nvSpPr>
          <p:cNvPr id="13" name="rule">
            <a:extLst xmlns:a="http://schemas.openxmlformats.org/drawingml/2006/main">
              <a:ext uri="{FF2B5EF4-FFF2-40B4-BE49-F238E27FC236}">
                <a16:creationId xmlns:a16="http://schemas.microsoft.com/office/drawing/2014/main" id="{F2621A86-4F1B-4B28-B10E-311ABA088D3D}"/>
              </a:ext>
            </a:extLst>
          </p:cNvPr>
          <p:cNvSpPr>
            <a:spLocks xmlns:a="http://schemas.openxmlformats.org/drawingml/2006/main" noGrp="1"/>
          </p:cNvSpPr>
          <p:nvPr/>
        </p:nvSpPr>
        <p:spPr>
          <a:xfrm xmlns:a="http://schemas.openxmlformats.org/drawingml/2006/main">
            <a:off x="4543425" y="3495675"/>
            <a:ext cx="711517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4" name="PRIME STATE RESPONSIBILITIES">
            <a:extLst xmlns:a="http://schemas.openxmlformats.org/drawingml/2006/main">
              <a:ext uri="{FF2B5EF4-FFF2-40B4-BE49-F238E27FC236}">
                <a16:creationId xmlns:a16="http://schemas.microsoft.com/office/drawing/2014/main" id="{A600AB6B-94C5-420C-890C-A979AD059525}"/>
              </a:ext>
            </a:extLst>
          </p:cNvPr>
          <p:cNvSpPr>
            <a:spLocks xmlns:a="http://schemas.openxmlformats.org/drawingml/2006/main" noGrp="1"/>
          </p:cNvSpPr>
          <p:nvPr/>
        </p:nvSpPr>
        <p:spPr>
          <a:xfrm xmlns:a="http://schemas.openxmlformats.org/drawingml/2006/main">
            <a:off x="4543425" y="3619500"/>
            <a:ext cx="6972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PRIME STATE RESPONSIBILITIES</a:t>
            </a:r>
          </a:p>
        </p:txBody>
      </p:sp>
      <p:sp>
        <p:nvSpPr>
          <p:cNvPr id="15" name="brief1">
            <a:extLst xmlns:a="http://schemas.openxmlformats.org/drawingml/2006/main">
              <a:ext uri="{FF2B5EF4-FFF2-40B4-BE49-F238E27FC236}">
                <a16:creationId xmlns:a16="http://schemas.microsoft.com/office/drawing/2014/main" id="{61E0D2A5-874B-4084-BE40-C22DE64D548D}"/>
              </a:ext>
            </a:extLst>
          </p:cNvPr>
          <p:cNvSpPr>
            <a:spLocks xmlns:a="http://schemas.openxmlformats.org/drawingml/2006/main" noGrp="1"/>
          </p:cNvSpPr>
          <p:nvPr/>
        </p:nvSpPr>
        <p:spPr>
          <a:xfrm xmlns:a="http://schemas.openxmlformats.org/drawingml/2006/main">
            <a:off x="4543425" y="3943350"/>
            <a:ext cx="6791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6B63"/>
                </a:solidFill>
                <a:latin typeface="Arial"/>
                <a:ea typeface="Arial"/>
                <a:cs typeface="Arial"/>
              </a:defRPr>
            </a:pPr>
            <a:r>
              <a:rPr sz="1725" b="0">
                <a:solidFill>
                  <a:srgbClr val="666B63"/>
                </a:solidFill>
                <a:latin typeface="Arial"/>
                <a:ea typeface="Arial"/>
                <a:cs typeface="Arial"/>
              </a:rPr>
              <a:t>Map the process, configure the workflow, test execution and propose the operating review cadence.</a:t>
            </a:r>
          </a:p>
        </p:txBody>
      </p:sp>
      <p:sp>
        <p:nvSpPr>
          <p:cNvPr id="16" name="rule">
            <a:extLst xmlns:a="http://schemas.openxmlformats.org/drawingml/2006/main">
              <a:ext uri="{FF2B5EF4-FFF2-40B4-BE49-F238E27FC236}">
                <a16:creationId xmlns:a16="http://schemas.microsoft.com/office/drawing/2014/main" id="{886F6AEC-81FE-435C-ADE1-10E6E9A9DAD3}"/>
              </a:ext>
            </a:extLst>
          </p:cNvPr>
          <p:cNvSpPr>
            <a:spLocks xmlns:a="http://schemas.openxmlformats.org/drawingml/2006/main" noGrp="1"/>
          </p:cNvSpPr>
          <p:nvPr/>
        </p:nvSpPr>
        <p:spPr>
          <a:xfrm xmlns:a="http://schemas.openxmlformats.org/drawingml/2006/main">
            <a:off x="4543425" y="4676775"/>
            <a:ext cx="7115175" cy="9525"/>
          </a:xfrm>
          <a:prstGeom xmlns:a="http://schemas.openxmlformats.org/drawingml/2006/main" prst="rect">
            <a:avLst/>
          </a:prstGeom>
          <a:solidFill xmlns:a="http://schemas.openxmlformats.org/drawingml/2006/main">
            <a:srgbClr val="DADCD5"/>
          </a:solidFill>
          <a:ln xmlns:a="http://schemas.openxmlformats.org/drawingml/2006/main" w="0">
            <a:noFill/>
          </a:ln>
        </p:spPr>
      </p:sp>
      <p:sp>
        <p:nvSpPr>
          <p:cNvPr id="17" name="DECISIONS TO AGREE">
            <a:extLst xmlns:a="http://schemas.openxmlformats.org/drawingml/2006/main">
              <a:ext uri="{FF2B5EF4-FFF2-40B4-BE49-F238E27FC236}">
                <a16:creationId xmlns:a16="http://schemas.microsoft.com/office/drawing/2014/main" id="{FADF145B-5016-48D0-B034-3534F5708C75}"/>
              </a:ext>
            </a:extLst>
          </p:cNvPr>
          <p:cNvSpPr>
            <a:spLocks xmlns:a="http://schemas.openxmlformats.org/drawingml/2006/main" noGrp="1"/>
          </p:cNvSpPr>
          <p:nvPr/>
        </p:nvSpPr>
        <p:spPr>
          <a:xfrm xmlns:a="http://schemas.openxmlformats.org/drawingml/2006/main">
            <a:off x="4543425" y="4800600"/>
            <a:ext cx="6972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42594A"/>
                </a:solidFill>
                <a:latin typeface="Arial"/>
                <a:ea typeface="Arial"/>
                <a:cs typeface="Arial"/>
              </a:defRPr>
            </a:pPr>
            <a:r>
              <a:rPr sz="975" b="0">
                <a:solidFill>
                  <a:srgbClr val="42594A"/>
                </a:solidFill>
                <a:latin typeface="Arial"/>
                <a:ea typeface="Arial"/>
                <a:cs typeface="Arial"/>
              </a:rPr>
              <a:t>DECISIONS TO AGREE</a:t>
            </a:r>
          </a:p>
        </p:txBody>
      </p:sp>
      <p:sp>
        <p:nvSpPr>
          <p:cNvPr id="18" name="brief2">
            <a:extLst xmlns:a="http://schemas.openxmlformats.org/drawingml/2006/main">
              <a:ext uri="{FF2B5EF4-FFF2-40B4-BE49-F238E27FC236}">
                <a16:creationId xmlns:a16="http://schemas.microsoft.com/office/drawing/2014/main" id="{2EFF34C5-FD14-40C5-ACCE-6B20B95A9456}"/>
              </a:ext>
            </a:extLst>
          </p:cNvPr>
          <p:cNvSpPr>
            <a:spLocks xmlns:a="http://schemas.openxmlformats.org/drawingml/2006/main" noGrp="1"/>
          </p:cNvSpPr>
          <p:nvPr/>
        </p:nvSpPr>
        <p:spPr>
          <a:xfrm xmlns:a="http://schemas.openxmlformats.org/drawingml/2006/main">
            <a:off x="4543425" y="5124450"/>
            <a:ext cx="6791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6B63"/>
                </a:solidFill>
                <a:latin typeface="Arial"/>
                <a:ea typeface="Arial"/>
                <a:cs typeface="Arial"/>
              </a:defRPr>
            </a:pPr>
            <a:r>
              <a:rPr sz="1725" b="0">
                <a:solidFill>
                  <a:srgbClr val="666B63"/>
                </a:solidFill>
                <a:latin typeface="Arial"/>
                <a:ea typeface="Arial"/>
                <a:cs typeface="Arial"/>
              </a:rPr>
              <a:t>Scope, success measures, approval rights, timeline, support responsibilities and commercial terms.</a:t>
            </a:r>
          </a:p>
        </p:txBody>
      </p:sp>
    </p:spTree>
    <p:extLst>
      <p:ext uri="{BB962C8B-B14F-4D97-AF65-F5344CB8AC3E}">
        <p14:creationId xmlns:p14="http://schemas.microsoft.com/office/powerpoint/2010/main" val="13617382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2026-09-08T05:41:46.2500000Z</dcterms:created>
  <dcterms:modified xsi:type="dcterms:W3CDTF">2026-09-08T05:41:46.2500000Z</dcterms:modified>
</coreProperties>
</file>