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e8627743074f26" /><Relationship Type="http://schemas.openxmlformats.org/officeDocument/2006/relationships/extended-properties" Target="/docProps/app.xml" Id="R097305f3a12d4005" /><Relationship Type="http://schemas.openxmlformats.org/officeDocument/2006/relationships/officeDocument" Target="/ppt/presentation.xml" Id="R6251ee6eb250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eb535b98245be"/>
  </p:sldMasterIdLst>
  <p:notesMasterIdLst>
    <p:notesMasterId xmlns:r="http://schemas.openxmlformats.org/officeDocument/2006/relationships" r:id="Rda383ee03a5a4467"/>
  </p:notesMasterIdLst>
  <p:sldIdLst>
    <p:sldId xmlns:r="http://schemas.openxmlformats.org/officeDocument/2006/relationships" id="256" r:id="R1d131fbb895f4b46"/>
    <p:sldId xmlns:r="http://schemas.openxmlformats.org/officeDocument/2006/relationships" id="257" r:id="Re23adec1742546b8"/>
    <p:sldId xmlns:r="http://schemas.openxmlformats.org/officeDocument/2006/relationships" id="258" r:id="R009ec6c5ec224e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9db47263884266" /><Relationship Type="http://schemas.openxmlformats.org/officeDocument/2006/relationships/slideMaster" Target="/ppt/slideMasters/slideMaster1.xml" Id="Ra90eb535b98245be" /><Relationship Type="http://schemas.openxmlformats.org/officeDocument/2006/relationships/notesMaster" Target="/ppt/notesMasters/notesMaster1.xml" Id="Rda383ee03a5a4467" /><Relationship Type="http://schemas.openxmlformats.org/officeDocument/2006/relationships/presProps" Target="/ppt/presProps.xml" Id="R6587286b2778442b" /><Relationship Type="http://schemas.openxmlformats.org/officeDocument/2006/relationships/tableStyles" Target="/ppt/tableStyles.xml" Id="R15a4033d25d04633" /><Relationship Type="http://schemas.openxmlformats.org/officeDocument/2006/relationships/slide" Target="/ppt/slides/slide1.xml" Id="R1d131fbb895f4b46" /><Relationship Type="http://schemas.openxmlformats.org/officeDocument/2006/relationships/slide" Target="/ppt/slides/slide2.xml" Id="Re23adec1742546b8" /><Relationship Type="http://schemas.openxmlformats.org/officeDocument/2006/relationships/slide" Target="/ppt/slides/slide3.xml" Id="R009ec6c5ec224e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27e8df968f4f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6de5ad154243d4" /><Relationship Type="http://schemas.openxmlformats.org/officeDocument/2006/relationships/notesMaster" Target="/ppt/notesMasters/notesMaster1.xml" Id="Rbc4893d1ee804c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e257de1f024928" /><Relationship Type="http://schemas.openxmlformats.org/officeDocument/2006/relationships/notesMaster" Target="/ppt/notesMasters/notesMaster1.xml" Id="Rbc5f60e192da41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dbf19418f647db" /><Relationship Type="http://schemas.openxmlformats.org/officeDocument/2006/relationships/notesMaster" Target="/ppt/notesMasters/notesMaster1.xml" Id="R676240be065049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product description; repository README.md; src/pages/HomePage.tsx; src/pages/DashboardPage.tsx; src/components/dashboard/RunDetail.tsx; src/pages/WorkflowsPage.tsx. Document generation is illustrative, not a live deployment. Missing-data handling is proposed configuration. Process and deliverables are a proposed service model, not a signed scope. Research-informed describes intended methodology; no specific study, measured result or production readiness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engagement process based on the user request: initial communication, onboarding, automation and ongoing operation. Informed by the repository HomePage Platform / Implementation / Operations service description. Outputs are proposed and require client agreement. Editable native flowchart.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pilot framework, not a commercial commitment. No numeric performance target is asserted. Baseline, evaluation measures, access, owners, acceptance criteria and launch decision need agreement. Sources: user preproduction status and product description; src/pages/HomePage.tsx engagement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3463772914b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e9a691ac3c4d3c" /><Relationship Type="http://schemas.openxmlformats.org/officeDocument/2006/relationships/slideLayout" Target="/ppt/slideLayouts/slideLayout1.xml" Id="R988cf6339aa945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8cf6339aa945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38d802c8247b2" /><Relationship Type="http://schemas.openxmlformats.org/officeDocument/2006/relationships/notesSlide" Target="/ppt/notesSlides/notesSlide1.xml" Id="R9cee1e4d311741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2e3dc0adb4a0a" /><Relationship Type="http://schemas.openxmlformats.org/officeDocument/2006/relationships/notesSlide" Target="/ppt/notesSlides/notesSlide2.xml" Id="Rce219c639717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9fd9eece444a1" /><Relationship Type="http://schemas.openxmlformats.org/officeDocument/2006/relationships/notesSlide" Target="/ppt/notesSlides/notesSlide3.xml" Id="R75489f3401dd42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">
            <a:extLst xmlns:a="http://schemas.openxmlformats.org/drawingml/2006/main">
              <a:ext uri="{FF2B5EF4-FFF2-40B4-BE49-F238E27FC236}">
                <a16:creationId xmlns:a16="http://schemas.microsoft.com/office/drawing/2014/main" id="{C97FD060-AF1C-4794-B6DF-66B11BB4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D04731A-D5FF-433C-B8D0-2DCAB1AC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638B3F-2629-4FB6-9A48-11655D37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A managed operating layer for local businesses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7E7919CD-665B-4B5C-9D5E-AABB27C4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B6762"/>
                </a:solidFill>
                <a:latin typeface="Arial"/>
                <a:ea typeface="Arial"/>
                <a:cs typeface="Arial"/>
              </a:rPr>
              <a:t>Standardize established business processes and turn research-informed methods into configured workflows, with a shared view of execution, outcomes and exceptions.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BE271-5459-4944-A855-7E1EDA98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46951EF-5A73-4C7E-BD4C-ADBCCEDB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6762"/>
                </a:solidFill>
                <a:latin typeface="Arial"/>
                <a:ea typeface="Arial"/>
                <a:cs typeface="Arial"/>
              </a:rPr>
              <a:t>PREPRODUCTION  /  Proposed scope and operating approach; client-specific requirements to be agreed</a:t>
            </a:r>
          </a:p>
        </p:txBody>
      </p:sp>
      <p:sp>
        <p:nvSpPr>
          <p:cNvPr id="7" name="label0">
            <a:extLst xmlns:a="http://schemas.openxmlformats.org/drawingml/2006/main">
              <a:ext uri="{FF2B5EF4-FFF2-40B4-BE49-F238E27FC236}">
                <a16:creationId xmlns:a16="http://schemas.microsoft.com/office/drawing/2014/main" id="{CF24DE7C-D878-447C-93FA-69FFB3AE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859"/>
                </a:solidFill>
                <a:latin typeface="Arial"/>
                <a:ea typeface="Arial"/>
                <a:cs typeface="Arial"/>
              </a:rPr>
              <a:t>01  MANAGED SERVICE</a:t>
            </a:r>
          </a:p>
        </p:txBody>
      </p:sp>
      <p:sp>
        <p:nvSpPr>
          <p:cNvPr id="8" name="heading0">
            <a:extLst xmlns:a="http://schemas.openxmlformats.org/drawingml/2006/main">
              <a:ext uri="{FF2B5EF4-FFF2-40B4-BE49-F238E27FC236}">
                <a16:creationId xmlns:a16="http://schemas.microsoft.com/office/drawing/2014/main" id="{51AA655C-2A54-4D68-ABFA-EC73220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The process around the platform</a:t>
            </a:r>
          </a:p>
        </p:txBody>
      </p:sp>
      <p:sp>
        <p:nvSpPr>
          <p:cNvPr id="9" name="body0">
            <a:extLst xmlns:a="http://schemas.openxmlformats.org/drawingml/2006/main">
              <a:ext uri="{FF2B5EF4-FFF2-40B4-BE49-F238E27FC236}">
                <a16:creationId xmlns:a16="http://schemas.microsoft.com/office/drawing/2014/main" id="{82074DC7-F7D0-4E0C-BD5D-05BD6555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Map the business pipeline and agree rules, responsible people and exceptions.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Configure integrations, routing and approvals around existing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Validate the workflow and establish an operating review cadence.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DFB48-039A-431A-80BE-DEC2E53B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11" name="output0">
            <a:extLst xmlns:a="http://schemas.openxmlformats.org/drawingml/2006/main">
              <a:ext uri="{FF2B5EF4-FFF2-40B4-BE49-F238E27FC236}">
                <a16:creationId xmlns:a16="http://schemas.microsoft.com/office/drawing/2014/main" id="{AEF06E02-B401-4527-B1D9-35C977C8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F0E0D"/>
                </a:solidFill>
                <a:latin typeface="Arial"/>
                <a:ea typeface="Arial"/>
                <a:cs typeface="Arial"/>
              </a:rPr>
              <a:t>DELIVERABLE: Agreed process and pilot</a:t>
            </a:r>
          </a:p>
        </p:txBody>
      </p:sp>
      <p:sp>
        <p:nvSpPr>
          <p:cNvPr id="12" name="label1">
            <a:extLst xmlns:a="http://schemas.openxmlformats.org/drawingml/2006/main">
              <a:ext uri="{FF2B5EF4-FFF2-40B4-BE49-F238E27FC236}">
                <a16:creationId xmlns:a16="http://schemas.microsoft.com/office/drawing/2014/main" id="{E395F43C-72D0-4435-9426-1D100FED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859"/>
                </a:solidFill>
                <a:latin typeface="Arial"/>
                <a:ea typeface="Arial"/>
                <a:cs typeface="Arial"/>
              </a:rPr>
              <a:t>02  PLATFORM VIEW</a:t>
            </a:r>
          </a:p>
        </p:txBody>
      </p:sp>
      <p:sp>
        <p:nvSpPr>
          <p:cNvPr id="13" name="heading1">
            <a:extLst xmlns:a="http://schemas.openxmlformats.org/drawingml/2006/main">
              <a:ext uri="{FF2B5EF4-FFF2-40B4-BE49-F238E27FC236}">
                <a16:creationId xmlns:a16="http://schemas.microsoft.com/office/drawing/2014/main" id="{14A28554-9275-49B5-AFD0-60DE60A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Inspect what actually ran</a:t>
            </a:r>
          </a:p>
        </p:txBody>
      </p:sp>
      <p:sp>
        <p:nvSpPr>
          <p:cNvPr id="14" name="body1">
            <a:extLst xmlns:a="http://schemas.openxmlformats.org/drawingml/2006/main">
              <a:ext uri="{FF2B5EF4-FFF2-40B4-BE49-F238E27FC236}">
                <a16:creationId xmlns:a16="http://schemas.microsoft.com/office/drawing/2014/main" id="{1EA70227-972D-4D17-8184-D8126753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766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Review organization-specific workflows and their execution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Inspect status, duration, retries and processed or failed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Open execution steps and investigation notes when a run needs attention.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25E22-DAB3-47DC-9370-2998B20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16" name="output1">
            <a:extLst xmlns:a="http://schemas.openxmlformats.org/drawingml/2006/main">
              <a:ext uri="{FF2B5EF4-FFF2-40B4-BE49-F238E27FC236}">
                <a16:creationId xmlns:a16="http://schemas.microsoft.com/office/drawing/2014/main" id="{A57146AD-8679-4081-96F1-1F25A015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864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F0E0D"/>
                </a:solidFill>
                <a:latin typeface="Arial"/>
                <a:ea typeface="Arial"/>
                <a:cs typeface="Arial"/>
              </a:rPr>
              <a:t>REPO INTERFACE: Preproduction capability</a:t>
            </a:r>
          </a:p>
        </p:txBody>
      </p:sp>
      <p:sp>
        <p:nvSpPr>
          <p:cNvPr id="17" name="label2">
            <a:extLst xmlns:a="http://schemas.openxmlformats.org/drawingml/2006/main">
              <a:ext uri="{FF2B5EF4-FFF2-40B4-BE49-F238E27FC236}">
                <a16:creationId xmlns:a16="http://schemas.microsoft.com/office/drawing/2014/main" id="{B249BFAC-7360-412B-9978-9DED6B0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859"/>
                </a:solidFill>
                <a:latin typeface="Arial"/>
                <a:ea typeface="Arial"/>
                <a:cs typeface="Arial"/>
              </a:rPr>
              <a:t>03  ILLUSTRATIVE WORKFLOW</a:t>
            </a:r>
          </a:p>
        </p:txBody>
      </p:sp>
      <p:sp>
        <p:nvSpPr>
          <p:cNvPr id="18" name="heading2">
            <a:extLst xmlns:a="http://schemas.openxmlformats.org/drawingml/2006/main">
              <a:ext uri="{FF2B5EF4-FFF2-40B4-BE49-F238E27FC236}">
                <a16:creationId xmlns:a16="http://schemas.microsoft.com/office/drawing/2014/main" id="{4C2D8EA5-E965-41A1-B45B-F3BF8E4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Document generation</a:t>
            </a:r>
          </a:p>
        </p:txBody>
      </p:sp>
      <p:sp>
        <p:nvSpPr>
          <p:cNvPr id="19" name="body2">
            <a:extLst xmlns:a="http://schemas.openxmlformats.org/drawingml/2006/main">
              <a:ext uri="{FF2B5EF4-FFF2-40B4-BE49-F238E27FC236}">
                <a16:creationId xmlns:a16="http://schemas.microsoft.com/office/drawing/2014/main" id="{C78FB323-9724-4D57-88CB-9E790847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Approved input → populate a versioned template → request approval → deliver the document → record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Exception: missing required data pauses the proposed process for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B6762"/>
                </a:solidFill>
                <a:latin typeface="Arial"/>
                <a:ea typeface="Arial"/>
                <a:cs typeface="Arial"/>
              </a:rPr>
              <a:t>The operating view exposes run status, execution steps and failure details.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E80E4-6433-4B37-B19F-E68DA621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531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21" name="output2">
            <a:extLst xmlns:a="http://schemas.openxmlformats.org/drawingml/2006/main">
              <a:ext uri="{FF2B5EF4-FFF2-40B4-BE49-F238E27FC236}">
                <a16:creationId xmlns:a16="http://schemas.microsoft.com/office/drawing/2014/main" id="{9662AB1F-2991-4F1D-868F-B1128856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8864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0E0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F0E0D"/>
                </a:solidFill>
                <a:latin typeface="Arial"/>
                <a:ea typeface="Arial"/>
                <a:cs typeface="Arial"/>
              </a:rPr>
              <a:t>EXAMPLE: Configuration subject to scoping</a:t>
            </a:r>
          </a:p>
        </p:txBody>
      </p:sp>
    </p:spTree>
    <p:extLst>
      <p:ext uri="{BB962C8B-B14F-4D97-AF65-F5344CB8AC3E}">
        <p14:creationId xmlns:p14="http://schemas.microsoft.com/office/powerpoint/2010/main" val="1901070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rand">
            <a:extLst xmlns:a="http://schemas.openxmlformats.org/drawingml/2006/main">
              <a:ext uri="{FF2B5EF4-FFF2-40B4-BE49-F238E27FC236}">
                <a16:creationId xmlns:a16="http://schemas.microsoft.com/office/drawing/2014/main" id="{4964167A-A260-4F46-A783-7CA45B4D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0DC2A39-03C6-4C7F-B3F2-A58F8663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67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549987-C3EC-41C7-AA8E-E58DF2CD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The client journey: conversation to operations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739BFC85-4244-44D8-92BC-B40E8F82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B6762"/>
                </a:solidFill>
                <a:latin typeface="Arial"/>
                <a:ea typeface="Arial"/>
                <a:cs typeface="Arial"/>
              </a:rPr>
              <a:t>Each stage produces a defined output. Access, process ownership and approval are established before the pilot moves into ongoing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6DA01-6A16-4A76-9C58-479E90DF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DDA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5A816D1-552C-43A5-85FF-2A723C2A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6762"/>
                </a:solidFill>
                <a:latin typeface="Arial"/>
                <a:ea typeface="Arial"/>
                <a:cs typeface="Arial"/>
              </a:rPr>
              <a:t>PREPRODUCTION  /  Proposed scope and operating approach; client-specific requirements to be agreed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D4007-437C-48D2-AC46-D9727264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8" name="stage0">
            <a:extLst xmlns:a="http://schemas.openxmlformats.org/drawingml/2006/main">
              <a:ext uri="{FF2B5EF4-FFF2-40B4-BE49-F238E27FC236}">
                <a16:creationId xmlns:a16="http://schemas.microsoft.com/office/drawing/2014/main" id="{61D8D47B-FAAF-4996-832D-B8909A28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01  Initial conversation</a:t>
            </a:r>
          </a:p>
        </p:txBody>
      </p:sp>
      <p:sp>
        <p:nvSpPr>
          <p:cNvPr id="9" name="detail0">
            <a:extLst xmlns:a="http://schemas.openxmlformats.org/drawingml/2006/main">
              <a:ext uri="{FF2B5EF4-FFF2-40B4-BE49-F238E27FC236}">
                <a16:creationId xmlns:a16="http://schemas.microsoft.com/office/drawing/2014/main" id="{27F63452-DA74-4726-9A82-5F7973D9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6702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Understand priorities, current tools and the operational bottleneck.</a:t>
            </a:r>
          </a:p>
        </p:txBody>
      </p:sp>
      <p:sp>
        <p:nvSpPr>
          <p:cNvPr id="10" name="result0">
            <a:extLst xmlns:a="http://schemas.openxmlformats.org/drawingml/2006/main">
              <a:ext uri="{FF2B5EF4-FFF2-40B4-BE49-F238E27FC236}">
                <a16:creationId xmlns:a16="http://schemas.microsoft.com/office/drawing/2014/main" id="{237A65F1-8F65-4DBC-BC33-D6FFDF3D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6712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Priority workflow and business 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33F65-5ED6-47CD-8492-5DA409E7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12" name="stage1">
            <a:extLst xmlns:a="http://schemas.openxmlformats.org/drawingml/2006/main">
              <a:ext uri="{FF2B5EF4-FFF2-40B4-BE49-F238E27FC236}">
                <a16:creationId xmlns:a16="http://schemas.microsoft.com/office/drawing/2014/main" id="{824E8CA5-3938-4C93-9A63-66AEA0ED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02  Process &amp; scope</a:t>
            </a:r>
          </a:p>
        </p:txBody>
      </p:sp>
      <p:sp>
        <p:nvSpPr>
          <p:cNvPr id="13" name="detail1">
            <a:extLst xmlns:a="http://schemas.openxmlformats.org/drawingml/2006/main">
              <a:ext uri="{FF2B5EF4-FFF2-40B4-BE49-F238E27FC236}">
                <a16:creationId xmlns:a16="http://schemas.microsoft.com/office/drawing/2014/main" id="{2710768A-5C69-48C3-9FBD-D5CFBAEC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6702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Map handoffs; agree rules, exclusions and success measures.</a:t>
            </a:r>
          </a:p>
        </p:txBody>
      </p:sp>
      <p:sp>
        <p:nvSpPr>
          <p:cNvPr id="14" name="result1">
            <a:extLst xmlns:a="http://schemas.openxmlformats.org/drawingml/2006/main">
              <a:ext uri="{FF2B5EF4-FFF2-40B4-BE49-F238E27FC236}">
                <a16:creationId xmlns:a16="http://schemas.microsoft.com/office/drawing/2014/main" id="{311B11E7-339F-46B1-8F06-B90C6C1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6712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Scope and acceptance 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A300E-D370-40C7-BD07-FC0C13FD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16" name="stage2">
            <a:extLst xmlns:a="http://schemas.openxmlformats.org/drawingml/2006/main">
              <a:ext uri="{FF2B5EF4-FFF2-40B4-BE49-F238E27FC236}">
                <a16:creationId xmlns:a16="http://schemas.microsoft.com/office/drawing/2014/main" id="{2F531BC5-744E-48ED-A74E-358505BC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5745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03  Client onboarding</a:t>
            </a:r>
          </a:p>
        </p:txBody>
      </p:sp>
      <p:sp>
        <p:nvSpPr>
          <p:cNvPr id="17" name="detail2">
            <a:extLst xmlns:a="http://schemas.openxmlformats.org/drawingml/2006/main">
              <a:ext uri="{FF2B5EF4-FFF2-40B4-BE49-F238E27FC236}">
                <a16:creationId xmlns:a16="http://schemas.microsoft.com/office/drawing/2014/main" id="{F8F4AEC1-3072-4C75-90D3-D014E353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6702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Provision access; confirm systems, required data and contacts.</a:t>
            </a:r>
          </a:p>
        </p:txBody>
      </p:sp>
      <p:sp>
        <p:nvSpPr>
          <p:cNvPr id="18" name="result2">
            <a:extLst xmlns:a="http://schemas.openxmlformats.org/drawingml/2006/main">
              <a:ext uri="{FF2B5EF4-FFF2-40B4-BE49-F238E27FC236}">
                <a16:creationId xmlns:a16="http://schemas.microsoft.com/office/drawing/2014/main" id="{292AAB6D-63E8-46E8-B767-B599CCA2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6712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Access and onboarding checklist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E5150-DAEF-4AA6-AE5F-C9513E76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20" name="stage3">
            <a:extLst xmlns:a="http://schemas.openxmlformats.org/drawingml/2006/main">
              <a:ext uri="{FF2B5EF4-FFF2-40B4-BE49-F238E27FC236}">
                <a16:creationId xmlns:a16="http://schemas.microsoft.com/office/drawing/2014/main" id="{75D97CB2-F3FC-4089-A70E-6F742E3C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5770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04  Automation setup</a:t>
            </a:r>
          </a:p>
        </p:txBody>
      </p:sp>
      <p:sp>
        <p:nvSpPr>
          <p:cNvPr id="21" name="detail3">
            <a:extLst xmlns:a="http://schemas.openxmlformats.org/drawingml/2006/main">
              <a:ext uri="{FF2B5EF4-FFF2-40B4-BE49-F238E27FC236}">
                <a16:creationId xmlns:a16="http://schemas.microsoft.com/office/drawing/2014/main" id="{8B47180E-2563-4580-95FC-A845920A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6727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Configure mappings, routing, approvals and exception paths.</a:t>
            </a:r>
          </a:p>
        </p:txBody>
      </p:sp>
      <p:sp>
        <p:nvSpPr>
          <p:cNvPr id="22" name="result3">
            <a:extLst xmlns:a="http://schemas.openxmlformats.org/drawingml/2006/main">
              <a:ext uri="{FF2B5EF4-FFF2-40B4-BE49-F238E27FC236}">
                <a16:creationId xmlns:a16="http://schemas.microsoft.com/office/drawing/2014/main" id="{A945ED15-250B-4F6A-9F3B-6E67D7A8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6737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Workflow ready for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C96D4-FA69-42A9-817E-E182EF0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6245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24" name="stage4">
            <a:extLst xmlns:a="http://schemas.openxmlformats.org/drawingml/2006/main">
              <a:ext uri="{FF2B5EF4-FFF2-40B4-BE49-F238E27FC236}">
                <a16:creationId xmlns:a16="http://schemas.microsoft.com/office/drawing/2014/main" id="{CD000A92-2613-41E7-87E2-547D567D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45770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05  Test &amp; approve</a:t>
            </a:r>
          </a:p>
        </p:txBody>
      </p:sp>
      <p:sp>
        <p:nvSpPr>
          <p:cNvPr id="25" name="detail4">
            <a:extLst xmlns:a="http://schemas.openxmlformats.org/drawingml/2006/main">
              <a:ext uri="{FF2B5EF4-FFF2-40B4-BE49-F238E27FC236}">
                <a16:creationId xmlns:a16="http://schemas.microsoft.com/office/drawing/2014/main" id="{17D85FC3-C895-4611-96C7-1056E44B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6727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Validate normal and failure cases; client approves launch.</a:t>
            </a:r>
          </a:p>
        </p:txBody>
      </p:sp>
      <p:sp>
        <p:nvSpPr>
          <p:cNvPr id="26" name="result4">
            <a:extLst xmlns:a="http://schemas.openxmlformats.org/drawingml/2006/main">
              <a:ext uri="{FF2B5EF4-FFF2-40B4-BE49-F238E27FC236}">
                <a16:creationId xmlns:a16="http://schemas.microsoft.com/office/drawing/2014/main" id="{E2F14F98-F842-4B6A-820D-3ACCA698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66737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Client launch approval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F1B6CF-F01B-4E07-BE45-599DE0CE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333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D0CBC4"/>
            </a:solidFill>
          </a:ln>
        </p:spPr>
      </p:sp>
      <p:sp>
        <p:nvSpPr>
          <p:cNvPr id="28" name="stage5">
            <a:extLst xmlns:a="http://schemas.openxmlformats.org/drawingml/2006/main">
              <a:ext uri="{FF2B5EF4-FFF2-40B4-BE49-F238E27FC236}">
                <a16:creationId xmlns:a16="http://schemas.microsoft.com/office/drawing/2014/main" id="{DE317749-5BC2-4F61-899F-FBCCAE78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57700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0E0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0F0E0D"/>
                </a:solidFill>
                <a:latin typeface="Georgia"/>
                <a:ea typeface="Georgia"/>
                <a:cs typeface="Georgia"/>
              </a:rPr>
              <a:t>06  Operate &amp; improve</a:t>
            </a:r>
          </a:p>
        </p:txBody>
      </p:sp>
      <p:sp>
        <p:nvSpPr>
          <p:cNvPr id="29" name="detail5">
            <a:extLst xmlns:a="http://schemas.openxmlformats.org/drawingml/2006/main">
              <a:ext uri="{FF2B5EF4-FFF2-40B4-BE49-F238E27FC236}">
                <a16:creationId xmlns:a16="http://schemas.microsoft.com/office/drawing/2014/main" id="{BAACC5C2-F860-49A5-95C3-8735C91C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67275"/>
            <a:ext cx="3057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676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B6762"/>
                </a:solidFill>
                <a:latin typeface="Arial"/>
                <a:ea typeface="Arial"/>
                <a:cs typeface="Arial"/>
              </a:rPr>
              <a:t>Monitor activity, investigate exceptions and review outcomes.</a:t>
            </a:r>
          </a:p>
        </p:txBody>
      </p:sp>
      <p:sp>
        <p:nvSpPr>
          <p:cNvPr id="30" name="result5">
            <a:extLst xmlns:a="http://schemas.openxmlformats.org/drawingml/2006/main">
              <a:ext uri="{FF2B5EF4-FFF2-40B4-BE49-F238E27FC236}">
                <a16:creationId xmlns:a16="http://schemas.microsoft.com/office/drawing/2014/main" id="{C673E4F5-9109-43F6-9DE7-FFCAA25F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6737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85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859"/>
                </a:solidFill>
                <a:latin typeface="Arial"/>
                <a:ea typeface="Arial"/>
                <a:cs typeface="Arial"/>
              </a:rPr>
              <a:t>OUTPUT  Review cadence and improvement list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884C9E-54B5-4FDD-B8AB-F284D801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57525"/>
            <a:ext cx="29527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96F363-525F-4A05-8C63-CEC5A4C2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57525"/>
            <a:ext cx="29527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88BE58-DB7D-4FB3-A175-BD4396FE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19575"/>
            <a:ext cx="200025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512CA9-C3DC-4128-B53A-DE3E9E4F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57775"/>
            <a:ext cx="295275" cy="2000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88269-A061-4297-B4FC-C2DE1AE6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57775"/>
            <a:ext cx="295275" cy="2000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85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4518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">
            <a:extLst xmlns:a="http://schemas.openxmlformats.org/drawingml/2006/main">
              <a:ext uri="{FF2B5EF4-FFF2-40B4-BE49-F238E27FC236}">
                <a16:creationId xmlns:a16="http://schemas.microsoft.com/office/drawing/2014/main" id="{D0198347-B003-44C1-8B88-E990A6F4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PRIME STATE SYSTEMS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5E29ADD-346E-4EB7-8FCC-42B1A1EC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FAFE00-D765-4104-A645-30AE1AEE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29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A bounded pilot with explicit success criteria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659704B6-87CE-47B7-A96A-3FF133CE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8D2C9"/>
                </a:solidFill>
                <a:latin typeface="Arial"/>
                <a:ea typeface="Arial"/>
                <a:cs typeface="Arial"/>
              </a:rPr>
              <a:t>Select one important workflow, agree the starting baseline, and evaluate its execution before committing to a wider rollout.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220B0-A0B2-4180-871C-5758F195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169FF62-479A-4DF6-91EC-C3D4F8DB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DB7AE"/>
                </a:solidFill>
                <a:latin typeface="Arial"/>
                <a:ea typeface="Arial"/>
                <a:cs typeface="Arial"/>
              </a:rPr>
              <a:t>PREPRODUCTION  /  Proposed scope and operating approach; client-specific requirements to be agreed</a:t>
            </a:r>
          </a:p>
        </p:txBody>
      </p:sp>
      <p:sp>
        <p:nvSpPr>
          <p:cNvPr id="7" name="h1">
            <a:extLst xmlns:a="http://schemas.openxmlformats.org/drawingml/2006/main">
              <a:ext uri="{FF2B5EF4-FFF2-40B4-BE49-F238E27FC236}">
                <a16:creationId xmlns:a16="http://schemas.microsoft.com/office/drawing/2014/main" id="{AFF9ACCA-F4C5-4A4D-AF84-5ABDE579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PILOT REQUIREMENT</a:t>
            </a:r>
          </a:p>
        </p:txBody>
      </p:sp>
      <p:sp>
        <p:nvSpPr>
          <p:cNvPr id="8" name="h2">
            <a:extLst xmlns:a="http://schemas.openxmlformats.org/drawingml/2006/main">
              <a:ext uri="{FF2B5EF4-FFF2-40B4-BE49-F238E27FC236}">
                <a16:creationId xmlns:a16="http://schemas.microsoft.com/office/drawing/2014/main" id="{2B794C9A-78DA-491D-B80D-45027C6C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717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WHAT WILL BE AGREED OR REVIEWED</a:t>
            </a:r>
          </a:p>
        </p:txBody>
      </p:sp>
      <p:sp>
        <p:nvSpPr>
          <p:cNvPr id="9" name="h3">
            <a:extLst xmlns:a="http://schemas.openxmlformats.org/drawingml/2006/main">
              <a:ext uri="{FF2B5EF4-FFF2-40B4-BE49-F238E27FC236}">
                <a16:creationId xmlns:a16="http://schemas.microsoft.com/office/drawing/2014/main" id="{1F621DE4-2D52-4566-99ED-18026C31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71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DB7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DB7AE"/>
                </a:solidFill>
                <a:latin typeface="Arial"/>
                <a:ea typeface="Arial"/>
                <a:cs typeface="Arial"/>
              </a:rPr>
              <a:t>PROPOSED RESPONSIBILITY</a:t>
            </a:r>
          </a:p>
        </p:txBody>
      </p:sp>
      <p:sp>
        <p:nvSpPr>
          <p:cNvPr id="10" name="r0">
            <a:extLst xmlns:a="http://schemas.openxmlformats.org/drawingml/2006/main">
              <a:ext uri="{FF2B5EF4-FFF2-40B4-BE49-F238E27FC236}">
                <a16:creationId xmlns:a16="http://schemas.microsoft.com/office/drawing/2014/main" id="{9E30E576-E481-446A-A3B1-A8D22CEB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Scope</a:t>
            </a:r>
          </a:p>
        </p:txBody>
      </p:sp>
      <p:sp>
        <p:nvSpPr>
          <p:cNvPr id="11" name="d0">
            <a:extLst xmlns:a="http://schemas.openxmlformats.org/drawingml/2006/main">
              <a:ext uri="{FF2B5EF4-FFF2-40B4-BE49-F238E27FC236}">
                <a16:creationId xmlns:a16="http://schemas.microsoft.com/office/drawing/2014/main" id="{3013F67D-A0D4-4A40-8657-343C1582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09875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One workflow, named owner, connected systems and agreed exclusions.</a:t>
            </a:r>
          </a:p>
        </p:txBody>
      </p:sp>
      <p:sp>
        <p:nvSpPr>
          <p:cNvPr id="12" name="o0">
            <a:extLst xmlns:a="http://schemas.openxmlformats.org/drawingml/2006/main">
              <a:ext uri="{FF2B5EF4-FFF2-40B4-BE49-F238E27FC236}">
                <a16:creationId xmlns:a16="http://schemas.microsoft.com/office/drawing/2014/main" id="{4B5AAEE8-B250-43E4-A9A3-2F2E7891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Client + Prime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C0144-41E1-4EB5-A9BB-D649E103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14" name="r1">
            <a:extLst xmlns:a="http://schemas.openxmlformats.org/drawingml/2006/main">
              <a:ext uri="{FF2B5EF4-FFF2-40B4-BE49-F238E27FC236}">
                <a16:creationId xmlns:a16="http://schemas.microsoft.com/office/drawing/2014/main" id="{6DA35CCB-43F1-4B7D-83EF-756AB773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Readiness</a:t>
            </a:r>
          </a:p>
        </p:txBody>
      </p:sp>
      <p:sp>
        <p:nvSpPr>
          <p:cNvPr id="15" name="d1">
            <a:extLst xmlns:a="http://schemas.openxmlformats.org/drawingml/2006/main">
              <a:ext uri="{FF2B5EF4-FFF2-40B4-BE49-F238E27FC236}">
                <a16:creationId xmlns:a16="http://schemas.microsoft.com/office/drawing/2014/main" id="{55425033-F09C-4960-A416-F1379314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29000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Required access, suitable sample data, rules and exception ownership.</a:t>
            </a:r>
          </a:p>
        </p:txBody>
      </p:sp>
      <p:sp>
        <p:nvSpPr>
          <p:cNvPr id="16" name="o1">
            <a:extLst xmlns:a="http://schemas.openxmlformats.org/drawingml/2006/main">
              <a:ext uri="{FF2B5EF4-FFF2-40B4-BE49-F238E27FC236}">
                <a16:creationId xmlns:a16="http://schemas.microsoft.com/office/drawing/2014/main" id="{18D825AE-885B-4137-A59D-96C9167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Client + Prime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427E3-BF15-482E-9C92-35BF895F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18" name="r2">
            <a:extLst xmlns:a="http://schemas.openxmlformats.org/drawingml/2006/main">
              <a:ext uri="{FF2B5EF4-FFF2-40B4-BE49-F238E27FC236}">
                <a16:creationId xmlns:a16="http://schemas.microsoft.com/office/drawing/2014/main" id="{894CB348-BB3D-4C28-AA73-D024975C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Validation</a:t>
            </a:r>
          </a:p>
        </p:txBody>
      </p:sp>
      <p:sp>
        <p:nvSpPr>
          <p:cNvPr id="19" name="d2">
            <a:extLst xmlns:a="http://schemas.openxmlformats.org/drawingml/2006/main">
              <a:ext uri="{FF2B5EF4-FFF2-40B4-BE49-F238E27FC236}">
                <a16:creationId xmlns:a16="http://schemas.microsoft.com/office/drawing/2014/main" id="{24BED4BA-4BF3-451E-B5E2-476FF4D2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48125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Normal cases, duplicates, missing data, failures and approval paths.</a:t>
            </a:r>
          </a:p>
        </p:txBody>
      </p:sp>
      <p:sp>
        <p:nvSpPr>
          <p:cNvPr id="20" name="o2">
            <a:extLst xmlns:a="http://schemas.openxmlformats.org/drawingml/2006/main">
              <a:ext uri="{FF2B5EF4-FFF2-40B4-BE49-F238E27FC236}">
                <a16:creationId xmlns:a16="http://schemas.microsoft.com/office/drawing/2014/main" id="{0EA3DF98-D9CF-4A3D-811C-E1482BAB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4812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Prime State; client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AFE05-AE1D-45D3-9E32-DF0C2948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22" name="r3">
            <a:extLst xmlns:a="http://schemas.openxmlformats.org/drawingml/2006/main">
              <a:ext uri="{FF2B5EF4-FFF2-40B4-BE49-F238E27FC236}">
                <a16:creationId xmlns:a16="http://schemas.microsoft.com/office/drawing/2014/main" id="{B8CB01AF-37D4-44FF-A547-F02C9E9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Evaluation</a:t>
            </a:r>
          </a:p>
        </p:txBody>
      </p:sp>
      <p:sp>
        <p:nvSpPr>
          <p:cNvPr id="23" name="d3">
            <a:extLst xmlns:a="http://schemas.openxmlformats.org/drawingml/2006/main">
              <a:ext uri="{FF2B5EF4-FFF2-40B4-BE49-F238E27FC236}">
                <a16:creationId xmlns:a16="http://schemas.microsoft.com/office/drawing/2014/main" id="{21E38B30-D839-4C18-ADFB-8B1B24A3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Review baseline versus pilot results; success thresholds agreed in advance.</a:t>
            </a:r>
          </a:p>
        </p:txBody>
      </p:sp>
      <p:sp>
        <p:nvSpPr>
          <p:cNvPr id="24" name="o3">
            <a:extLst xmlns:a="http://schemas.openxmlformats.org/drawingml/2006/main">
              <a:ext uri="{FF2B5EF4-FFF2-40B4-BE49-F238E27FC236}">
                <a16:creationId xmlns:a16="http://schemas.microsoft.com/office/drawing/2014/main" id="{DBEF7017-2D03-40A0-9AD7-90049127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672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Joint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B71E9-0A9D-4F10-BDB0-AC90AA4B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26" name="r4">
            <a:extLst xmlns:a="http://schemas.openxmlformats.org/drawingml/2006/main">
              <a:ext uri="{FF2B5EF4-FFF2-40B4-BE49-F238E27FC236}">
                <a16:creationId xmlns:a16="http://schemas.microsoft.com/office/drawing/2014/main" id="{D954D0FF-3A50-47B8-AB9D-007A1FE1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EFDF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FEFDFC"/>
                </a:solidFill>
                <a:latin typeface="Georgia"/>
                <a:ea typeface="Georgia"/>
                <a:cs typeface="Georgia"/>
              </a:rPr>
              <a:t>Expansion decision</a:t>
            </a:r>
          </a:p>
        </p:txBody>
      </p:sp>
      <p:sp>
        <p:nvSpPr>
          <p:cNvPr id="27" name="d4">
            <a:extLst xmlns:a="http://schemas.openxmlformats.org/drawingml/2006/main">
              <a:ext uri="{FF2B5EF4-FFF2-40B4-BE49-F238E27FC236}">
                <a16:creationId xmlns:a16="http://schemas.microsoft.com/office/drawing/2014/main" id="{A1AA0B8A-310B-4C63-A083-781335BC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86375"/>
            <a:ext cx="585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D2C9"/>
                </a:solidFill>
                <a:latin typeface="Arial"/>
                <a:ea typeface="Arial"/>
                <a:cs typeface="Arial"/>
              </a:rPr>
              <a:t>Resolve open issues; agree support, next workflow and rollout scope.</a:t>
            </a:r>
          </a:p>
        </p:txBody>
      </p:sp>
      <p:sp>
        <p:nvSpPr>
          <p:cNvPr id="28" name="o4">
            <a:extLst xmlns:a="http://schemas.openxmlformats.org/drawingml/2006/main">
              <a:ext uri="{FF2B5EF4-FFF2-40B4-BE49-F238E27FC236}">
                <a16:creationId xmlns:a16="http://schemas.microsoft.com/office/drawing/2014/main" id="{50F85E8D-E161-4721-A0D7-65626C90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6375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D2C9"/>
                </a:solidFill>
                <a:latin typeface="Arial"/>
                <a:ea typeface="Arial"/>
                <a:cs typeface="Arial"/>
              </a:rPr>
              <a:t>Client 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F04D8-D9E2-4F8A-80B3-11D826A0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640"/>
          </a:solidFill>
          <a:ln xmlns:a="http://schemas.openxmlformats.org/drawingml/2006/main" w="0">
            <a:noFill/>
          </a:ln>
        </p:spPr>
      </p:sp>
      <p:sp>
        <p:nvSpPr>
          <p:cNvPr id="30" name="decision">
            <a:extLst xmlns:a="http://schemas.openxmlformats.org/drawingml/2006/main">
              <a:ext uri="{FF2B5EF4-FFF2-40B4-BE49-F238E27FC236}">
                <a16:creationId xmlns:a16="http://schemas.microsoft.com/office/drawing/2014/main" id="{3DA8E8FF-82E7-4D62-878E-A65F8A6A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EFDF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EFDFC"/>
                </a:solidFill>
                <a:latin typeface="Arial"/>
                <a:ea typeface="Arial"/>
                <a:cs typeface="Arial"/>
              </a:rPr>
              <a:t>CLIENT INPUT  Nominate an owner; select a workflow; provide approved sample data and access.</a:t>
            </a:r>
          </a:p>
        </p:txBody>
      </p:sp>
    </p:spTree>
    <p:extLst>
      <p:ext uri="{BB962C8B-B14F-4D97-AF65-F5344CB8AC3E}">
        <p14:creationId xmlns:p14="http://schemas.microsoft.com/office/powerpoint/2010/main" val="225791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2026-09-08T05:31:48.1800000Z</dcterms:created>
  <dcterms:modified xsi:type="dcterms:W3CDTF">2026-09-08T05:31:48.1800000Z</dcterms:modified>
</coreProperties>
</file>